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f4f1547b93473f" /><Relationship Type="http://schemas.openxmlformats.org/officeDocument/2006/relationships/extended-properties" Target="/docProps/app.xml" Id="R1032d8adbf8244ba" /><Relationship Type="http://schemas.openxmlformats.org/officeDocument/2006/relationships/officeDocument" Target="/ppt/presentation.xml" Id="Ra3a21047d6ae43ea" /></Relationships>
</file>

<file path=ppt/presentation.xml><?xml version="1.0" encoding="utf-8"?>
<p:presentation xmlns:p="http://schemas.openxmlformats.org/presentationml/2006/main">
  <p:sldMasterIdLst>
    <p:sldMasterId xmlns:r="http://schemas.openxmlformats.org/officeDocument/2006/relationships" id="2147483648" r:id="R49c8aa961bf447c7"/>
  </p:sldMasterIdLst>
  <p:notesMasterIdLst>
    <p:notesMasterId xmlns:r="http://schemas.openxmlformats.org/officeDocument/2006/relationships" r:id="Rbffa19ae768e4e69"/>
  </p:notesMasterIdLst>
  <p:sldIdLst>
    <p:sldId xmlns:r="http://schemas.openxmlformats.org/officeDocument/2006/relationships" id="256" r:id="Rbdf7375de4bf4f4f"/>
    <p:sldId xmlns:r="http://schemas.openxmlformats.org/officeDocument/2006/relationships" id="257" r:id="R36a9c099474e4ceb"/>
    <p:sldId xmlns:r="http://schemas.openxmlformats.org/officeDocument/2006/relationships" id="258" r:id="Raceae700e00440ab"/>
    <p:sldId xmlns:r="http://schemas.openxmlformats.org/officeDocument/2006/relationships" id="259" r:id="R80d0f1381f694653"/>
    <p:sldId xmlns:r="http://schemas.openxmlformats.org/officeDocument/2006/relationships" id="260" r:id="R8841b403525a4177"/>
    <p:sldId xmlns:r="http://schemas.openxmlformats.org/officeDocument/2006/relationships" id="261" r:id="R980888bce9894d89"/>
    <p:sldId xmlns:r="http://schemas.openxmlformats.org/officeDocument/2006/relationships" id="262" r:id="R43c65fcaa4f24a64"/>
    <p:sldId xmlns:r="http://schemas.openxmlformats.org/officeDocument/2006/relationships" id="263" r:id="R1278894a732b412f"/>
    <p:sldId xmlns:r="http://schemas.openxmlformats.org/officeDocument/2006/relationships" id="264" r:id="R36a85465fe3f4593"/>
    <p:sldId xmlns:r="http://schemas.openxmlformats.org/officeDocument/2006/relationships" id="265" r:id="Re3711b18e12447bc"/>
    <p:sldId xmlns:r="http://schemas.openxmlformats.org/officeDocument/2006/relationships" id="266" r:id="Rd51bf9ac1a0043bf"/>
    <p:sldId xmlns:r="http://schemas.openxmlformats.org/officeDocument/2006/relationships" id="267" r:id="Rac1c8d6bfe97489a"/>
    <p:sldId xmlns:r="http://schemas.openxmlformats.org/officeDocument/2006/relationships" id="268" r:id="Rd35ad6ddf4534f4e"/>
    <p:sldId xmlns:r="http://schemas.openxmlformats.org/officeDocument/2006/relationships" id="269" r:id="Rd184ea2a8b6346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c7e27cb29d4558" /><Relationship Type="http://schemas.openxmlformats.org/officeDocument/2006/relationships/slideMaster" Target="/ppt/slideMasters/slideMaster1.xml" Id="R49c8aa961bf447c7" /><Relationship Type="http://schemas.openxmlformats.org/officeDocument/2006/relationships/notesMaster" Target="/ppt/notesMasters/notesMaster1.xml" Id="Rbffa19ae768e4e69" /><Relationship Type="http://schemas.openxmlformats.org/officeDocument/2006/relationships/presProps" Target="/ppt/presProps.xml" Id="R15395e7d9ac34191" /><Relationship Type="http://schemas.openxmlformats.org/officeDocument/2006/relationships/tableStyles" Target="/ppt/tableStyles.xml" Id="R95e2a202af8e4da0" /><Relationship Type="http://schemas.openxmlformats.org/officeDocument/2006/relationships/slide" Target="/ppt/slides/slide1.xml" Id="Rbdf7375de4bf4f4f" /><Relationship Type="http://schemas.openxmlformats.org/officeDocument/2006/relationships/slide" Target="/ppt/slides/slide2.xml" Id="R36a9c099474e4ceb" /><Relationship Type="http://schemas.openxmlformats.org/officeDocument/2006/relationships/slide" Target="/ppt/slides/slide3.xml" Id="Raceae700e00440ab" /><Relationship Type="http://schemas.openxmlformats.org/officeDocument/2006/relationships/slide" Target="/ppt/slides/slide4.xml" Id="R80d0f1381f694653" /><Relationship Type="http://schemas.openxmlformats.org/officeDocument/2006/relationships/slide" Target="/ppt/slides/slide5.xml" Id="R8841b403525a4177" /><Relationship Type="http://schemas.openxmlformats.org/officeDocument/2006/relationships/slide" Target="/ppt/slides/slide6.xml" Id="R980888bce9894d89" /><Relationship Type="http://schemas.openxmlformats.org/officeDocument/2006/relationships/slide" Target="/ppt/slides/slide7.xml" Id="R43c65fcaa4f24a64" /><Relationship Type="http://schemas.openxmlformats.org/officeDocument/2006/relationships/slide" Target="/ppt/slides/slide8.xml" Id="R1278894a732b412f" /><Relationship Type="http://schemas.openxmlformats.org/officeDocument/2006/relationships/slide" Target="/ppt/slides/slide9.xml" Id="R36a85465fe3f4593" /><Relationship Type="http://schemas.openxmlformats.org/officeDocument/2006/relationships/slide" Target="/ppt/slides/slide10.xml" Id="Re3711b18e12447bc" /><Relationship Type="http://schemas.openxmlformats.org/officeDocument/2006/relationships/slide" Target="/ppt/slides/slide11.xml" Id="Rd51bf9ac1a0043bf" /><Relationship Type="http://schemas.openxmlformats.org/officeDocument/2006/relationships/slide" Target="/ppt/slides/slide12.xml" Id="Rac1c8d6bfe97489a" /><Relationship Type="http://schemas.openxmlformats.org/officeDocument/2006/relationships/slide" Target="/ppt/slides/slide13.xml" Id="Rd35ad6ddf4534f4e" /><Relationship Type="http://schemas.openxmlformats.org/officeDocument/2006/relationships/slide" Target="/ppt/slides/slide14.xml" Id="Rd184ea2a8b6346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a68afebfee4f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Jamaa Next Door">
      <a:dk1>
        <a:srgbClr val="102F33"/>
      </a:dk1>
      <a:lt1>
        <a:srgbClr val="FFFFFF"/>
      </a:lt1>
      <a:dk2>
        <a:srgbClr val="063E4D"/>
      </a:dk2>
      <a:lt2>
        <a:srgbClr val="F7F5F2"/>
      </a:lt2>
      <a:accent1>
        <a:srgbClr val="063E4D"/>
      </a:accent1>
      <a:accent2>
        <a:srgbClr val="E7C48D"/>
      </a:accent2>
      <a:accent3>
        <a:srgbClr val="89A98F"/>
      </a:accent3>
      <a:accent4>
        <a:srgbClr val="0B4B58"/>
      </a:accent4>
      <a:accent5>
        <a:srgbClr val="C8766B"/>
      </a:accent5>
      <a:accent6>
        <a:srgbClr val="AEB7B8"/>
      </a:accent6>
      <a:hlink>
        <a:srgbClr val="E7C48D"/>
      </a:hlink>
      <a:folHlink>
        <a:srgbClr val="89A98F"/>
      </a:folHlink>
    </a:clrScheme>
    <a:fontScheme name="Office">
      <a:majorFont>
        <a:latin typeface="Calibri Light"/>
        <a:ea typeface="Calibri Light"/>
        <a:cs typeface="Calibri Light"/>
      </a:majorFont>
      <a:minorFont>
        <a:latin typeface="Calibri"/>
        <a:ea typeface="Calibri"/>
        <a:cs typeface="Calibri"/>
      </a:minorFont>
    </a:fontScheme>
    <a:fmtScheme name="Jamaa Next Doo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bee87291dc4cf2" /><Relationship Type="http://schemas.openxmlformats.org/officeDocument/2006/relationships/notesMaster" Target="/ppt/notesMasters/notesMaster1.xml" Id="R0606f4dd2eb14c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7acfbda85d44ee" /><Relationship Type="http://schemas.openxmlformats.org/officeDocument/2006/relationships/notesMaster" Target="/ppt/notesMasters/notesMaster1.xml" Id="R709cbc36420242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f1789d05034d39" /><Relationship Type="http://schemas.openxmlformats.org/officeDocument/2006/relationships/notesMaster" Target="/ppt/notesMasters/notesMaster1.xml" Id="R41416ec7012749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08795506274b3d" /><Relationship Type="http://schemas.openxmlformats.org/officeDocument/2006/relationships/notesMaster" Target="/ppt/notesMasters/notesMaster1.xml" Id="Rd2f9fe48d99b43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d632b6f51e4cd4" /><Relationship Type="http://schemas.openxmlformats.org/officeDocument/2006/relationships/notesMaster" Target="/ppt/notesMasters/notesMaster1.xml" Id="Rab08a09699ac47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55a65d980d4a7f" /><Relationship Type="http://schemas.openxmlformats.org/officeDocument/2006/relationships/notesMaster" Target="/ppt/notesMasters/notesMaster1.xml" Id="R600b8ee9203346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06bfa4be6a464e" /><Relationship Type="http://schemas.openxmlformats.org/officeDocument/2006/relationships/notesMaster" Target="/ppt/notesMasters/notesMaster1.xml" Id="R02da7f14c7c34e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7b394eb45f49cd" /><Relationship Type="http://schemas.openxmlformats.org/officeDocument/2006/relationships/notesMaster" Target="/ppt/notesMasters/notesMaster1.xml" Id="R2f74cde902374e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86adc7c9cf4cc2" /><Relationship Type="http://schemas.openxmlformats.org/officeDocument/2006/relationships/notesMaster" Target="/ppt/notesMasters/notesMaster1.xml" Id="R475118ca3c684d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917d4a73c4c4d78" /><Relationship Type="http://schemas.openxmlformats.org/officeDocument/2006/relationships/notesMaster" Target="/ppt/notesMasters/notesMaster1.xml" Id="Rd7929889a27147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21ac13103dc4482" /><Relationship Type="http://schemas.openxmlformats.org/officeDocument/2006/relationships/notesMaster" Target="/ppt/notesMasters/notesMaster1.xml" Id="R085546460a6843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57a013395d44d2d" /><Relationship Type="http://schemas.openxmlformats.org/officeDocument/2006/relationships/notesMaster" Target="/ppt/notesMasters/notesMaster1.xml" Id="R3db5da6b140d449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926f8f189d415c" /><Relationship Type="http://schemas.openxmlformats.org/officeDocument/2006/relationships/notesMaster" Target="/ppt/notesMasters/notesMaster1.xml" Id="R182047573b6342f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96c7fe380894820" /><Relationship Type="http://schemas.openxmlformats.org/officeDocument/2006/relationships/notesMaster" Target="/ppt/notesMasters/notesMaster1.xml" Id="R39e4da08b31741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project name and mission. Establish that the presentation will connect a personal need to a working, responsibly designed Android prototype.</a:t>
            </a:r>
          </a:p>
          <a:p xmlns:a="http://schemas.openxmlformats.org/drawingml/2006/main">
            <a:r>
              <a:t/>
            </a:r>
          </a:p>
          <a:p xmlns:a="http://schemas.openxmlformats.org/drawingml/2006/main">
            <a:r>
              <a:t>[Sources]</a:t>
            </a:r>
          </a:p>
          <a:p xmlns:a="http://schemas.openxmlformats.org/drawingml/2006/main">
            <a:r>
              <a:t>- Project portfolio cover artwork: output/documentation/cover-variations/jnd-cover-05-atmospheric-arch-portfolio.png</a:t>
            </a:r>
          </a:p>
          <a:p xmlns:a="http://schemas.openxmlformats.org/drawingml/2006/main">
            <a:r>
              <a:t>- Project metadata supplied by Mohitur Rahman Zidan.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two-month experience and why the absence of coordination felt painful despite Muslims living nearby. Use the final question to transition from personal experience to a design problem.</a:t>
            </a:r>
          </a:p>
          <a:p xmlns:a="http://schemas.openxmlformats.org/drawingml/2006/main">
            <a:r>
              <a:t/>
            </a:r>
          </a:p>
          <a:p xmlns:a="http://schemas.openxmlformats.org/drawingml/2006/main">
            <a:r>
              <a:t>[Sources]</a:t>
            </a:r>
          </a:p>
          <a:p xmlns:a="http://schemas.openxmlformats.org/drawingml/2006/main">
            <a:r>
              <a:t>- Personal account supplied by Mohitur Rahman Zidan.</a:t>
            </a:r>
          </a:p>
          <a:p xmlns:a="http://schemas.openxmlformats.org/drawingml/2006/main">
            <a:r>
              <a:t>- AI-generated editorial illustration created for this presentation; no identifiable persons depicted.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as a coordination gap shaped by four constraints. The five situations show that the need is broader than one demographic or routine.</a:t>
            </a:r>
          </a:p>
          <a:p xmlns:a="http://schemas.openxmlformats.org/drawingml/2006/main">
            <a:r>
              <a:t/>
            </a:r>
          </a:p>
          <a:p xmlns:a="http://schemas.openxmlformats.org/drawingml/2006/main">
            <a:r>
              <a:t>[Sources]</a:t>
            </a:r>
          </a:p>
          <a:p xmlns:a="http://schemas.openxmlformats.org/drawingml/2006/main">
            <a:r>
              <a:t>- Problem framing derived from the project portfolio and user-provided motivation.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journey at a high level before discussing individual UX and technical decisions. Emphasize review before publication and automatic ending as deliberate safeguards.</a:t>
            </a:r>
          </a:p>
          <a:p xmlns:a="http://schemas.openxmlformats.org/drawingml/2006/main">
            <a:r>
              <a:t/>
            </a:r>
          </a:p>
          <a:p xmlns:a="http://schemas.openxmlformats.org/drawingml/2006/main">
            <a:r>
              <a:t>[Sources]</a:t>
            </a:r>
          </a:p>
          <a:p xmlns:a="http://schemas.openxmlformats.org/drawingml/2006/main">
            <a:r>
              <a:t>- Project portfolio, page 19: product-flow graphic.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clear that these screens belong to a reference application. Explain that observing the transitions helped identify what the Jamaa Next Door flow still needed, while the final behavior was adapted for privacy and role-based participation.</a:t>
            </a:r>
          </a:p>
          <a:p xmlns:a="http://schemas.openxmlformats.org/drawingml/2006/main">
            <a:r>
              <a:t/>
            </a:r>
          </a:p>
          <a:p xmlns:a="http://schemas.openxmlformats.org/drawingml/2006/main">
            <a:r>
              <a:t>[Sources]</a:t>
            </a:r>
          </a:p>
          <a:p xmlns:a="http://schemas.openxmlformats.org/drawingml/2006/main">
            <a:r>
              <a:t>- Research/App Interface and Interaction.pdf. Reference application screenshots are visibly labeled and are not Jamaa Next Door screens.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the early Figma screen with the current implemented hierarchy. Acknowledge the teacher's request for a more human, authentic visual identity and show how language, spacing and trust cues were refined.</a:t>
            </a:r>
          </a:p>
          <a:p xmlns:a="http://schemas.openxmlformats.org/drawingml/2006/main">
            <a:r>
              <a:t/>
            </a:r>
          </a:p>
          <a:p xmlns:a="http://schemas.openxmlformats.org/drawingml/2006/main">
            <a:r>
              <a:t>[Sources]</a:t>
            </a:r>
          </a:p>
          <a:p xmlns:a="http://schemas.openxmlformats.org/drawingml/2006/main">
            <a:r>
              <a:t>- Research/Figma Home interface.png.</a:t>
            </a:r>
          </a:p>
          <a:p xmlns:a="http://schemas.openxmlformats.org/drawingml/2006/main">
            <a:r>
              <a:t>- Current prototype reconstruction based on apps/mobile/app/(tabs)/jamaahs.tsx and apps/mobile/src/theme/tokens.ts.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privacy as functionality: discovery is useful without revealing exact meeting data, and protected fields are controlled server-side rather than merely hidden in the interface.</a:t>
            </a:r>
          </a:p>
          <a:p xmlns:a="http://schemas.openxmlformats.org/drawingml/2006/main">
            <a:r>
              <a:t/>
            </a:r>
          </a:p>
          <a:p xmlns:a="http://schemas.openxmlformats.org/drawingml/2006/main">
            <a:r>
              <a:t>[Sources]</a:t>
            </a:r>
          </a:p>
          <a:p xmlns:a="http://schemas.openxmlformats.org/drawingml/2006/main">
            <a:r>
              <a:t>- Project portfolio privacy model and implemented Supabase policies.</a:t>
            </a:r>
          </a:p>
          <a:p xmlns:a="http://schemas.openxmlformats.org/drawingml/2006/main">
            <a:r>
              <a:t>- AI-generated abstract privacy/proximity background created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one-directional dependency boundary: screens render and forward actions, feature logic owns state transitions, and repositories isolate Supabase and Android services. Finish by pointing to the signed standalone APK.</a:t>
            </a:r>
          </a:p>
          <a:p xmlns:a="http://schemas.openxmlformats.org/drawingml/2006/main">
            <a:r>
              <a:t/>
            </a:r>
          </a:p>
          <a:p xmlns:a="http://schemas.openxmlformats.org/drawingml/2006/main">
            <a:r>
              <a:t>[Sources]</a:t>
            </a:r>
          </a:p>
          <a:p xmlns:a="http://schemas.openxmlformats.org/drawingml/2006/main">
            <a:r>
              <a:t>- Project portfolio, page 14: technical architecture.</a:t>
            </a:r>
          </a:p>
          <a:p xmlns:a="http://schemas.openxmlformats.org/drawingml/2006/main">
            <a:r>
              <a:t>- Project source: apps/mobile/src/services/app-dependencies.ts and apps/mobile/src/ports/.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shift from broad prompting to bounded specifications. The key learning is that AI became reliable when the request defined scope, ownership and verification rather than asking for unsupervised output.</a:t>
            </a:r>
          </a:p>
          <a:p xmlns:a="http://schemas.openxmlformats.org/drawingml/2006/main">
            <a:r>
              <a:t/>
            </a:r>
          </a:p>
          <a:p xmlns:a="http://schemas.openxmlformats.org/drawingml/2006/main">
            <a:r>
              <a:t>[Sources]</a:t>
            </a:r>
          </a:p>
          <a:p xmlns:a="http://schemas.openxmlformats.org/drawingml/2006/main">
            <a:r>
              <a:t>- Research/safe-change-workflow.updated.pdf,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five verbs to show that different change types require different safety constraints. For fixes, quote the root-cause-first excerpt and explain why 'keep unchanged' and verification became mandatory fields.</a:t>
            </a:r>
          </a:p>
          <a:p xmlns:a="http://schemas.openxmlformats.org/drawingml/2006/main">
            <a:r>
              <a:t/>
            </a:r>
          </a:p>
          <a:p xmlns:a="http://schemas.openxmlformats.org/drawingml/2006/main">
            <a:r>
              <a:t>[Sources]</a:t>
            </a:r>
          </a:p>
          <a:p xmlns:a="http://schemas.openxmlformats.org/drawingml/2006/main">
            <a:r>
              <a:t>- Research/safe-change-workflow.updated.pdf, pages 1-3. Exact prompt wording is adapted into visible excerpts.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how direct observation replaced guesswork: connect the phone, install the APK, reproduce the issue, inspect logs, then verify the same path. Mention magic-link routing, the missing profile action, the crypto error, blank details, and browser configuration without exposing credentials.</a:t>
            </a:r>
          </a:p>
          <a:p xmlns:a="http://schemas.openxmlformats.org/drawingml/2006/main">
            <a:r>
              <a:t/>
            </a:r>
          </a:p>
          <a:p xmlns:a="http://schemas.openxmlformats.org/drawingml/2006/main">
            <a:r>
              <a:t>[Sources]</a:t>
            </a:r>
          </a:p>
          <a:p xmlns:a="http://schemas.openxmlformats.org/drawingml/2006/main">
            <a:r>
              <a:t>- Project development chronology supplied by Mohitur Rahman Zidan.</a:t>
            </a:r>
          </a:p>
          <a:p xmlns:a="http://schemas.openxmlformats.org/drawingml/2006/main">
            <a:r>
              <a:t>- Local project evidence: Android package com.zidan73.jamaanextdoor and EAS/APK build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central poster with the final embedded 1080 x 1920 H.264 walkthrough before presentation. Demonstrate home, creation, prayer/time selection, location image, review, confirmation, refreshed home, details sheet, participation actions and Close. Keep the poster frame as the media fallback.</a:t>
            </a:r>
          </a:p>
          <a:p xmlns:a="http://schemas.openxmlformats.org/drawingml/2006/main">
            <a:r>
              <a:t/>
            </a:r>
          </a:p>
          <a:p xmlns:a="http://schemas.openxmlformats.org/drawingml/2006/main">
            <a:r>
              <a:t>[Sources]</a:t>
            </a:r>
          </a:p>
          <a:p xmlns:a="http://schemas.openxmlformats.org/drawingml/2006/main">
            <a:r>
              <a:t>- Walkthrough sequence defined from the implemented application flow. No walkthrough MP4 was available during deck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about what works and what remains unresolved. The prototype proves the central journey, but responsible release still depends on user testing, moderation transparency, verification policy, RTL design and ongoing safeguarding.</a:t>
            </a:r>
          </a:p>
          <a:p xmlns:a="http://schemas.openxmlformats.org/drawingml/2006/main">
            <a:r>
              <a:t/>
            </a:r>
          </a:p>
          <a:p xmlns:a="http://schemas.openxmlformats.org/drawingml/2006/main">
            <a:r>
              <a:t>[Sources]</a:t>
            </a:r>
          </a:p>
          <a:p xmlns:a="http://schemas.openxmlformats.org/drawingml/2006/main">
            <a:r>
              <a:t>- Project source and current implementation status.</a:t>
            </a:r>
          </a:p>
          <a:p xmlns:a="http://schemas.openxmlformats.org/drawingml/2006/main">
            <a:r>
              <a:t>- Teacher feedback supplied by Mohitur Rahman Zidan.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Resolve the opening story: a personal need became a product whose central journey is implemented and whose risks are treated as design constraints. Invite questions without adding a generic thank-you slide.</a:t>
            </a:r>
          </a:p>
          <a:p xmlns:a="http://schemas.openxmlformats.org/drawingml/2006/main">
            <a:r>
              <a:t/>
            </a:r>
          </a:p>
          <a:p xmlns:a="http://schemas.openxmlformats.org/drawingml/2006/main">
            <a:r>
              <a:t>[Sources]</a:t>
            </a:r>
          </a:p>
          <a:p xmlns:a="http://schemas.openxmlformats.org/drawingml/2006/main">
            <a:r>
              <a:t>- Conclusion synthesized from the project portfolio, implemented prototype and user-provided motivation.</a:t>
            </a:r>
          </a:p>
          <a:p xmlns:a="http://schemas.openxmlformats.org/drawingml/2006/main">
            <a:r>
              <a:t>- Project portfolio cover artwork reused as a visual bookend.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8bfbdb6f8044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ae36e9d9c54305" /><Relationship Type="http://schemas.openxmlformats.org/officeDocument/2006/relationships/slideLayout" Target="/ppt/slideLayouts/slideLayout1.xml" Id="Rd1ac3acb040d43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ac3acb040d43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Jamaa Next Door">
      <a:dk1>
        <a:srgbClr val="102F33"/>
      </a:dk1>
      <a:lt1>
        <a:srgbClr val="FFFFFF"/>
      </a:lt1>
      <a:dk2>
        <a:srgbClr val="063E4D"/>
      </a:dk2>
      <a:lt2>
        <a:srgbClr val="F7F5F2"/>
      </a:lt2>
      <a:accent1>
        <a:srgbClr val="063E4D"/>
      </a:accent1>
      <a:accent2>
        <a:srgbClr val="E7C48D"/>
      </a:accent2>
      <a:accent3>
        <a:srgbClr val="89A98F"/>
      </a:accent3>
      <a:accent4>
        <a:srgbClr val="0B4B58"/>
      </a:accent4>
      <a:accent5>
        <a:srgbClr val="C8766B"/>
      </a:accent5>
      <a:accent6>
        <a:srgbClr val="AEB7B8"/>
      </a:accent6>
      <a:hlink>
        <a:srgbClr val="E7C48D"/>
      </a:hlink>
      <a:folHlink>
        <a:srgbClr val="89A98F"/>
      </a:folHlink>
    </a:clrScheme>
    <a:fontScheme name="Office">
      <a:majorFont>
        <a:latin typeface="Calibri Light"/>
        <a:ea typeface="Calibri Light"/>
        <a:cs typeface="Calibri Light"/>
      </a:majorFont>
      <a:minorFont>
        <a:latin typeface="Calibri"/>
        <a:ea typeface="Calibri"/>
        <a:cs typeface="Calibri"/>
      </a:minorFont>
    </a:fontScheme>
    <a:fmtScheme name="Jamaa Next Doo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4cc21f740794a44" /><Relationship Type="http://schemas.openxmlformats.org/officeDocument/2006/relationships/image" Target="/ppt/media/image.png" Id="Rd597591dfecd4388" /><Relationship Type="http://schemas.openxmlformats.org/officeDocument/2006/relationships/notesSlide" Target="/ppt/notesSlides/notesSlide1.xml" Id="R129574fd5dce41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70b6b15081d4e58" /><Relationship Type="http://schemas.openxmlformats.org/officeDocument/2006/relationships/image" Target="/ppt/media/image2.png" Id="R392037c4372c4f62" /><Relationship Type="http://schemas.openxmlformats.org/officeDocument/2006/relationships/notesSlide" Target="/ppt/notesSlides/notesSlide2.xml" Id="R0e2b2ef3a2aa4f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6565fa7dd2428f" /><Relationship Type="http://schemas.openxmlformats.org/officeDocument/2006/relationships/notesSlide" Target="/ppt/notesSlides/notesSlide3.xml" Id="R3933d14ba5d148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4953e40ebc4cc1" /><Relationship Type="http://schemas.openxmlformats.org/officeDocument/2006/relationships/image" Target="/ppt/media/image3.png" Id="Rd83ba11a0b414e72" /><Relationship Type="http://schemas.openxmlformats.org/officeDocument/2006/relationships/notesSlide" Target="/ppt/notesSlides/notesSlide4.xml" Id="Rc954875edd674b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3f4ac1d1da41b1" /><Relationship Type="http://schemas.openxmlformats.org/officeDocument/2006/relationships/image" Target="/ppt/media/image.jpeg" Id="R60f7be4281c34007" /><Relationship Type="http://schemas.openxmlformats.org/officeDocument/2006/relationships/image" Target="/ppt/media/image2.jpeg" Id="Rd47087b07f4c4919" /><Relationship Type="http://schemas.openxmlformats.org/officeDocument/2006/relationships/image" Target="/ppt/media/image3.jpeg" Id="R6106bae3d29d4f2e" /><Relationship Type="http://schemas.openxmlformats.org/officeDocument/2006/relationships/image" Target="/ppt/media/image4.jpeg" Id="R5d58ac180a224983" /><Relationship Type="http://schemas.openxmlformats.org/officeDocument/2006/relationships/notesSlide" Target="/ppt/notesSlides/notesSlide5.xml" Id="R6429c9e0900f44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4ba2396b3714672" /><Relationship Type="http://schemas.openxmlformats.org/officeDocument/2006/relationships/image" Target="/ppt/media/image4.png" Id="Rf56f1fdcda3c46d9" /><Relationship Type="http://schemas.openxmlformats.org/officeDocument/2006/relationships/notesSlide" Target="/ppt/notesSlides/notesSlide6.xml" Id="R0c889f5edd2b42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f91f5f16cdb4c93" /><Relationship Type="http://schemas.openxmlformats.org/officeDocument/2006/relationships/image" Target="/ppt/media/image5.png" Id="R0eb16bdba062429b" /><Relationship Type="http://schemas.openxmlformats.org/officeDocument/2006/relationships/notesSlide" Target="/ppt/notesSlides/notesSlide7.xml" Id="Ra76f6d8d612b46a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6bb88aaf7af4e29" /><Relationship Type="http://schemas.openxmlformats.org/officeDocument/2006/relationships/image" Target="/ppt/media/image6.png" Id="Rf6645c61e7064973" /><Relationship Type="http://schemas.openxmlformats.org/officeDocument/2006/relationships/notesSlide" Target="/ppt/notesSlides/notesSlide8.xml" Id="R1b4c0cd78d2b43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92b85bd82cd4114" /><Relationship Type="http://schemas.openxmlformats.org/officeDocument/2006/relationships/image" Target="/ppt/media/image7.png" Id="Re2f4063442914cd5" /><Relationship Type="http://schemas.openxmlformats.org/officeDocument/2006/relationships/notesSlide" Target="/ppt/notesSlides/notesSlide9.xml" Id="R143bd2c76ea04c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4c9c378765d4bfe" /><Relationship Type="http://schemas.openxmlformats.org/officeDocument/2006/relationships/notesSlide" Target="/ppt/notesSlides/notesSlide10.xml" Id="R329240b49d4747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6e86d52df4f4417" /><Relationship Type="http://schemas.openxmlformats.org/officeDocument/2006/relationships/notesSlide" Target="/ppt/notesSlides/notesSlide11.xml" Id="Rb9b8ce60e9934bf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73969e84839485c" /><Relationship Type="http://schemas.openxmlformats.org/officeDocument/2006/relationships/notesSlide" Target="/ppt/notesSlides/notesSlide12.xml" Id="R5b014652b41742b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fbb63b2a8764d86" /><Relationship Type="http://schemas.openxmlformats.org/officeDocument/2006/relationships/notesSlide" Target="/ppt/notesSlides/notesSlide13.xml" Id="R537e77168961423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87eda8ff9414465" /><Relationship Type="http://schemas.openxmlformats.org/officeDocument/2006/relationships/image" Target="/ppt/media/image8.png" Id="Rad317d574594409c" /><Relationship Type="http://schemas.openxmlformats.org/officeDocument/2006/relationships/notesSlide" Target="/ppt/notesSlides/notesSlide14.xml" Id="R0dee33e6d2744ec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597591dfecd4388"/>
          <a:srcRect xmlns:a="http://schemas.openxmlformats.org/drawingml/2006/main" l="0" t="30117" r="0" b="3011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21357B9-9506-4EE8-AA12-42F83B001F3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9FB581E-FF65-4990-B195-A6E672070381}"/>
              </a:ext>
            </a:extLst>
          </p:cNvPr>
          <p:cNvSpPr>
            <a:spLocks xmlns:a="http://schemas.openxmlformats.org/drawingml/2006/main" noGrp="1"/>
          </p:cNvSpPr>
          <p:nvPr/>
        </p:nvSpPr>
        <p:spPr>
          <a:xfrm xmlns:a="http://schemas.openxmlformats.org/drawingml/2006/main">
            <a:off x="7524750" y="666750"/>
            <a:ext cx="3429000" cy="5429250"/>
          </a:xfrm>
          <a:prstGeom xmlns:a="http://schemas.openxmlformats.org/drawingml/2006/main" prst="roundRect">
            <a:avLst>
              <a:gd name="adj" fmla="val 50000"/>
            </a:avLst>
          </a:prstGeom>
          <a:noFill xmlns:a="http://schemas.openxmlformats.org/drawingml/2006/main"/>
          <a:ln xmlns:a="http://schemas.openxmlformats.org/drawingml/2006/main" w="28575">
            <a:solidFill>
              <a:srgbClr val="E7C48D"/>
            </a:solidFill>
            <a:prstDash val="solid"/>
          </a:ln>
        </p:spPr>
      </p:sp>
      <p:sp>
        <p:nvSpPr>
          <p:cNvPr id="4" name="">
            <a:extLst xmlns:a="http://schemas.openxmlformats.org/drawingml/2006/main">
              <a:ext uri="{FF2B5EF4-FFF2-40B4-BE49-F238E27FC236}">
                <a16:creationId xmlns:a16="http://schemas.microsoft.com/office/drawing/2014/main" id="{6824265E-38BE-4E5A-A40B-9D3F7D2A58FE}"/>
              </a:ext>
            </a:extLst>
          </p:cNvPr>
          <p:cNvSpPr>
            <a:spLocks xmlns:a="http://schemas.openxmlformats.org/drawingml/2006/main" noGrp="1"/>
          </p:cNvSpPr>
          <p:nvPr/>
        </p:nvSpPr>
        <p:spPr>
          <a:xfrm xmlns:a="http://schemas.openxmlformats.org/drawingml/2006/main">
            <a:off x="9153525" y="3248025"/>
            <a:ext cx="171450" cy="171450"/>
          </a:xfrm>
          <a:prstGeom xmlns:a="http://schemas.openxmlformats.org/drawingml/2006/main" prst="ellipse">
            <a:avLst/>
          </a:prstGeom>
          <a:solidFill xmlns:a="http://schemas.openxmlformats.org/drawingml/2006/main">
            <a:srgbClr val="89A98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1D3D8E6-D51D-4CD7-BDD4-CE42C0678498}"/>
              </a:ext>
            </a:extLst>
          </p:cNvPr>
          <p:cNvSpPr>
            <a:spLocks xmlns:a="http://schemas.openxmlformats.org/drawingml/2006/main" noGrp="1"/>
          </p:cNvSpPr>
          <p:nvPr/>
        </p:nvSpPr>
        <p:spPr>
          <a:xfrm xmlns:a="http://schemas.openxmlformats.org/drawingml/2006/main" flipH="0" flipV="0">
            <a:off x="876300" y="914400"/>
            <a:ext cx="0" cy="4686300"/>
          </a:xfrm>
          <a:prstGeom xmlns:a="http://schemas.openxmlformats.org/drawingml/2006/main" prst="line">
            <a:avLst/>
          </a:prstGeom>
          <a:noFill xmlns:a="http://schemas.openxmlformats.org/drawingml/2006/main"/>
          <a:ln xmlns:a="http://schemas.openxmlformats.org/drawingml/2006/main" w="28575">
            <a:solidFill>
              <a:srgbClr val="E7C48D"/>
            </a:solidFill>
            <a:prstDash val="solid"/>
          </a:ln>
        </p:spPr>
      </p:sp>
      <p:sp>
        <p:nvSpPr>
          <p:cNvPr id="6" name="">
            <a:extLst xmlns:a="http://schemas.openxmlformats.org/drawingml/2006/main">
              <a:ext uri="{FF2B5EF4-FFF2-40B4-BE49-F238E27FC236}">
                <a16:creationId xmlns:a16="http://schemas.microsoft.com/office/drawing/2014/main" id="{FB4FCE33-153F-4A97-8DEC-5CE188420CDE}"/>
              </a:ext>
            </a:extLst>
          </p:cNvPr>
          <p:cNvSpPr>
            <a:spLocks xmlns:a="http://schemas.openxmlformats.org/drawingml/2006/main" noGrp="1"/>
          </p:cNvSpPr>
          <p:nvPr/>
        </p:nvSpPr>
        <p:spPr>
          <a:xfrm xmlns:a="http://schemas.openxmlformats.org/drawingml/2006/main">
            <a:off x="1200150" y="1028700"/>
            <a:ext cx="685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4800" b="1" i="0">
                <a:solidFill>
                  <a:srgbClr val="F7F5F2"/>
                </a:solidFill>
                <a:latin typeface="Georgia"/>
                <a:ea typeface="Georgia"/>
                <a:cs typeface="Georgia"/>
              </a:defRPr>
            </a:pPr>
            <a:r>
              <a:rPr sz="4800" b="1" i="0">
                <a:solidFill>
                  <a:srgbClr val="F7F5F2"/>
                </a:solidFill>
                <a:latin typeface="Georgia"/>
                <a:ea typeface="Georgia"/>
                <a:cs typeface="Georgia"/>
              </a:rPr>
              <a:t>Jamaa Next Door</a:t>
            </a:r>
          </a:p>
        </p:txBody>
      </p:sp>
      <p:sp>
        <p:nvSpPr>
          <p:cNvPr id="7" name="">
            <a:extLst xmlns:a="http://schemas.openxmlformats.org/drawingml/2006/main">
              <a:ext uri="{FF2B5EF4-FFF2-40B4-BE49-F238E27FC236}">
                <a16:creationId xmlns:a16="http://schemas.microsoft.com/office/drawing/2014/main" id="{F4954FDD-8981-4B8F-9D1B-664B13FFDE6B}"/>
              </a:ext>
            </a:extLst>
          </p:cNvPr>
          <p:cNvSpPr>
            <a:spLocks xmlns:a="http://schemas.openxmlformats.org/drawingml/2006/main" noGrp="1"/>
          </p:cNvSpPr>
          <p:nvPr/>
        </p:nvSpPr>
        <p:spPr>
          <a:xfrm xmlns:a="http://schemas.openxmlformats.org/drawingml/2006/main">
            <a:off x="1257300" y="2038350"/>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100" b="0" i="0">
                <a:solidFill>
                  <a:srgbClr val="E7C48D"/>
                </a:solidFill>
                <a:latin typeface="Georgia"/>
                <a:ea typeface="Georgia"/>
                <a:cs typeface="Georgia"/>
              </a:defRPr>
            </a:pPr>
            <a:r>
              <a:rPr sz="2100" b="0" i="0">
                <a:solidFill>
                  <a:srgbClr val="E7C48D"/>
                </a:solidFill>
                <a:latin typeface="Georgia"/>
                <a:ea typeface="Georgia"/>
                <a:cs typeface="Georgia"/>
              </a:rPr>
              <a:t>A platform to unify Muslims</a:t>
            </a:r>
          </a:p>
        </p:txBody>
      </p:sp>
      <p:sp>
        <p:nvSpPr>
          <p:cNvPr id="8" name="">
            <a:extLst xmlns:a="http://schemas.openxmlformats.org/drawingml/2006/main">
              <a:ext uri="{FF2B5EF4-FFF2-40B4-BE49-F238E27FC236}">
                <a16:creationId xmlns:a16="http://schemas.microsoft.com/office/drawing/2014/main" id="{4CC06115-0038-4BF5-84B5-B9EC2111B373}"/>
              </a:ext>
            </a:extLst>
          </p:cNvPr>
          <p:cNvSpPr>
            <a:spLocks xmlns:a="http://schemas.openxmlformats.org/drawingml/2006/main" noGrp="1"/>
          </p:cNvSpPr>
          <p:nvPr/>
        </p:nvSpPr>
        <p:spPr>
          <a:xfrm xmlns:a="http://schemas.openxmlformats.org/drawingml/2006/main">
            <a:off x="1257300" y="29527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00" b="1" i="0">
                <a:solidFill>
                  <a:srgbClr val="89A98F"/>
                </a:solidFill>
                <a:latin typeface="Aptos"/>
                <a:ea typeface="Aptos"/>
                <a:cs typeface="Aptos"/>
              </a:defRPr>
            </a:pPr>
            <a:r>
              <a:rPr sz="1200" b="1" i="0">
                <a:solidFill>
                  <a:srgbClr val="89A98F"/>
                </a:solidFill>
                <a:latin typeface="Aptos"/>
                <a:ea typeface="Aptos"/>
                <a:cs typeface="Aptos"/>
              </a:rPr>
              <a:t>PROJECT PRESENTATION</a:t>
            </a:r>
          </a:p>
        </p:txBody>
      </p:sp>
      <p:sp>
        <p:nvSpPr>
          <p:cNvPr id="9" name="">
            <a:extLst xmlns:a="http://schemas.openxmlformats.org/drawingml/2006/main">
              <a:ext uri="{FF2B5EF4-FFF2-40B4-BE49-F238E27FC236}">
                <a16:creationId xmlns:a16="http://schemas.microsoft.com/office/drawing/2014/main" id="{B42B4194-3D49-46C6-A90D-E4ED6E0FFBFA}"/>
              </a:ext>
            </a:extLst>
          </p:cNvPr>
          <p:cNvSpPr>
            <a:spLocks xmlns:a="http://schemas.openxmlformats.org/drawingml/2006/main" noGrp="1"/>
          </p:cNvSpPr>
          <p:nvPr/>
        </p:nvSpPr>
        <p:spPr>
          <a:xfrm xmlns:a="http://schemas.openxmlformats.org/drawingml/2006/main">
            <a:off x="1257300" y="3333750"/>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550" b="1" i="0">
                <a:solidFill>
                  <a:srgbClr val="F7F5F2"/>
                </a:solidFill>
                <a:latin typeface="Georgia"/>
                <a:ea typeface="Georgia"/>
                <a:cs typeface="Georgia"/>
              </a:defRPr>
            </a:pPr>
            <a:r>
              <a:rPr sz="2550" b="1" i="0">
                <a:solidFill>
                  <a:srgbClr val="F7F5F2"/>
                </a:solidFill>
                <a:latin typeface="Georgia"/>
                <a:ea typeface="Georgia"/>
                <a:cs typeface="Georgia"/>
              </a:rPr>
              <a:t>Mohitur Rahman Zidan</a:t>
            </a:r>
          </a:p>
        </p:txBody>
      </p:sp>
      <p:sp>
        <p:nvSpPr>
          <p:cNvPr id="10" name="">
            <a:extLst xmlns:a="http://schemas.openxmlformats.org/drawingml/2006/main">
              <a:ext uri="{FF2B5EF4-FFF2-40B4-BE49-F238E27FC236}">
                <a16:creationId xmlns:a16="http://schemas.microsoft.com/office/drawing/2014/main" id="{1FB04AD1-8A9E-4E09-B888-50818FD04AFB}"/>
              </a:ext>
            </a:extLst>
          </p:cNvPr>
          <p:cNvSpPr>
            <a:spLocks xmlns:a="http://schemas.openxmlformats.org/drawingml/2006/main" noGrp="1"/>
          </p:cNvSpPr>
          <p:nvPr/>
        </p:nvSpPr>
        <p:spPr>
          <a:xfrm xmlns:a="http://schemas.openxmlformats.org/drawingml/2006/main">
            <a:off x="1257300" y="4933950"/>
            <a:ext cx="5334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0" i="0">
                <a:solidFill>
                  <a:srgbClr val="F7F5F2"/>
                </a:solidFill>
                <a:latin typeface="Aptos"/>
                <a:ea typeface="Aptos"/>
                <a:cs typeface="Aptos"/>
              </a:defRPr>
            </a:pPr>
            <a:r>
              <a:rPr sz="1350" b="0" i="0">
                <a:solidFill>
                  <a:srgbClr val="F7F5F2"/>
                </a:solidFill>
                <a:latin typeface="Aptos"/>
                <a:ea typeface="Aptos"/>
                <a:cs typeface="Aptos"/>
              </a:rPr>
              <a:t>Augmented and Virtual Reality Design</a:t>
            </a:r>
          </a:p>
          <a:p xmlns:a="http://schemas.openxmlformats.org/drawingml/2006/main">
            <a:pPr algn="l">
              <a:lnSpc>
                <a:spcPct val="112000"/>
              </a:lnSpc>
              <a:buNone/>
              <a:defRPr sz="1350" b="0" i="0">
                <a:solidFill>
                  <a:srgbClr val="F7F5F2"/>
                </a:solidFill>
                <a:latin typeface="Aptos"/>
                <a:ea typeface="Aptos"/>
                <a:cs typeface="Aptos"/>
              </a:defRPr>
            </a:pPr>
            <a:r>
              <a:rPr sz="1350" b="0" i="0">
                <a:solidFill>
                  <a:srgbClr val="F7F5F2"/>
                </a:solidFill>
                <a:latin typeface="Aptos"/>
                <a:ea typeface="Aptos"/>
                <a:cs typeface="Aptos"/>
              </a:rPr>
              <a:t>Experimental XR Interactions &amp; Interfaces</a:t>
            </a:r>
          </a:p>
          <a:p xmlns:a="http://schemas.openxmlformats.org/drawingml/2006/main">
            <a:pPr algn="l">
              <a:lnSpc>
                <a:spcPct val="112000"/>
              </a:lnSpc>
              <a:buNone/>
              <a:defRPr sz="1350" b="0" i="0">
                <a:solidFill>
                  <a:srgbClr val="F7F5F2"/>
                </a:solidFill>
                <a:latin typeface="Aptos"/>
                <a:ea typeface="Aptos"/>
                <a:cs typeface="Aptos"/>
              </a:defRPr>
            </a:pPr>
            <a:r>
              <a:rPr sz="1350" b="0" i="0">
                <a:solidFill>
                  <a:srgbClr val="F7F5F2"/>
                </a:solidFill>
                <a:latin typeface="Aptos"/>
                <a:ea typeface="Aptos"/>
                <a:cs typeface="Aptos"/>
              </a:rPr>
              <a:t>Summer Semester - 2026</a:t>
            </a:r>
          </a:p>
          <a:p xmlns:a="http://schemas.openxmlformats.org/drawingml/2006/main">
            <a:pPr algn="l">
              <a:lnSpc>
                <a:spcPct val="112000"/>
              </a:lnSpc>
              <a:buNone/>
              <a:defRPr sz="1350" b="0" i="0">
                <a:solidFill>
                  <a:srgbClr val="F7F5F2"/>
                </a:solidFill>
                <a:latin typeface="Aptos"/>
                <a:ea typeface="Aptos"/>
                <a:cs typeface="Aptos"/>
              </a:defRPr>
            </a:pPr>
            <a:r>
              <a:rPr sz="1350" b="0" i="0">
                <a:solidFill>
                  <a:srgbClr val="F7F5F2"/>
                </a:solidFill>
                <a:latin typeface="Aptos"/>
                <a:ea typeface="Aptos"/>
                <a:cs typeface="Aptos"/>
              </a:rPr>
              <a:t>Tutored by David Bachmann</a:t>
            </a:r>
          </a:p>
        </p:txBody>
      </p:sp>
    </p:spTree>
    <p:extLst>
      <p:ext uri="{BB962C8B-B14F-4D97-AF65-F5344CB8AC3E}">
        <p14:creationId xmlns:p14="http://schemas.microsoft.com/office/powerpoint/2010/main" val="129848254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92037c4372c4f6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21A81AF-BF8D-4707-82FB-D6C21EC4D03E}"/>
              </a:ext>
            </a:extLst>
          </p:cNvPr>
          <p:cNvSpPr>
            <a:spLocks xmlns:a="http://schemas.openxmlformats.org/drawingml/2006/main" noGrp="1"/>
          </p:cNvSpPr>
          <p:nvPr/>
        </p:nvSpPr>
        <p:spPr>
          <a:xfrm xmlns:a="http://schemas.openxmlformats.org/drawingml/2006/main">
            <a:off x="0" y="0"/>
            <a:ext cx="6524625" cy="68580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707EE6C-04D0-41CE-8956-DFABC25A31C6}"/>
              </a:ext>
            </a:extLst>
          </p:cNvPr>
          <p:cNvSpPr>
            <a:spLocks xmlns:a="http://schemas.openxmlformats.org/drawingml/2006/main" noGrp="1"/>
          </p:cNvSpPr>
          <p:nvPr/>
        </p:nvSpPr>
        <p:spPr>
          <a:xfrm xmlns:a="http://schemas.openxmlformats.org/drawingml/2006/main">
            <a:off x="552450" y="3238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E7C48D"/>
                </a:solidFill>
                <a:latin typeface="Aptos"/>
                <a:ea typeface="Aptos"/>
                <a:cs typeface="Aptos"/>
              </a:defRPr>
            </a:pPr>
            <a:r>
              <a:rPr sz="1275" b="1" i="0">
                <a:solidFill>
                  <a:srgbClr val="E7C48D"/>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0A26BAD7-5780-4D92-91B4-DD58C2577646}"/>
              </a:ext>
            </a:extLst>
          </p:cNvPr>
          <p:cNvSpPr>
            <a:spLocks xmlns:a="http://schemas.openxmlformats.org/drawingml/2006/main" noGrp="1"/>
          </p:cNvSpPr>
          <p:nvPr/>
        </p:nvSpPr>
        <p:spPr>
          <a:xfrm xmlns:a="http://schemas.openxmlformats.org/drawingml/2006/main" flipH="0" flipV="0">
            <a:off x="1104900" y="447675"/>
            <a:ext cx="514350" cy="0"/>
          </a:xfrm>
          <a:prstGeom xmlns:a="http://schemas.openxmlformats.org/drawingml/2006/main" prst="line">
            <a:avLst/>
          </a:prstGeom>
          <a:noFill xmlns:a="http://schemas.openxmlformats.org/drawingml/2006/main"/>
          <a:ln xmlns:a="http://schemas.openxmlformats.org/drawingml/2006/main" w="19050">
            <a:solidFill>
              <a:srgbClr val="89A98F"/>
            </a:solidFill>
            <a:prstDash val="solid"/>
          </a:ln>
        </p:spPr>
      </p:sp>
      <p:sp>
        <p:nvSpPr>
          <p:cNvPr id="5" name="">
            <a:extLst xmlns:a="http://schemas.openxmlformats.org/drawingml/2006/main">
              <a:ext uri="{FF2B5EF4-FFF2-40B4-BE49-F238E27FC236}">
                <a16:creationId xmlns:a16="http://schemas.microsoft.com/office/drawing/2014/main" id="{728C48F9-512D-4304-8F22-9A4809866530}"/>
              </a:ext>
            </a:extLst>
          </p:cNvPr>
          <p:cNvSpPr>
            <a:spLocks xmlns:a="http://schemas.openxmlformats.org/drawingml/2006/main" noGrp="1"/>
          </p:cNvSpPr>
          <p:nvPr/>
        </p:nvSpPr>
        <p:spPr>
          <a:xfrm xmlns:a="http://schemas.openxmlformats.org/drawingml/2006/main">
            <a:off x="1790700" y="247650"/>
            <a:ext cx="9848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3150" b="1" i="0">
                <a:solidFill>
                  <a:srgbClr val="F7F5F2"/>
                </a:solidFill>
                <a:latin typeface="Georgia"/>
                <a:ea typeface="Georgia"/>
                <a:cs typeface="Georgia"/>
              </a:defRPr>
            </a:pPr>
            <a:r>
              <a:rPr sz="3150" b="1" i="0">
                <a:solidFill>
                  <a:srgbClr val="F7F5F2"/>
                </a:solidFill>
                <a:latin typeface="Georgia"/>
                <a:ea typeface="Georgia"/>
                <a:cs typeface="Georgia"/>
              </a:rPr>
              <a:t>The idea began with religious isolation</a:t>
            </a:r>
          </a:p>
        </p:txBody>
      </p:sp>
      <p:sp>
        <p:nvSpPr>
          <p:cNvPr id="6" name="">
            <a:extLst xmlns:a="http://schemas.openxmlformats.org/drawingml/2006/main">
              <a:ext uri="{FF2B5EF4-FFF2-40B4-BE49-F238E27FC236}">
                <a16:creationId xmlns:a16="http://schemas.microsoft.com/office/drawing/2014/main" id="{D5B12DE6-F693-4F08-B528-DF6496E78623}"/>
              </a:ext>
            </a:extLst>
          </p:cNvPr>
          <p:cNvSpPr>
            <a:spLocks xmlns:a="http://schemas.openxmlformats.org/drawingml/2006/main" noGrp="1"/>
          </p:cNvSpPr>
          <p:nvPr/>
        </p:nvSpPr>
        <p:spPr>
          <a:xfrm xmlns:a="http://schemas.openxmlformats.org/drawingml/2006/main">
            <a:off x="781050" y="1524000"/>
            <a:ext cx="4953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76"/>
          </a:bodyPr>
          <a:lstStyle xmlns:a="http://schemas.openxmlformats.org/drawingml/2006/main"/>
          <a:p xmlns:a="http://schemas.openxmlformats.org/drawingml/2006/main">
            <a:pPr algn="l">
              <a:lnSpc>
                <a:spcPct val="103000"/>
              </a:lnSpc>
              <a:buNone/>
              <a:defRPr sz="2325" b="1" i="0">
                <a:solidFill>
                  <a:srgbClr val="F7F5F2"/>
                </a:solidFill>
                <a:latin typeface="Georgia"/>
                <a:ea typeface="Georgia"/>
                <a:cs typeface="Georgia"/>
              </a:defRPr>
            </a:pPr>
            <a:r>
              <a:rPr sz="2325" b="1" i="0">
                <a:solidFill>
                  <a:srgbClr val="F7F5F2"/>
                </a:solidFill>
                <a:latin typeface="Georgia"/>
                <a:ea typeface="Georgia"/>
                <a:cs typeface="Georgia"/>
              </a:rPr>
              <a:t>For two months, I lived in Germany without a mosque nearby.</a:t>
            </a:r>
          </a:p>
        </p:txBody>
      </p:sp>
      <p:sp>
        <p:nvSpPr>
          <p:cNvPr id="7" name="">
            <a:extLst xmlns:a="http://schemas.openxmlformats.org/drawingml/2006/main">
              <a:ext uri="{FF2B5EF4-FFF2-40B4-BE49-F238E27FC236}">
                <a16:creationId xmlns:a16="http://schemas.microsoft.com/office/drawing/2014/main" id="{FB630152-7746-4F56-A449-DE2E30F5D904}"/>
              </a:ext>
            </a:extLst>
          </p:cNvPr>
          <p:cNvSpPr>
            <a:spLocks xmlns:a="http://schemas.openxmlformats.org/drawingml/2006/main" noGrp="1"/>
          </p:cNvSpPr>
          <p:nvPr/>
        </p:nvSpPr>
        <p:spPr>
          <a:xfrm xmlns:a="http://schemas.openxmlformats.org/drawingml/2006/main">
            <a:off x="781050" y="272415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F7F5F2"/>
                </a:solidFill>
                <a:latin typeface="Aptos"/>
                <a:ea typeface="Aptos"/>
                <a:cs typeface="Aptos"/>
              </a:defRPr>
            </a:pPr>
            <a:r>
              <a:rPr sz="1650" b="0" i="0">
                <a:solidFill>
                  <a:srgbClr val="F7F5F2"/>
                </a:solidFill>
                <a:latin typeface="Aptos"/>
                <a:ea typeface="Aptos"/>
                <a:cs typeface="Aptos"/>
              </a:rPr>
              <a:t>Muslims lived around me, but there was no simple way to find each other for congregational prayer.</a:t>
            </a:r>
          </a:p>
        </p:txBody>
      </p:sp>
      <p:sp>
        <p:nvSpPr>
          <p:cNvPr id="8" name="">
            <a:extLst xmlns:a="http://schemas.openxmlformats.org/drawingml/2006/main">
              <a:ext uri="{FF2B5EF4-FFF2-40B4-BE49-F238E27FC236}">
                <a16:creationId xmlns:a16="http://schemas.microsoft.com/office/drawing/2014/main" id="{20951D8D-80B3-46DF-9A97-E409579A7F03}"/>
              </a:ext>
            </a:extLst>
          </p:cNvPr>
          <p:cNvSpPr>
            <a:spLocks xmlns:a="http://schemas.openxmlformats.org/drawingml/2006/main" noGrp="1"/>
          </p:cNvSpPr>
          <p:nvPr/>
        </p:nvSpPr>
        <p:spPr>
          <a:xfrm xmlns:a="http://schemas.openxmlformats.org/drawingml/2006/main" flipH="0" flipV="0">
            <a:off x="781050" y="4000500"/>
            <a:ext cx="4572000" cy="0"/>
          </a:xfrm>
          <a:prstGeom xmlns:a="http://schemas.openxmlformats.org/drawingml/2006/main" prst="line">
            <a:avLst/>
          </a:prstGeom>
          <a:noFill xmlns:a="http://schemas.openxmlformats.org/drawingml/2006/main"/>
          <a:ln xmlns:a="http://schemas.openxmlformats.org/drawingml/2006/main" w="19050">
            <a:solidFill>
              <a:srgbClr val="E7C48D"/>
            </a:solidFill>
            <a:prstDash val="solid"/>
          </a:ln>
        </p:spPr>
      </p:sp>
      <p:sp>
        <p:nvSpPr>
          <p:cNvPr id="9" name="">
            <a:extLst xmlns:a="http://schemas.openxmlformats.org/drawingml/2006/main">
              <a:ext uri="{FF2B5EF4-FFF2-40B4-BE49-F238E27FC236}">
                <a16:creationId xmlns:a16="http://schemas.microsoft.com/office/drawing/2014/main" id="{7C21899D-4EDC-4936-8E99-9C11263CCB21}"/>
              </a:ext>
            </a:extLst>
          </p:cNvPr>
          <p:cNvSpPr>
            <a:spLocks xmlns:a="http://schemas.openxmlformats.org/drawingml/2006/main" noGrp="1"/>
          </p:cNvSpPr>
          <p:nvPr/>
        </p:nvSpPr>
        <p:spPr>
          <a:xfrm xmlns:a="http://schemas.openxmlformats.org/drawingml/2006/main">
            <a:off x="781050" y="4248150"/>
            <a:ext cx="476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E7C48D"/>
                </a:solidFill>
                <a:latin typeface="Georgia"/>
                <a:ea typeface="Georgia"/>
                <a:cs typeface="Georgia"/>
              </a:defRPr>
            </a:pPr>
            <a:r>
              <a:rPr sz="1800" b="1" i="0">
                <a:solidFill>
                  <a:srgbClr val="E7C48D"/>
                </a:solidFill>
                <a:latin typeface="Georgia"/>
                <a:ea typeface="Georgia"/>
                <a:cs typeface="Georgia"/>
              </a:rPr>
              <a:t>Could nearby Muslims coordinate safely when the mosque is inaccessible or its Jama'ah has already passed?</a:t>
            </a:r>
          </a:p>
        </p:txBody>
      </p:sp>
      <p:sp>
        <p:nvSpPr>
          <p:cNvPr id="10" name="">
            <a:extLst xmlns:a="http://schemas.openxmlformats.org/drawingml/2006/main">
              <a:ext uri="{FF2B5EF4-FFF2-40B4-BE49-F238E27FC236}">
                <a16:creationId xmlns:a16="http://schemas.microsoft.com/office/drawing/2014/main" id="{EA4DFA7B-C7BF-47C5-868E-8233BE5A5866}"/>
              </a:ext>
            </a:extLst>
          </p:cNvPr>
          <p:cNvSpPr>
            <a:spLocks xmlns:a="http://schemas.openxmlformats.org/drawingml/2006/main" noGrp="1"/>
          </p:cNvSpPr>
          <p:nvPr/>
        </p:nvSpPr>
        <p:spPr>
          <a:xfrm xmlns:a="http://schemas.openxmlformats.org/drawingml/2006/main">
            <a:off x="552450" y="65341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825" b="1" i="0">
                <a:solidFill>
                  <a:srgbClr val="AEB7B8"/>
                </a:solidFill>
                <a:latin typeface="Aptos"/>
                <a:ea typeface="Aptos"/>
                <a:cs typeface="Aptos"/>
              </a:defRPr>
            </a:pPr>
            <a:r>
              <a:rPr sz="825" b="1" i="0">
                <a:solidFill>
                  <a:srgbClr val="AEB7B8"/>
                </a:solidFill>
                <a:latin typeface="Aptos"/>
                <a:ea typeface="Aptos"/>
                <a:cs typeface="Aptos"/>
              </a:rPr>
              <a:t>JAMAA NEXT DOOR</a:t>
            </a:r>
          </a:p>
        </p:txBody>
      </p:sp>
      <p:sp>
        <p:nvSpPr>
          <p:cNvPr id="11" name="">
            <a:extLst xmlns:a="http://schemas.openxmlformats.org/drawingml/2006/main">
              <a:ext uri="{FF2B5EF4-FFF2-40B4-BE49-F238E27FC236}">
                <a16:creationId xmlns:a16="http://schemas.microsoft.com/office/drawing/2014/main" id="{01F4206E-3E62-4E7E-8406-24D0272EFFA0}"/>
              </a:ext>
            </a:extLst>
          </p:cNvPr>
          <p:cNvSpPr>
            <a:spLocks xmlns:a="http://schemas.openxmlformats.org/drawingml/2006/main" noGrp="1"/>
          </p:cNvSpPr>
          <p:nvPr/>
        </p:nvSpPr>
        <p:spPr>
          <a:xfrm xmlns:a="http://schemas.openxmlformats.org/drawingml/2006/main">
            <a:off x="1125855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900" b="1" i="0">
                <a:solidFill>
                  <a:srgbClr val="E7C48D"/>
                </a:solidFill>
                <a:latin typeface="Aptos"/>
                <a:ea typeface="Aptos"/>
                <a:cs typeface="Aptos"/>
              </a:defRPr>
            </a:pPr>
            <a:r>
              <a:rPr sz="900" b="1" i="0">
                <a:solidFill>
                  <a:srgbClr val="E7C48D"/>
                </a:solidFill>
                <a:latin typeface="Aptos"/>
                <a:ea typeface="Aptos"/>
                <a:cs typeface="Aptos"/>
              </a:rPr>
              <a:t>02</a:t>
            </a:r>
          </a:p>
        </p:txBody>
      </p:sp>
    </p:spTree>
    <p:extLst>
      <p:ext uri="{BB962C8B-B14F-4D97-AF65-F5344CB8AC3E}">
        <p14:creationId xmlns:p14="http://schemas.microsoft.com/office/powerpoint/2010/main" val="1719455511"/>
      </p:ext>
    </p:extLst>
  </p:cSld>
</p:sld>
</file>

<file path=ppt/slides/slide3.xml><?xml version="1.0" encoding="utf-8"?>
<p:sld xmlns:p="http://schemas.openxmlformats.org/presentationml/2006/main">
  <p:cSld>
    <p:bg>
      <p:bgPr>
        <a:solidFill xmlns:a="http://schemas.openxmlformats.org/drawingml/2006/main">
          <a:srgbClr val="F7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AAB370A-638A-4995-BAF9-6CEA05ACB472}"/>
              </a:ext>
            </a:extLst>
          </p:cNvPr>
          <p:cNvSpPr>
            <a:spLocks xmlns:a="http://schemas.openxmlformats.org/drawingml/2006/main" noGrp="1"/>
          </p:cNvSpPr>
          <p:nvPr/>
        </p:nvSpPr>
        <p:spPr>
          <a:xfrm xmlns:a="http://schemas.openxmlformats.org/drawingml/2006/main">
            <a:off x="552450" y="3238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E7C48D"/>
                </a:solidFill>
                <a:latin typeface="Aptos"/>
                <a:ea typeface="Aptos"/>
                <a:cs typeface="Aptos"/>
              </a:defRPr>
            </a:pPr>
            <a:r>
              <a:rPr sz="1275" b="1" i="0">
                <a:solidFill>
                  <a:srgbClr val="E7C48D"/>
                </a:solidFill>
                <a:latin typeface="Aptos"/>
                <a:ea typeface="Aptos"/>
                <a:cs typeface="Aptos"/>
              </a:rPr>
              <a:t>03</a:t>
            </a:r>
          </a:p>
        </p:txBody>
      </p:sp>
      <p:sp>
        <p:nvSpPr>
          <p:cNvPr id="2" name="">
            <a:extLst xmlns:a="http://schemas.openxmlformats.org/drawingml/2006/main">
              <a:ext uri="{FF2B5EF4-FFF2-40B4-BE49-F238E27FC236}">
                <a16:creationId xmlns:a16="http://schemas.microsoft.com/office/drawing/2014/main" id="{EBA9EC2D-3989-4CB3-BCDE-ED73335433F7}"/>
              </a:ext>
            </a:extLst>
          </p:cNvPr>
          <p:cNvSpPr>
            <a:spLocks xmlns:a="http://schemas.openxmlformats.org/drawingml/2006/main" noGrp="1"/>
          </p:cNvSpPr>
          <p:nvPr/>
        </p:nvSpPr>
        <p:spPr>
          <a:xfrm xmlns:a="http://schemas.openxmlformats.org/drawingml/2006/main" flipH="0" flipV="0">
            <a:off x="1104900" y="447675"/>
            <a:ext cx="514350" cy="0"/>
          </a:xfrm>
          <a:prstGeom xmlns:a="http://schemas.openxmlformats.org/drawingml/2006/main" prst="line">
            <a:avLst/>
          </a:prstGeom>
          <a:noFill xmlns:a="http://schemas.openxmlformats.org/drawingml/2006/main"/>
          <a:ln xmlns:a="http://schemas.openxmlformats.org/drawingml/2006/main" w="19050">
            <a:solidFill>
              <a:srgbClr val="E7C48D"/>
            </a:solidFill>
            <a:prstDash val="solid"/>
          </a:ln>
        </p:spPr>
      </p:sp>
      <p:sp>
        <p:nvSpPr>
          <p:cNvPr id="3" name="">
            <a:extLst xmlns:a="http://schemas.openxmlformats.org/drawingml/2006/main">
              <a:ext uri="{FF2B5EF4-FFF2-40B4-BE49-F238E27FC236}">
                <a16:creationId xmlns:a16="http://schemas.microsoft.com/office/drawing/2014/main" id="{EBD60A90-3071-4F02-BEB6-759A0BEC94FE}"/>
              </a:ext>
            </a:extLst>
          </p:cNvPr>
          <p:cNvSpPr>
            <a:spLocks xmlns:a="http://schemas.openxmlformats.org/drawingml/2006/main" noGrp="1"/>
          </p:cNvSpPr>
          <p:nvPr/>
        </p:nvSpPr>
        <p:spPr>
          <a:xfrm xmlns:a="http://schemas.openxmlformats.org/drawingml/2006/main">
            <a:off x="1790700" y="247650"/>
            <a:ext cx="9848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831"/>
          </a:bodyPr>
          <a:lstStyle xmlns:a="http://schemas.openxmlformats.org/drawingml/2006/main"/>
          <a:p xmlns:a="http://schemas.openxmlformats.org/drawingml/2006/main">
            <a:pPr algn="l">
              <a:lnSpc>
                <a:spcPct val="102000"/>
              </a:lnSpc>
              <a:buNone/>
              <a:defRPr sz="3000" b="1" i="0">
                <a:solidFill>
                  <a:srgbClr val="16363B"/>
                </a:solidFill>
                <a:latin typeface="Georgia"/>
                <a:ea typeface="Georgia"/>
                <a:cs typeface="Georgia"/>
              </a:defRPr>
            </a:pPr>
            <a:r>
              <a:rPr sz="3000" b="1" i="0">
                <a:solidFill>
                  <a:srgbClr val="16363B"/>
                </a:solidFill>
                <a:latin typeface="Georgia"/>
                <a:ea typeface="Georgia"/>
                <a:cs typeface="Georgia"/>
              </a:rPr>
              <a:t>The gap is coordination, not always the absence of people</a:t>
            </a:r>
          </a:p>
        </p:txBody>
      </p:sp>
      <p:sp>
        <p:nvSpPr>
          <p:cNvPr id="4" name="">
            <a:extLst xmlns:a="http://schemas.openxmlformats.org/drawingml/2006/main">
              <a:ext uri="{FF2B5EF4-FFF2-40B4-BE49-F238E27FC236}">
                <a16:creationId xmlns:a16="http://schemas.microsoft.com/office/drawing/2014/main" id="{F794BB8D-6467-46DB-9082-7B2BC8C9C1C3}"/>
              </a:ext>
            </a:extLst>
          </p:cNvPr>
          <p:cNvSpPr>
            <a:spLocks xmlns:a="http://schemas.openxmlformats.org/drawingml/2006/main" noGrp="1"/>
          </p:cNvSpPr>
          <p:nvPr/>
        </p:nvSpPr>
        <p:spPr>
          <a:xfrm xmlns:a="http://schemas.openxmlformats.org/drawingml/2006/main" flipH="1" flipV="1">
            <a:off x="2667000" y="1952625"/>
            <a:ext cx="3429000" cy="1400175"/>
          </a:xfrm>
          <a:prstGeom xmlns:a="http://schemas.openxmlformats.org/drawingml/2006/main" prst="line">
            <a:avLst/>
          </a:prstGeom>
          <a:noFill xmlns:a="http://schemas.openxmlformats.org/drawingml/2006/main"/>
          <a:ln xmlns:a="http://schemas.openxmlformats.org/drawingml/2006/main" w="19050">
            <a:solidFill>
              <a:srgbClr val="E7C48D"/>
            </a:solidFill>
            <a:prstDash val="solid"/>
          </a:ln>
        </p:spPr>
      </p:sp>
      <p:sp>
        <p:nvSpPr>
          <p:cNvPr id="5" name="">
            <a:extLst xmlns:a="http://schemas.openxmlformats.org/drawingml/2006/main">
              <a:ext uri="{FF2B5EF4-FFF2-40B4-BE49-F238E27FC236}">
                <a16:creationId xmlns:a16="http://schemas.microsoft.com/office/drawing/2014/main" id="{74902B6C-71A0-4F87-A04B-901C133232F9}"/>
              </a:ext>
            </a:extLst>
          </p:cNvPr>
          <p:cNvSpPr>
            <a:spLocks xmlns:a="http://schemas.openxmlformats.org/drawingml/2006/main" noGrp="1"/>
          </p:cNvSpPr>
          <p:nvPr/>
        </p:nvSpPr>
        <p:spPr>
          <a:xfrm xmlns:a="http://schemas.openxmlformats.org/drawingml/2006/main" flipH="0" flipV="1">
            <a:off x="6096000" y="1952625"/>
            <a:ext cx="3429000" cy="1400175"/>
          </a:xfrm>
          <a:prstGeom xmlns:a="http://schemas.openxmlformats.org/drawingml/2006/main" prst="line">
            <a:avLst/>
          </a:prstGeom>
          <a:noFill xmlns:a="http://schemas.openxmlformats.org/drawingml/2006/main"/>
          <a:ln xmlns:a="http://schemas.openxmlformats.org/drawingml/2006/main" w="19050">
            <a:solidFill>
              <a:srgbClr val="E7C48D"/>
            </a:solidFill>
            <a:prstDash val="solid"/>
          </a:ln>
        </p:spPr>
      </p:sp>
      <p:sp>
        <p:nvSpPr>
          <p:cNvPr id="6" name="">
            <a:extLst xmlns:a="http://schemas.openxmlformats.org/drawingml/2006/main">
              <a:ext uri="{FF2B5EF4-FFF2-40B4-BE49-F238E27FC236}">
                <a16:creationId xmlns:a16="http://schemas.microsoft.com/office/drawing/2014/main" id="{EAE2A897-F897-464C-92D0-8981CC7C9C9C}"/>
              </a:ext>
            </a:extLst>
          </p:cNvPr>
          <p:cNvSpPr>
            <a:spLocks xmlns:a="http://schemas.openxmlformats.org/drawingml/2006/main" noGrp="1"/>
          </p:cNvSpPr>
          <p:nvPr/>
        </p:nvSpPr>
        <p:spPr>
          <a:xfrm xmlns:a="http://schemas.openxmlformats.org/drawingml/2006/main" flipH="1" flipV="0">
            <a:off x="2667000" y="3352800"/>
            <a:ext cx="3429000" cy="1457325"/>
          </a:xfrm>
          <a:prstGeom xmlns:a="http://schemas.openxmlformats.org/drawingml/2006/main" prst="line">
            <a:avLst/>
          </a:prstGeom>
          <a:noFill xmlns:a="http://schemas.openxmlformats.org/drawingml/2006/main"/>
          <a:ln xmlns:a="http://schemas.openxmlformats.org/drawingml/2006/main" w="19050">
            <a:solidFill>
              <a:srgbClr val="E7C48D"/>
            </a:solidFill>
            <a:prstDash val="solid"/>
          </a:ln>
        </p:spPr>
      </p:sp>
      <p:sp>
        <p:nvSpPr>
          <p:cNvPr id="7" name="">
            <a:extLst xmlns:a="http://schemas.openxmlformats.org/drawingml/2006/main">
              <a:ext uri="{FF2B5EF4-FFF2-40B4-BE49-F238E27FC236}">
                <a16:creationId xmlns:a16="http://schemas.microsoft.com/office/drawing/2014/main" id="{D4E3D503-61C4-4248-8EDC-E7ACDB2A3FBD}"/>
              </a:ext>
            </a:extLst>
          </p:cNvPr>
          <p:cNvSpPr>
            <a:spLocks xmlns:a="http://schemas.openxmlformats.org/drawingml/2006/main" noGrp="1"/>
          </p:cNvSpPr>
          <p:nvPr/>
        </p:nvSpPr>
        <p:spPr>
          <a:xfrm xmlns:a="http://schemas.openxmlformats.org/drawingml/2006/main" flipH="0" flipV="0">
            <a:off x="6096000" y="3352800"/>
            <a:ext cx="3429000" cy="1457325"/>
          </a:xfrm>
          <a:prstGeom xmlns:a="http://schemas.openxmlformats.org/drawingml/2006/main" prst="line">
            <a:avLst/>
          </a:prstGeom>
          <a:noFill xmlns:a="http://schemas.openxmlformats.org/drawingml/2006/main"/>
          <a:ln xmlns:a="http://schemas.openxmlformats.org/drawingml/2006/main" w="19050">
            <a:solidFill>
              <a:srgbClr val="E7C48D"/>
            </a:solidFill>
            <a:prstDash val="solid"/>
          </a:ln>
        </p:spPr>
      </p:sp>
      <p:sp>
        <p:nvSpPr>
          <p:cNvPr id="8" name="">
            <a:extLst xmlns:a="http://schemas.openxmlformats.org/drawingml/2006/main">
              <a:ext uri="{FF2B5EF4-FFF2-40B4-BE49-F238E27FC236}">
                <a16:creationId xmlns:a16="http://schemas.microsoft.com/office/drawing/2014/main" id="{DD494C82-88C7-4627-A9D6-C71BB60DEFA9}"/>
              </a:ext>
            </a:extLst>
          </p:cNvPr>
          <p:cNvSpPr>
            <a:spLocks xmlns:a="http://schemas.openxmlformats.org/drawingml/2006/main" noGrp="1"/>
          </p:cNvSpPr>
          <p:nvPr/>
        </p:nvSpPr>
        <p:spPr>
          <a:xfrm xmlns:a="http://schemas.openxmlformats.org/drawingml/2006/main">
            <a:off x="5048250" y="2305050"/>
            <a:ext cx="2095500" cy="2095500"/>
          </a:xfrm>
          <a:prstGeom xmlns:a="http://schemas.openxmlformats.org/drawingml/2006/main" prst="ellipse">
            <a:avLst/>
          </a:prstGeom>
          <a:solidFill xmlns:a="http://schemas.openxmlformats.org/drawingml/2006/main">
            <a:srgbClr val="063E4D"/>
          </a:solidFill>
          <a:ln xmlns:a="http://schemas.openxmlformats.org/drawingml/2006/main" w="19050">
            <a:solidFill>
              <a:srgbClr val="E7C48D"/>
            </a:solidFill>
            <a:prstDash val="solid"/>
          </a:ln>
        </p:spPr>
      </p:sp>
      <p:sp>
        <p:nvSpPr>
          <p:cNvPr id="9" name="">
            <a:extLst xmlns:a="http://schemas.openxmlformats.org/drawingml/2006/main">
              <a:ext uri="{FF2B5EF4-FFF2-40B4-BE49-F238E27FC236}">
                <a16:creationId xmlns:a16="http://schemas.microsoft.com/office/drawing/2014/main" id="{90016F89-E031-458E-9DC9-DE6975B416AB}"/>
              </a:ext>
            </a:extLst>
          </p:cNvPr>
          <p:cNvSpPr>
            <a:spLocks xmlns:a="http://schemas.openxmlformats.org/drawingml/2006/main" noGrp="1"/>
          </p:cNvSpPr>
          <p:nvPr/>
        </p:nvSpPr>
        <p:spPr>
          <a:xfrm xmlns:a="http://schemas.openxmlformats.org/drawingml/2006/main">
            <a:off x="5257800" y="2895600"/>
            <a:ext cx="1676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2550" b="1" i="0">
                <a:solidFill>
                  <a:srgbClr val="F7F5F2"/>
                </a:solidFill>
                <a:latin typeface="Georgia"/>
                <a:ea typeface="Georgia"/>
                <a:cs typeface="Georgia"/>
              </a:defRPr>
            </a:pPr>
            <a:r>
              <a:rPr sz="2550" b="1" i="0">
                <a:solidFill>
                  <a:srgbClr val="F7F5F2"/>
                </a:solidFill>
                <a:latin typeface="Georgia"/>
                <a:ea typeface="Georgia"/>
                <a:cs typeface="Georgia"/>
              </a:rPr>
              <a:t>Missing</a:t>
            </a:r>
          </a:p>
          <a:p xmlns:a="http://schemas.openxmlformats.org/drawingml/2006/main">
            <a:pPr algn="ctr">
              <a:lnSpc>
                <a:spcPct val="102000"/>
              </a:lnSpc>
              <a:buNone/>
              <a:defRPr sz="2550" b="1" i="0">
                <a:solidFill>
                  <a:srgbClr val="F7F5F2"/>
                </a:solidFill>
                <a:latin typeface="Georgia"/>
                <a:ea typeface="Georgia"/>
                <a:cs typeface="Georgia"/>
              </a:defRPr>
            </a:pPr>
            <a:r>
              <a:rPr sz="2550" b="1" i="0">
                <a:solidFill>
                  <a:srgbClr val="F7F5F2"/>
                </a:solidFill>
                <a:latin typeface="Georgia"/>
                <a:ea typeface="Georgia"/>
                <a:cs typeface="Georgia"/>
              </a:rPr>
              <a:t>Jama'ah</a:t>
            </a:r>
          </a:p>
        </p:txBody>
      </p:sp>
      <p:sp>
        <p:nvSpPr>
          <p:cNvPr id="10" name="">
            <a:extLst xmlns:a="http://schemas.openxmlformats.org/drawingml/2006/main">
              <a:ext uri="{FF2B5EF4-FFF2-40B4-BE49-F238E27FC236}">
                <a16:creationId xmlns:a16="http://schemas.microsoft.com/office/drawing/2014/main" id="{DE3E6BEC-57CD-4597-81EF-32A62AC50B3E}"/>
              </a:ext>
            </a:extLst>
          </p:cNvPr>
          <p:cNvSpPr>
            <a:spLocks xmlns:a="http://schemas.openxmlformats.org/drawingml/2006/main" noGrp="1"/>
          </p:cNvSpPr>
          <p:nvPr/>
        </p:nvSpPr>
        <p:spPr>
          <a:xfrm xmlns:a="http://schemas.openxmlformats.org/drawingml/2006/main">
            <a:off x="904875" y="13716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063E4D"/>
                </a:solidFill>
                <a:latin typeface="Aptos"/>
                <a:ea typeface="Aptos"/>
                <a:cs typeface="Aptos"/>
              </a:defRPr>
            </a:pPr>
            <a:r>
              <a:rPr sz="1275" b="1" i="0">
                <a:solidFill>
                  <a:srgbClr val="063E4D"/>
                </a:solidFill>
                <a:latin typeface="Aptos"/>
                <a:ea typeface="Aptos"/>
                <a:cs typeface="Aptos"/>
              </a:rPr>
              <a:t>ACCESS</a:t>
            </a:r>
          </a:p>
        </p:txBody>
      </p:sp>
      <p:sp>
        <p:nvSpPr>
          <p:cNvPr id="11" name="">
            <a:extLst xmlns:a="http://schemas.openxmlformats.org/drawingml/2006/main">
              <a:ext uri="{FF2B5EF4-FFF2-40B4-BE49-F238E27FC236}">
                <a16:creationId xmlns:a16="http://schemas.microsoft.com/office/drawing/2014/main" id="{741E998C-D22C-4F57-A1FA-697E349BB5B2}"/>
              </a:ext>
            </a:extLst>
          </p:cNvPr>
          <p:cNvSpPr>
            <a:spLocks xmlns:a="http://schemas.openxmlformats.org/drawingml/2006/main" noGrp="1"/>
          </p:cNvSpPr>
          <p:nvPr/>
        </p:nvSpPr>
        <p:spPr>
          <a:xfrm xmlns:a="http://schemas.openxmlformats.org/drawingml/2006/main">
            <a:off x="904875" y="169545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16363B"/>
                </a:solidFill>
                <a:latin typeface="Aptos"/>
                <a:ea typeface="Aptos"/>
                <a:cs typeface="Aptos"/>
              </a:defRPr>
            </a:pPr>
            <a:r>
              <a:rPr sz="1575" b="0" i="0">
                <a:solidFill>
                  <a:srgbClr val="16363B"/>
                </a:solidFill>
                <a:latin typeface="Aptos"/>
                <a:ea typeface="Aptos"/>
                <a:cs typeface="Aptos"/>
              </a:rPr>
              <a:t>No nearby mosque or religious center</a:t>
            </a:r>
          </a:p>
        </p:txBody>
      </p:sp>
      <p:sp>
        <p:nvSpPr>
          <p:cNvPr id="12" name="">
            <a:extLst xmlns:a="http://schemas.openxmlformats.org/drawingml/2006/main">
              <a:ext uri="{FF2B5EF4-FFF2-40B4-BE49-F238E27FC236}">
                <a16:creationId xmlns:a16="http://schemas.microsoft.com/office/drawing/2014/main" id="{1C7706CC-185F-4513-8FE1-2CBEAB31DA22}"/>
              </a:ext>
            </a:extLst>
          </p:cNvPr>
          <p:cNvSpPr>
            <a:spLocks xmlns:a="http://schemas.openxmlformats.org/drawingml/2006/main" noGrp="1"/>
          </p:cNvSpPr>
          <p:nvPr/>
        </p:nvSpPr>
        <p:spPr>
          <a:xfrm xmlns:a="http://schemas.openxmlformats.org/drawingml/2006/main">
            <a:off x="8477250" y="13716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063E4D"/>
                </a:solidFill>
                <a:latin typeface="Aptos"/>
                <a:ea typeface="Aptos"/>
                <a:cs typeface="Aptos"/>
              </a:defRPr>
            </a:pPr>
            <a:r>
              <a:rPr sz="1275" b="1" i="0">
                <a:solidFill>
                  <a:srgbClr val="063E4D"/>
                </a:solidFill>
                <a:latin typeface="Aptos"/>
                <a:ea typeface="Aptos"/>
                <a:cs typeface="Aptos"/>
              </a:rPr>
              <a:t>TIMING</a:t>
            </a:r>
          </a:p>
        </p:txBody>
      </p:sp>
      <p:sp>
        <p:nvSpPr>
          <p:cNvPr id="13" name="">
            <a:extLst xmlns:a="http://schemas.openxmlformats.org/drawingml/2006/main">
              <a:ext uri="{FF2B5EF4-FFF2-40B4-BE49-F238E27FC236}">
                <a16:creationId xmlns:a16="http://schemas.microsoft.com/office/drawing/2014/main" id="{35B19640-DD9C-43F3-AE6F-1CF6AA897F50}"/>
              </a:ext>
            </a:extLst>
          </p:cNvPr>
          <p:cNvSpPr>
            <a:spLocks xmlns:a="http://schemas.openxmlformats.org/drawingml/2006/main" noGrp="1"/>
          </p:cNvSpPr>
          <p:nvPr/>
        </p:nvSpPr>
        <p:spPr>
          <a:xfrm xmlns:a="http://schemas.openxmlformats.org/drawingml/2006/main">
            <a:off x="8477250" y="169545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16363B"/>
                </a:solidFill>
                <a:latin typeface="Aptos"/>
                <a:ea typeface="Aptos"/>
                <a:cs typeface="Aptos"/>
              </a:defRPr>
            </a:pPr>
            <a:r>
              <a:rPr sz="1575" b="0" i="0">
                <a:solidFill>
                  <a:srgbClr val="16363B"/>
                </a:solidFill>
                <a:latin typeface="Aptos"/>
                <a:ea typeface="Aptos"/>
                <a:cs typeface="Aptos"/>
              </a:rPr>
              <a:t>Work, classes, meetings or travel</a:t>
            </a:r>
          </a:p>
        </p:txBody>
      </p:sp>
      <p:sp>
        <p:nvSpPr>
          <p:cNvPr id="14" name="">
            <a:extLst xmlns:a="http://schemas.openxmlformats.org/drawingml/2006/main">
              <a:ext uri="{FF2B5EF4-FFF2-40B4-BE49-F238E27FC236}">
                <a16:creationId xmlns:a16="http://schemas.microsoft.com/office/drawing/2014/main" id="{5C0292A1-A403-4884-91DE-C93422286F31}"/>
              </a:ext>
            </a:extLst>
          </p:cNvPr>
          <p:cNvSpPr>
            <a:spLocks xmlns:a="http://schemas.openxmlformats.org/drawingml/2006/main" noGrp="1"/>
          </p:cNvSpPr>
          <p:nvPr/>
        </p:nvSpPr>
        <p:spPr>
          <a:xfrm xmlns:a="http://schemas.openxmlformats.org/drawingml/2006/main">
            <a:off x="904875" y="45529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063E4D"/>
                </a:solidFill>
                <a:latin typeface="Aptos"/>
                <a:ea typeface="Aptos"/>
                <a:cs typeface="Aptos"/>
              </a:defRPr>
            </a:pPr>
            <a:r>
              <a:rPr sz="1275" b="1" i="0">
                <a:solidFill>
                  <a:srgbClr val="063E4D"/>
                </a:solidFill>
                <a:latin typeface="Aptos"/>
                <a:ea typeface="Aptos"/>
                <a:cs typeface="Aptos"/>
              </a:rPr>
              <a:t>AWARENESS</a:t>
            </a:r>
          </a:p>
        </p:txBody>
      </p:sp>
      <p:sp>
        <p:nvSpPr>
          <p:cNvPr id="15" name="">
            <a:extLst xmlns:a="http://schemas.openxmlformats.org/drawingml/2006/main">
              <a:ext uri="{FF2B5EF4-FFF2-40B4-BE49-F238E27FC236}">
                <a16:creationId xmlns:a16="http://schemas.microsoft.com/office/drawing/2014/main" id="{DC8CA812-F1CB-4BA5-AF3B-F53AA21778E2}"/>
              </a:ext>
            </a:extLst>
          </p:cNvPr>
          <p:cNvSpPr>
            <a:spLocks xmlns:a="http://schemas.openxmlformats.org/drawingml/2006/main" noGrp="1"/>
          </p:cNvSpPr>
          <p:nvPr/>
        </p:nvSpPr>
        <p:spPr>
          <a:xfrm xmlns:a="http://schemas.openxmlformats.org/drawingml/2006/main">
            <a:off x="904875" y="487680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16363B"/>
                </a:solidFill>
                <a:latin typeface="Aptos"/>
                <a:ea typeface="Aptos"/>
                <a:cs typeface="Aptos"/>
              </a:defRPr>
            </a:pPr>
            <a:r>
              <a:rPr sz="1575" b="0" i="0">
                <a:solidFill>
                  <a:srgbClr val="16363B"/>
                </a:solidFill>
                <a:latin typeface="Aptos"/>
                <a:ea typeface="Aptos"/>
                <a:cs typeface="Aptos"/>
              </a:rPr>
              <a:t>Muslims may be nearby but disconnected</a:t>
            </a:r>
          </a:p>
        </p:txBody>
      </p:sp>
      <p:sp>
        <p:nvSpPr>
          <p:cNvPr id="16" name="">
            <a:extLst xmlns:a="http://schemas.openxmlformats.org/drawingml/2006/main">
              <a:ext uri="{FF2B5EF4-FFF2-40B4-BE49-F238E27FC236}">
                <a16:creationId xmlns:a16="http://schemas.microsoft.com/office/drawing/2014/main" id="{D00B5566-284A-4553-9456-28A707700E20}"/>
              </a:ext>
            </a:extLst>
          </p:cNvPr>
          <p:cNvSpPr>
            <a:spLocks xmlns:a="http://schemas.openxmlformats.org/drawingml/2006/main" noGrp="1"/>
          </p:cNvSpPr>
          <p:nvPr/>
        </p:nvSpPr>
        <p:spPr>
          <a:xfrm xmlns:a="http://schemas.openxmlformats.org/drawingml/2006/main">
            <a:off x="8477250" y="45529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C8766B"/>
                </a:solidFill>
                <a:latin typeface="Aptos"/>
                <a:ea typeface="Aptos"/>
                <a:cs typeface="Aptos"/>
              </a:defRPr>
            </a:pPr>
            <a:r>
              <a:rPr sz="1275" b="1" i="0">
                <a:solidFill>
                  <a:srgbClr val="C8766B"/>
                </a:solidFill>
                <a:latin typeface="Aptos"/>
                <a:ea typeface="Aptos"/>
                <a:cs typeface="Aptos"/>
              </a:rPr>
              <a:t>TRUST</a:t>
            </a:r>
          </a:p>
        </p:txBody>
      </p:sp>
      <p:sp>
        <p:nvSpPr>
          <p:cNvPr id="17" name="">
            <a:extLst xmlns:a="http://schemas.openxmlformats.org/drawingml/2006/main">
              <a:ext uri="{FF2B5EF4-FFF2-40B4-BE49-F238E27FC236}">
                <a16:creationId xmlns:a16="http://schemas.microsoft.com/office/drawing/2014/main" id="{DF1E29CA-79A5-4A22-A968-5A724BAD7498}"/>
              </a:ext>
            </a:extLst>
          </p:cNvPr>
          <p:cNvSpPr>
            <a:spLocks xmlns:a="http://schemas.openxmlformats.org/drawingml/2006/main" noGrp="1"/>
          </p:cNvSpPr>
          <p:nvPr/>
        </p:nvSpPr>
        <p:spPr>
          <a:xfrm xmlns:a="http://schemas.openxmlformats.org/drawingml/2006/main">
            <a:off x="8477250" y="487680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16363B"/>
                </a:solidFill>
                <a:latin typeface="Aptos"/>
                <a:ea typeface="Aptos"/>
                <a:cs typeface="Aptos"/>
              </a:defRPr>
            </a:pPr>
            <a:r>
              <a:rPr sz="1575" b="0" i="0">
                <a:solidFill>
                  <a:srgbClr val="16363B"/>
                </a:solidFill>
                <a:latin typeface="Aptos"/>
                <a:ea typeface="Aptos"/>
                <a:cs typeface="Aptos"/>
              </a:rPr>
              <a:t>Location and identity cannot be exposed carelessly</a:t>
            </a:r>
          </a:p>
        </p:txBody>
      </p:sp>
      <p:sp>
        <p:nvSpPr>
          <p:cNvPr id="18" name="">
            <a:extLst xmlns:a="http://schemas.openxmlformats.org/drawingml/2006/main">
              <a:ext uri="{FF2B5EF4-FFF2-40B4-BE49-F238E27FC236}">
                <a16:creationId xmlns:a16="http://schemas.microsoft.com/office/drawing/2014/main" id="{6B9F57F4-4A50-47E8-B8C2-AA483F195ED3}"/>
              </a:ext>
            </a:extLst>
          </p:cNvPr>
          <p:cNvSpPr>
            <a:spLocks xmlns:a="http://schemas.openxmlformats.org/drawingml/2006/main" noGrp="1"/>
          </p:cNvSpPr>
          <p:nvPr/>
        </p:nvSpPr>
        <p:spPr>
          <a:xfrm xmlns:a="http://schemas.openxmlformats.org/drawingml/2006/main">
            <a:off x="1762125" y="5915025"/>
            <a:ext cx="866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500" b="1" i="0">
                <a:solidFill>
                  <a:srgbClr val="063E4D"/>
                </a:solidFill>
                <a:latin typeface="Aptos"/>
                <a:ea typeface="Aptos"/>
                <a:cs typeface="Aptos"/>
              </a:defRPr>
            </a:pPr>
            <a:r>
              <a:rPr sz="1500" b="1" i="0">
                <a:solidFill>
                  <a:srgbClr val="063E4D"/>
                </a:solidFill>
                <a:latin typeface="Aptos"/>
                <a:ea typeface="Aptos"/>
                <a:cs typeface="Aptos"/>
              </a:rPr>
              <a:t>Worker   /   Student   /   Traveler   /   New arrival   /   Local host</a:t>
            </a:r>
          </a:p>
        </p:txBody>
      </p:sp>
      <p:sp>
        <p:nvSpPr>
          <p:cNvPr id="19" name="">
            <a:extLst xmlns:a="http://schemas.openxmlformats.org/drawingml/2006/main">
              <a:ext uri="{FF2B5EF4-FFF2-40B4-BE49-F238E27FC236}">
                <a16:creationId xmlns:a16="http://schemas.microsoft.com/office/drawing/2014/main" id="{6D0E59E3-FC4C-4150-A665-8F8277EA7409}"/>
              </a:ext>
            </a:extLst>
          </p:cNvPr>
          <p:cNvSpPr>
            <a:spLocks xmlns:a="http://schemas.openxmlformats.org/drawingml/2006/main" noGrp="1"/>
          </p:cNvSpPr>
          <p:nvPr/>
        </p:nvSpPr>
        <p:spPr>
          <a:xfrm xmlns:a="http://schemas.openxmlformats.org/drawingml/2006/main">
            <a:off x="552450" y="65341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825" b="1" i="0">
                <a:solidFill>
                  <a:srgbClr val="6A7C7F"/>
                </a:solidFill>
                <a:latin typeface="Aptos"/>
                <a:ea typeface="Aptos"/>
                <a:cs typeface="Aptos"/>
              </a:defRPr>
            </a:pPr>
            <a:r>
              <a:rPr sz="825" b="1" i="0">
                <a:solidFill>
                  <a:srgbClr val="6A7C7F"/>
                </a:solidFill>
                <a:latin typeface="Aptos"/>
                <a:ea typeface="Aptos"/>
                <a:cs typeface="Aptos"/>
              </a:rPr>
              <a:t>JAMAA NEXT DOOR</a:t>
            </a:r>
          </a:p>
        </p:txBody>
      </p:sp>
      <p:sp>
        <p:nvSpPr>
          <p:cNvPr id="20" name="">
            <a:extLst xmlns:a="http://schemas.openxmlformats.org/drawingml/2006/main">
              <a:ext uri="{FF2B5EF4-FFF2-40B4-BE49-F238E27FC236}">
                <a16:creationId xmlns:a16="http://schemas.microsoft.com/office/drawing/2014/main" id="{AEE02085-4160-4A79-84D3-8F6C677D5E2B}"/>
              </a:ext>
            </a:extLst>
          </p:cNvPr>
          <p:cNvSpPr>
            <a:spLocks xmlns:a="http://schemas.openxmlformats.org/drawingml/2006/main" noGrp="1"/>
          </p:cNvSpPr>
          <p:nvPr/>
        </p:nvSpPr>
        <p:spPr>
          <a:xfrm xmlns:a="http://schemas.openxmlformats.org/drawingml/2006/main">
            <a:off x="1125855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900" b="1" i="0">
                <a:solidFill>
                  <a:srgbClr val="E7C48D"/>
                </a:solidFill>
                <a:latin typeface="Aptos"/>
                <a:ea typeface="Aptos"/>
                <a:cs typeface="Aptos"/>
              </a:defRPr>
            </a:pPr>
            <a:r>
              <a:rPr sz="900" b="1" i="0">
                <a:solidFill>
                  <a:srgbClr val="E7C48D"/>
                </a:solidFill>
                <a:latin typeface="Aptos"/>
                <a:ea typeface="Aptos"/>
                <a:cs typeface="Aptos"/>
              </a:rPr>
              <a:t>03</a:t>
            </a:r>
          </a:p>
        </p:txBody>
      </p:sp>
    </p:spTree>
    <p:extLst>
      <p:ext uri="{BB962C8B-B14F-4D97-AF65-F5344CB8AC3E}">
        <p14:creationId xmlns:p14="http://schemas.microsoft.com/office/powerpoint/2010/main" val="368363133"/>
      </p:ext>
    </p:extLst>
  </p:cSld>
</p:sld>
</file>

<file path=ppt/slides/slide4.xml><?xml version="1.0" encoding="utf-8"?>
<p:sld xmlns:p="http://schemas.openxmlformats.org/presentationml/2006/main">
  <p:cSld>
    <p:bg>
      <p:bgPr>
        <a:solidFill xmlns:a="http://schemas.openxmlformats.org/drawingml/2006/main">
          <a:srgbClr val="063E4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89F505F-BBCA-4647-8D7A-497CE270696A}"/>
              </a:ext>
            </a:extLst>
          </p:cNvPr>
          <p:cNvSpPr>
            <a:spLocks xmlns:a="http://schemas.openxmlformats.org/drawingml/2006/main" noGrp="1"/>
          </p:cNvSpPr>
          <p:nvPr/>
        </p:nvSpPr>
        <p:spPr>
          <a:xfrm xmlns:a="http://schemas.openxmlformats.org/drawingml/2006/main">
            <a:off x="552450" y="3238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E7C48D"/>
                </a:solidFill>
                <a:latin typeface="Aptos"/>
                <a:ea typeface="Aptos"/>
                <a:cs typeface="Aptos"/>
              </a:defRPr>
            </a:pPr>
            <a:r>
              <a:rPr sz="1275" b="1" i="0">
                <a:solidFill>
                  <a:srgbClr val="E7C48D"/>
                </a:solidFill>
                <a:latin typeface="Aptos"/>
                <a:ea typeface="Aptos"/>
                <a:cs typeface="Aptos"/>
              </a:rPr>
              <a:t>04</a:t>
            </a:r>
          </a:p>
        </p:txBody>
      </p:sp>
      <p:sp>
        <p:nvSpPr>
          <p:cNvPr id="2" name="">
            <a:extLst xmlns:a="http://schemas.openxmlformats.org/drawingml/2006/main">
              <a:ext uri="{FF2B5EF4-FFF2-40B4-BE49-F238E27FC236}">
                <a16:creationId xmlns:a16="http://schemas.microsoft.com/office/drawing/2014/main" id="{AF8E6C6D-6A73-4827-8B3D-23EC656BC8DA}"/>
              </a:ext>
            </a:extLst>
          </p:cNvPr>
          <p:cNvSpPr>
            <a:spLocks xmlns:a="http://schemas.openxmlformats.org/drawingml/2006/main" noGrp="1"/>
          </p:cNvSpPr>
          <p:nvPr/>
        </p:nvSpPr>
        <p:spPr>
          <a:xfrm xmlns:a="http://schemas.openxmlformats.org/drawingml/2006/main" flipH="0" flipV="0">
            <a:off x="1104900" y="447675"/>
            <a:ext cx="514350" cy="0"/>
          </a:xfrm>
          <a:prstGeom xmlns:a="http://schemas.openxmlformats.org/drawingml/2006/main" prst="line">
            <a:avLst/>
          </a:prstGeom>
          <a:noFill xmlns:a="http://schemas.openxmlformats.org/drawingml/2006/main"/>
          <a:ln xmlns:a="http://schemas.openxmlformats.org/drawingml/2006/main" w="19050">
            <a:solidFill>
              <a:srgbClr val="89A98F"/>
            </a:solidFill>
            <a:prstDash val="solid"/>
          </a:ln>
        </p:spPr>
      </p:sp>
      <p:sp>
        <p:nvSpPr>
          <p:cNvPr id="3" name="">
            <a:extLst xmlns:a="http://schemas.openxmlformats.org/drawingml/2006/main">
              <a:ext uri="{FF2B5EF4-FFF2-40B4-BE49-F238E27FC236}">
                <a16:creationId xmlns:a16="http://schemas.microsoft.com/office/drawing/2014/main" id="{80F53595-12F6-4750-99D7-0677B725AB3E}"/>
              </a:ext>
            </a:extLst>
          </p:cNvPr>
          <p:cNvSpPr>
            <a:spLocks xmlns:a="http://schemas.openxmlformats.org/drawingml/2006/main" noGrp="1"/>
          </p:cNvSpPr>
          <p:nvPr/>
        </p:nvSpPr>
        <p:spPr>
          <a:xfrm xmlns:a="http://schemas.openxmlformats.org/drawingml/2006/main">
            <a:off x="1790700" y="247650"/>
            <a:ext cx="9848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466"/>
          </a:bodyPr>
          <a:lstStyle xmlns:a="http://schemas.openxmlformats.org/drawingml/2006/main"/>
          <a:p xmlns:a="http://schemas.openxmlformats.org/drawingml/2006/main">
            <a:pPr algn="l">
              <a:lnSpc>
                <a:spcPct val="102000"/>
              </a:lnSpc>
              <a:buNone/>
              <a:defRPr sz="3000" b="1" i="0">
                <a:solidFill>
                  <a:srgbClr val="F7F5F2"/>
                </a:solidFill>
                <a:latin typeface="Georgia"/>
                <a:ea typeface="Georgia"/>
                <a:cs typeface="Georgia"/>
              </a:defRPr>
            </a:pPr>
            <a:r>
              <a:rPr sz="3000" b="1" i="0">
                <a:solidFill>
                  <a:srgbClr val="F7F5F2"/>
                </a:solidFill>
                <a:latin typeface="Georgia"/>
                <a:ea typeface="Georgia"/>
                <a:cs typeface="Georgia"/>
              </a:rPr>
              <a:t>The prototype turns the need into a time-bounded journey</a:t>
            </a:r>
          </a:p>
        </p:txBody>
      </p:sp>
      <p:sp>
        <p:nvSpPr>
          <p:cNvPr id="4" name="">
            <a:extLst xmlns:a="http://schemas.openxmlformats.org/drawingml/2006/main">
              <a:ext uri="{FF2B5EF4-FFF2-40B4-BE49-F238E27FC236}">
                <a16:creationId xmlns:a16="http://schemas.microsoft.com/office/drawing/2014/main" id="{DCA2A263-446B-44A4-8093-CB41F53139BE}"/>
              </a:ext>
            </a:extLst>
          </p:cNvPr>
          <p:cNvSpPr>
            <a:spLocks xmlns:a="http://schemas.openxmlformats.org/drawingml/2006/main" noGrp="1"/>
          </p:cNvSpPr>
          <p:nvPr/>
        </p:nvSpPr>
        <p:spPr>
          <a:xfrm xmlns:a="http://schemas.openxmlformats.org/drawingml/2006/main">
            <a:off x="1162050" y="1000125"/>
            <a:ext cx="986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575" b="0" i="0">
                <a:solidFill>
                  <a:srgbClr val="AEB7B8"/>
                </a:solidFill>
                <a:latin typeface="Aptos"/>
                <a:ea typeface="Aptos"/>
                <a:cs typeface="Aptos"/>
              </a:defRPr>
            </a:pPr>
            <a:r>
              <a:rPr sz="1575" b="0" i="0">
                <a:solidFill>
                  <a:srgbClr val="AEB7B8"/>
                </a:solidFill>
                <a:latin typeface="Aptos"/>
                <a:ea typeface="Aptos"/>
                <a:cs typeface="Aptos"/>
              </a:rPr>
              <a:t>One central flow carries the user from trust-building access to a gathering that ends at its scheduled time.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83ba11a0b414e72"/>
          <a:stretch xmlns:a="http://schemas.openxmlformats.org/drawingml/2006/main"/>
        </p:blipFill>
        <p:spPr>
          <a:xfrm xmlns:a="http://schemas.openxmlformats.org/drawingml/2006/main">
            <a:off x="2002465" y="1619250"/>
            <a:ext cx="8187070" cy="44005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6F4AEA9-A714-4D9E-8CBE-BDB9AFED2927}"/>
              </a:ext>
            </a:extLst>
          </p:cNvPr>
          <p:cNvSpPr>
            <a:spLocks xmlns:a="http://schemas.openxmlformats.org/drawingml/2006/main" noGrp="1"/>
          </p:cNvSpPr>
          <p:nvPr/>
        </p:nvSpPr>
        <p:spPr>
          <a:xfrm xmlns:a="http://schemas.openxmlformats.org/drawingml/2006/main">
            <a:off x="4333875" y="1924050"/>
            <a:ext cx="2019300" cy="2971800"/>
          </a:xfrm>
          <a:prstGeom xmlns:a="http://schemas.openxmlformats.org/drawingml/2006/main" prst="roundRect">
            <a:avLst>
              <a:gd name="adj" fmla="val 9434"/>
            </a:avLst>
          </a:prstGeom>
          <a:noFill xmlns:a="http://schemas.openxmlformats.org/drawingml/2006/main"/>
          <a:ln xmlns:a="http://schemas.openxmlformats.org/drawingml/2006/main" w="38100">
            <a:solidFill>
              <a:srgbClr val="E7C48D"/>
            </a:solidFill>
            <a:prstDash val="solid"/>
          </a:ln>
        </p:spPr>
      </p:sp>
      <p:sp>
        <p:nvSpPr>
          <p:cNvPr id="7" name="">
            <a:extLst xmlns:a="http://schemas.openxmlformats.org/drawingml/2006/main">
              <a:ext uri="{FF2B5EF4-FFF2-40B4-BE49-F238E27FC236}">
                <a16:creationId xmlns:a16="http://schemas.microsoft.com/office/drawing/2014/main" id="{5DE24E85-E247-475A-ADC7-81576AB3CE29}"/>
              </a:ext>
            </a:extLst>
          </p:cNvPr>
          <p:cNvSpPr>
            <a:spLocks xmlns:a="http://schemas.openxmlformats.org/drawingml/2006/main" noGrp="1"/>
          </p:cNvSpPr>
          <p:nvPr/>
        </p:nvSpPr>
        <p:spPr>
          <a:xfrm xmlns:a="http://schemas.openxmlformats.org/drawingml/2006/main">
            <a:off x="4286250" y="51054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050" b="1" i="0">
                <a:solidFill>
                  <a:srgbClr val="E7C48D"/>
                </a:solidFill>
                <a:latin typeface="Aptos"/>
                <a:ea typeface="Aptos"/>
                <a:cs typeface="Aptos"/>
              </a:defRPr>
            </a:pPr>
            <a:r>
              <a:rPr sz="1050" b="1" i="0">
                <a:solidFill>
                  <a:srgbClr val="E7C48D"/>
                </a:solidFill>
                <a:latin typeface="Aptos"/>
                <a:ea typeface="Aptos"/>
                <a:cs typeface="Aptos"/>
              </a:rPr>
              <a:t>REVIEW + CONFIRM</a:t>
            </a:r>
          </a:p>
        </p:txBody>
      </p:sp>
      <p:sp>
        <p:nvSpPr>
          <p:cNvPr id="8" name="">
            <a:extLst xmlns:a="http://schemas.openxmlformats.org/drawingml/2006/main">
              <a:ext uri="{FF2B5EF4-FFF2-40B4-BE49-F238E27FC236}">
                <a16:creationId xmlns:a16="http://schemas.microsoft.com/office/drawing/2014/main" id="{B09E4FB2-EF90-4175-BBF7-897047AC9769}"/>
              </a:ext>
            </a:extLst>
          </p:cNvPr>
          <p:cNvSpPr>
            <a:spLocks xmlns:a="http://schemas.openxmlformats.org/drawingml/2006/main" noGrp="1"/>
          </p:cNvSpPr>
          <p:nvPr/>
        </p:nvSpPr>
        <p:spPr>
          <a:xfrm xmlns:a="http://schemas.openxmlformats.org/drawingml/2006/main" flipH="0" flipV="0">
            <a:off x="8591550" y="5448300"/>
            <a:ext cx="1619250" cy="0"/>
          </a:xfrm>
          <a:prstGeom xmlns:a="http://schemas.openxmlformats.org/drawingml/2006/main" prst="line">
            <a:avLst/>
          </a:prstGeom>
          <a:noFill xmlns:a="http://schemas.openxmlformats.org/drawingml/2006/main"/>
          <a:ln xmlns:a="http://schemas.openxmlformats.org/drawingml/2006/main" w="28575">
            <a:solidFill>
              <a:srgbClr val="E7C48D"/>
            </a:solidFill>
            <a:prstDash val="solid"/>
          </a:ln>
        </p:spPr>
      </p:sp>
      <p:sp>
        <p:nvSpPr>
          <p:cNvPr id="9" name="">
            <a:extLst xmlns:a="http://schemas.openxmlformats.org/drawingml/2006/main">
              <a:ext uri="{FF2B5EF4-FFF2-40B4-BE49-F238E27FC236}">
                <a16:creationId xmlns:a16="http://schemas.microsoft.com/office/drawing/2014/main" id="{775D8271-B38E-48AD-9A1A-FDC14F38045A}"/>
              </a:ext>
            </a:extLst>
          </p:cNvPr>
          <p:cNvSpPr>
            <a:spLocks xmlns:a="http://schemas.openxmlformats.org/drawingml/2006/main" noGrp="1"/>
          </p:cNvSpPr>
          <p:nvPr/>
        </p:nvSpPr>
        <p:spPr>
          <a:xfrm xmlns:a="http://schemas.openxmlformats.org/drawingml/2006/main">
            <a:off x="8572500" y="556260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050" b="1" i="0">
                <a:solidFill>
                  <a:srgbClr val="E7C48D"/>
                </a:solidFill>
                <a:latin typeface="Aptos"/>
                <a:ea typeface="Aptos"/>
                <a:cs typeface="Aptos"/>
              </a:defRPr>
            </a:pPr>
            <a:r>
              <a:rPr sz="1050" b="1" i="0">
                <a:solidFill>
                  <a:srgbClr val="E7C48D"/>
                </a:solidFill>
                <a:latin typeface="Aptos"/>
                <a:ea typeface="Aptos"/>
                <a:cs typeface="Aptos"/>
              </a:rPr>
              <a:t>AUTOMATIC END</a:t>
            </a:r>
          </a:p>
        </p:txBody>
      </p:sp>
      <p:sp>
        <p:nvSpPr>
          <p:cNvPr id="10" name="">
            <a:extLst xmlns:a="http://schemas.openxmlformats.org/drawingml/2006/main">
              <a:ext uri="{FF2B5EF4-FFF2-40B4-BE49-F238E27FC236}">
                <a16:creationId xmlns:a16="http://schemas.microsoft.com/office/drawing/2014/main" id="{9F019BB1-9905-4B76-BBBC-944314B2BB7C}"/>
              </a:ext>
            </a:extLst>
          </p:cNvPr>
          <p:cNvSpPr>
            <a:spLocks xmlns:a="http://schemas.openxmlformats.org/drawingml/2006/main" noGrp="1"/>
          </p:cNvSpPr>
          <p:nvPr/>
        </p:nvSpPr>
        <p:spPr>
          <a:xfrm xmlns:a="http://schemas.openxmlformats.org/drawingml/2006/main">
            <a:off x="552450" y="65341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825" b="1" i="0">
                <a:solidFill>
                  <a:srgbClr val="AEB7B8"/>
                </a:solidFill>
                <a:latin typeface="Aptos"/>
                <a:ea typeface="Aptos"/>
                <a:cs typeface="Aptos"/>
              </a:defRPr>
            </a:pPr>
            <a:r>
              <a:rPr sz="825" b="1" i="0">
                <a:solidFill>
                  <a:srgbClr val="AEB7B8"/>
                </a:solidFill>
                <a:latin typeface="Aptos"/>
                <a:ea typeface="Aptos"/>
                <a:cs typeface="Aptos"/>
              </a:rPr>
              <a:t>JAMAA NEXT DOOR</a:t>
            </a:r>
          </a:p>
        </p:txBody>
      </p:sp>
      <p:sp>
        <p:nvSpPr>
          <p:cNvPr id="11" name="">
            <a:extLst xmlns:a="http://schemas.openxmlformats.org/drawingml/2006/main">
              <a:ext uri="{FF2B5EF4-FFF2-40B4-BE49-F238E27FC236}">
                <a16:creationId xmlns:a16="http://schemas.microsoft.com/office/drawing/2014/main" id="{7AE98969-3B0C-40D8-B046-C0DB0724D479}"/>
              </a:ext>
            </a:extLst>
          </p:cNvPr>
          <p:cNvSpPr>
            <a:spLocks xmlns:a="http://schemas.openxmlformats.org/drawingml/2006/main" noGrp="1"/>
          </p:cNvSpPr>
          <p:nvPr/>
        </p:nvSpPr>
        <p:spPr>
          <a:xfrm xmlns:a="http://schemas.openxmlformats.org/drawingml/2006/main">
            <a:off x="1125855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900" b="1" i="0">
                <a:solidFill>
                  <a:srgbClr val="E7C48D"/>
                </a:solidFill>
                <a:latin typeface="Aptos"/>
                <a:ea typeface="Aptos"/>
                <a:cs typeface="Aptos"/>
              </a:defRPr>
            </a:pPr>
            <a:r>
              <a:rPr sz="900" b="1" i="0">
                <a:solidFill>
                  <a:srgbClr val="E7C48D"/>
                </a:solidFill>
                <a:latin typeface="Aptos"/>
                <a:ea typeface="Aptos"/>
                <a:cs typeface="Aptos"/>
              </a:rPr>
              <a:t>04</a:t>
            </a:r>
          </a:p>
        </p:txBody>
      </p:sp>
    </p:spTree>
    <p:extLst>
      <p:ext uri="{BB962C8B-B14F-4D97-AF65-F5344CB8AC3E}">
        <p14:creationId xmlns:p14="http://schemas.microsoft.com/office/powerpoint/2010/main" val="1101331811"/>
      </p:ext>
    </p:extLst>
  </p:cSld>
</p:sld>
</file>

<file path=ppt/slides/slide5.xml><?xml version="1.0" encoding="utf-8"?>
<p:sld xmlns:p="http://schemas.openxmlformats.org/presentationml/2006/main">
  <p:cSld>
    <p:bg>
      <p:bgPr>
        <a:solidFill xmlns:a="http://schemas.openxmlformats.org/drawingml/2006/main">
          <a:srgbClr val="F7F5F2"/>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FC0A3AB-AC87-4BC1-8189-76DB1F70BD8E}"/>
              </a:ext>
            </a:extLst>
          </p:cNvPr>
          <p:cNvSpPr>
            <a:spLocks xmlns:a="http://schemas.openxmlformats.org/drawingml/2006/main" noGrp="1"/>
          </p:cNvSpPr>
          <p:nvPr/>
        </p:nvSpPr>
        <p:spPr>
          <a:xfrm xmlns:a="http://schemas.openxmlformats.org/drawingml/2006/main">
            <a:off x="552450" y="3238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E7C48D"/>
                </a:solidFill>
                <a:latin typeface="Aptos"/>
                <a:ea typeface="Aptos"/>
                <a:cs typeface="Aptos"/>
              </a:defRPr>
            </a:pPr>
            <a:r>
              <a:rPr sz="1275" b="1" i="0">
                <a:solidFill>
                  <a:srgbClr val="E7C48D"/>
                </a:solidFill>
                <a:latin typeface="Aptos"/>
                <a:ea typeface="Aptos"/>
                <a:cs typeface="Aptos"/>
              </a:rPr>
              <a:t>05</a:t>
            </a:r>
          </a:p>
        </p:txBody>
      </p:sp>
      <p:sp>
        <p:nvSpPr>
          <p:cNvPr id="2" name="">
            <a:extLst xmlns:a="http://schemas.openxmlformats.org/drawingml/2006/main">
              <a:ext uri="{FF2B5EF4-FFF2-40B4-BE49-F238E27FC236}">
                <a16:creationId xmlns:a16="http://schemas.microsoft.com/office/drawing/2014/main" id="{0E858481-7B19-4762-BB2C-6A81C7374E02}"/>
              </a:ext>
            </a:extLst>
          </p:cNvPr>
          <p:cNvSpPr>
            <a:spLocks xmlns:a="http://schemas.openxmlformats.org/drawingml/2006/main" noGrp="1"/>
          </p:cNvSpPr>
          <p:nvPr/>
        </p:nvSpPr>
        <p:spPr>
          <a:xfrm xmlns:a="http://schemas.openxmlformats.org/drawingml/2006/main" flipH="0" flipV="0">
            <a:off x="1104900" y="447675"/>
            <a:ext cx="514350" cy="0"/>
          </a:xfrm>
          <a:prstGeom xmlns:a="http://schemas.openxmlformats.org/drawingml/2006/main" prst="line">
            <a:avLst/>
          </a:prstGeom>
          <a:noFill xmlns:a="http://schemas.openxmlformats.org/drawingml/2006/main"/>
          <a:ln xmlns:a="http://schemas.openxmlformats.org/drawingml/2006/main" w="19050">
            <a:solidFill>
              <a:srgbClr val="E7C48D"/>
            </a:solidFill>
            <a:prstDash val="solid"/>
          </a:ln>
        </p:spPr>
      </p:sp>
      <p:sp>
        <p:nvSpPr>
          <p:cNvPr id="3" name="">
            <a:extLst xmlns:a="http://schemas.openxmlformats.org/drawingml/2006/main">
              <a:ext uri="{FF2B5EF4-FFF2-40B4-BE49-F238E27FC236}">
                <a16:creationId xmlns:a16="http://schemas.microsoft.com/office/drawing/2014/main" id="{8FACE639-A9F3-4C43-8571-1151D53BEB5B}"/>
              </a:ext>
            </a:extLst>
          </p:cNvPr>
          <p:cNvSpPr>
            <a:spLocks xmlns:a="http://schemas.openxmlformats.org/drawingml/2006/main" noGrp="1"/>
          </p:cNvSpPr>
          <p:nvPr/>
        </p:nvSpPr>
        <p:spPr>
          <a:xfrm xmlns:a="http://schemas.openxmlformats.org/drawingml/2006/main">
            <a:off x="1790700" y="247650"/>
            <a:ext cx="9848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625" b="1" i="0">
                <a:solidFill>
                  <a:srgbClr val="16363B"/>
                </a:solidFill>
                <a:latin typeface="Georgia"/>
                <a:ea typeface="Georgia"/>
                <a:cs typeface="Georgia"/>
              </a:defRPr>
            </a:pPr>
            <a:r>
              <a:rPr sz="2625" b="1" i="0">
                <a:solidFill>
                  <a:srgbClr val="16363B"/>
                </a:solidFill>
                <a:latin typeface="Georgia"/>
                <a:ea typeface="Georgia"/>
                <a:cs typeface="Georgia"/>
              </a:rPr>
              <a:t>Reference interactions clarified the missing transitions</a:t>
            </a:r>
          </a:p>
        </p:txBody>
      </p:sp>
      <p:sp>
        <p:nvSpPr>
          <p:cNvPr id="4" name="">
            <a:extLst xmlns:a="http://schemas.openxmlformats.org/drawingml/2006/main">
              <a:ext uri="{FF2B5EF4-FFF2-40B4-BE49-F238E27FC236}">
                <a16:creationId xmlns:a16="http://schemas.microsoft.com/office/drawing/2014/main" id="{2DFA7A8A-B7A9-4D71-9D11-7A6CC83917D4}"/>
              </a:ext>
            </a:extLst>
          </p:cNvPr>
          <p:cNvSpPr>
            <a:spLocks xmlns:a="http://schemas.openxmlformats.org/drawingml/2006/main" noGrp="1"/>
          </p:cNvSpPr>
          <p:nvPr/>
        </p:nvSpPr>
        <p:spPr>
          <a:xfrm xmlns:a="http://schemas.openxmlformats.org/drawingml/2006/main">
            <a:off x="685800" y="10668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063E4D"/>
                </a:solidFill>
                <a:latin typeface="Aptos"/>
                <a:ea typeface="Aptos"/>
                <a:cs typeface="Aptos"/>
              </a:defRPr>
            </a:pPr>
            <a:r>
              <a:rPr sz="1125" b="1" i="0">
                <a:solidFill>
                  <a:srgbClr val="063E4D"/>
                </a:solidFill>
                <a:latin typeface="Aptos"/>
                <a:ea typeface="Aptos"/>
                <a:cs typeface="Aptos"/>
              </a:rPr>
              <a:t>REFERENCE APPLICATION INTERACTION STUDY</a:t>
            </a:r>
          </a:p>
        </p:txBody>
      </p:sp>
      <p:sp>
        <p:nvSpPr>
          <p:cNvPr id="5" name="">
            <a:extLst xmlns:a="http://schemas.openxmlformats.org/drawingml/2006/main">
              <a:ext uri="{FF2B5EF4-FFF2-40B4-BE49-F238E27FC236}">
                <a16:creationId xmlns:a16="http://schemas.microsoft.com/office/drawing/2014/main" id="{C286F417-7A44-4425-B48C-BB684FE28EDF}"/>
              </a:ext>
            </a:extLst>
          </p:cNvPr>
          <p:cNvSpPr>
            <a:spLocks xmlns:a="http://schemas.openxmlformats.org/drawingml/2006/main" noGrp="1"/>
          </p:cNvSpPr>
          <p:nvPr/>
        </p:nvSpPr>
        <p:spPr>
          <a:xfrm xmlns:a="http://schemas.openxmlformats.org/drawingml/2006/main" flipH="0" flipV="0">
            <a:off x="685800" y="1381125"/>
            <a:ext cx="10820400" cy="0"/>
          </a:xfrm>
          <a:prstGeom xmlns:a="http://schemas.openxmlformats.org/drawingml/2006/main" prst="line">
            <a:avLst/>
          </a:prstGeom>
          <a:noFill xmlns:a="http://schemas.openxmlformats.org/drawingml/2006/main"/>
          <a:ln xmlns:a="http://schemas.openxmlformats.org/drawingml/2006/main" w="19050">
            <a:solidFill>
              <a:srgbClr val="E7C48D"/>
            </a:solidFill>
            <a:prstDash val="solid"/>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0f7be4281c34007"/>
          <a:stretch xmlns:a="http://schemas.openxmlformats.org/drawingml/2006/main"/>
        </p:blipFill>
        <p:spPr>
          <a:xfrm xmlns:a="http://schemas.openxmlformats.org/drawingml/2006/main">
            <a:off x="793909" y="1600200"/>
            <a:ext cx="1517333" cy="33718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A417850-B33C-493E-B1A4-AF8AF7880561}"/>
              </a:ext>
            </a:extLst>
          </p:cNvPr>
          <p:cNvSpPr>
            <a:spLocks xmlns:a="http://schemas.openxmlformats.org/drawingml/2006/main" noGrp="1"/>
          </p:cNvSpPr>
          <p:nvPr/>
        </p:nvSpPr>
        <p:spPr>
          <a:xfrm xmlns:a="http://schemas.openxmlformats.org/drawingml/2006/main">
            <a:off x="666750" y="506730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125" b="1" i="0">
                <a:solidFill>
                  <a:srgbClr val="16363B"/>
                </a:solidFill>
                <a:latin typeface="Aptos"/>
                <a:ea typeface="Aptos"/>
                <a:cs typeface="Aptos"/>
              </a:defRPr>
            </a:pPr>
            <a:r>
              <a:rPr sz="1125" b="1" i="0">
                <a:solidFill>
                  <a:srgbClr val="16363B"/>
                </a:solidFill>
                <a:latin typeface="Aptos"/>
                <a:ea typeface="Aptos"/>
                <a:cs typeface="Aptos"/>
              </a:rPr>
              <a:t>Home action</a:t>
            </a:r>
          </a:p>
        </p:txBody>
      </p:sp>
      <p:sp>
        <p:nvSpPr>
          <p:cNvPr id="8" name="">
            <a:extLst xmlns:a="http://schemas.openxmlformats.org/drawingml/2006/main">
              <a:ext uri="{FF2B5EF4-FFF2-40B4-BE49-F238E27FC236}">
                <a16:creationId xmlns:a16="http://schemas.microsoft.com/office/drawing/2014/main" id="{94ABD957-8793-4C45-B7AC-8FE13F1199C2}"/>
              </a:ext>
            </a:extLst>
          </p:cNvPr>
          <p:cNvSpPr>
            <a:spLocks xmlns:a="http://schemas.openxmlformats.org/drawingml/2006/main" noGrp="1"/>
          </p:cNvSpPr>
          <p:nvPr/>
        </p:nvSpPr>
        <p:spPr>
          <a:xfrm xmlns:a="http://schemas.openxmlformats.org/drawingml/2006/main" flipH="0" flipV="0">
            <a:off x="2419350" y="3257550"/>
            <a:ext cx="400050" cy="0"/>
          </a:xfrm>
          <a:prstGeom xmlns:a="http://schemas.openxmlformats.org/drawingml/2006/main" prst="line">
            <a:avLst/>
          </a:prstGeom>
          <a:noFill xmlns:a="http://schemas.openxmlformats.org/drawingml/2006/main"/>
          <a:ln xmlns:a="http://schemas.openxmlformats.org/drawingml/2006/main" w="28575">
            <a:solidFill>
              <a:srgbClr val="E7C48D"/>
            </a:solidFill>
            <a:prstDash val="solid"/>
          </a:ln>
        </p:spPr>
      </p:sp>
      <p:sp>
        <p:nvSpPr>
          <p:cNvPr id="9" name="">
            <a:extLst xmlns:a="http://schemas.openxmlformats.org/drawingml/2006/main">
              <a:ext uri="{FF2B5EF4-FFF2-40B4-BE49-F238E27FC236}">
                <a16:creationId xmlns:a16="http://schemas.microsoft.com/office/drawing/2014/main" id="{8B121DF7-666D-46B8-9D85-D133BC2506B5}"/>
              </a:ext>
            </a:extLst>
          </p:cNvPr>
          <p:cNvSpPr>
            <a:spLocks xmlns:a="http://schemas.openxmlformats.org/drawingml/2006/main" noGrp="1"/>
          </p:cNvSpPr>
          <p:nvPr/>
        </p:nvSpPr>
        <p:spPr>
          <a:xfrm xmlns:a="http://schemas.openxmlformats.org/drawingml/2006/main">
            <a:off x="2667000" y="3181350"/>
            <a:ext cx="209550" cy="152400"/>
          </a:xfrm>
          <a:prstGeom xmlns:a="http://schemas.openxmlformats.org/drawingml/2006/main" prst="rightArrow">
            <a:avLst/>
          </a:prstGeom>
          <a:solidFill xmlns:a="http://schemas.openxmlformats.org/drawingml/2006/main">
            <a:srgbClr val="E7C48D"/>
          </a:solidFill>
          <a:ln xmlns:a="http://schemas.openxmlformats.org/drawingml/2006/main" w="0">
            <a:no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d47087b07f4c4919"/>
          <a:stretch xmlns:a="http://schemas.openxmlformats.org/drawingml/2006/main"/>
        </p:blipFill>
        <p:spPr>
          <a:xfrm xmlns:a="http://schemas.openxmlformats.org/drawingml/2006/main">
            <a:off x="2946559" y="1600200"/>
            <a:ext cx="1517333" cy="33718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56B6AC2-FA17-499C-81AE-EB650B16788C}"/>
              </a:ext>
            </a:extLst>
          </p:cNvPr>
          <p:cNvSpPr>
            <a:spLocks xmlns:a="http://schemas.openxmlformats.org/drawingml/2006/main" noGrp="1"/>
          </p:cNvSpPr>
          <p:nvPr/>
        </p:nvSpPr>
        <p:spPr>
          <a:xfrm xmlns:a="http://schemas.openxmlformats.org/drawingml/2006/main">
            <a:off x="2819400" y="506730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125" b="1" i="0">
                <a:solidFill>
                  <a:srgbClr val="16363B"/>
                </a:solidFill>
                <a:latin typeface="Aptos"/>
                <a:ea typeface="Aptos"/>
                <a:cs typeface="Aptos"/>
              </a:defRPr>
            </a:pPr>
            <a:r>
              <a:rPr sz="1125" b="1" i="0">
                <a:solidFill>
                  <a:srgbClr val="16363B"/>
                </a:solidFill>
                <a:latin typeface="Aptos"/>
                <a:ea typeface="Aptos"/>
                <a:cs typeface="Aptos"/>
              </a:rPr>
              <a:t>Creation form</a:t>
            </a:r>
          </a:p>
        </p:txBody>
      </p:sp>
      <p:sp>
        <p:nvSpPr>
          <p:cNvPr id="12" name="">
            <a:extLst xmlns:a="http://schemas.openxmlformats.org/drawingml/2006/main">
              <a:ext uri="{FF2B5EF4-FFF2-40B4-BE49-F238E27FC236}">
                <a16:creationId xmlns:a16="http://schemas.microsoft.com/office/drawing/2014/main" id="{8CCAB3F7-3E31-4DCE-B871-B79A87369164}"/>
              </a:ext>
            </a:extLst>
          </p:cNvPr>
          <p:cNvSpPr>
            <a:spLocks xmlns:a="http://schemas.openxmlformats.org/drawingml/2006/main" noGrp="1"/>
          </p:cNvSpPr>
          <p:nvPr/>
        </p:nvSpPr>
        <p:spPr>
          <a:xfrm xmlns:a="http://schemas.openxmlformats.org/drawingml/2006/main" flipH="0" flipV="0">
            <a:off x="4572000" y="3257550"/>
            <a:ext cx="400050" cy="0"/>
          </a:xfrm>
          <a:prstGeom xmlns:a="http://schemas.openxmlformats.org/drawingml/2006/main" prst="line">
            <a:avLst/>
          </a:prstGeom>
          <a:noFill xmlns:a="http://schemas.openxmlformats.org/drawingml/2006/main"/>
          <a:ln xmlns:a="http://schemas.openxmlformats.org/drawingml/2006/main" w="28575">
            <a:solidFill>
              <a:srgbClr val="E7C48D"/>
            </a:solidFill>
            <a:prstDash val="solid"/>
          </a:ln>
        </p:spPr>
      </p:sp>
      <p:sp>
        <p:nvSpPr>
          <p:cNvPr id="13" name="">
            <a:extLst xmlns:a="http://schemas.openxmlformats.org/drawingml/2006/main">
              <a:ext uri="{FF2B5EF4-FFF2-40B4-BE49-F238E27FC236}">
                <a16:creationId xmlns:a16="http://schemas.microsoft.com/office/drawing/2014/main" id="{42B451AB-E6A9-414F-B94C-B488B99DF759}"/>
              </a:ext>
            </a:extLst>
          </p:cNvPr>
          <p:cNvSpPr>
            <a:spLocks xmlns:a="http://schemas.openxmlformats.org/drawingml/2006/main" noGrp="1"/>
          </p:cNvSpPr>
          <p:nvPr/>
        </p:nvSpPr>
        <p:spPr>
          <a:xfrm xmlns:a="http://schemas.openxmlformats.org/drawingml/2006/main">
            <a:off x="4819650" y="3181350"/>
            <a:ext cx="209550" cy="152400"/>
          </a:xfrm>
          <a:prstGeom xmlns:a="http://schemas.openxmlformats.org/drawingml/2006/main" prst="rightArrow">
            <a:avLst/>
          </a:prstGeom>
          <a:solidFill xmlns:a="http://schemas.openxmlformats.org/drawingml/2006/main">
            <a:srgbClr val="E7C48D"/>
          </a:solidFill>
          <a:ln xmlns:a="http://schemas.openxmlformats.org/drawingml/2006/main" w="0">
            <a:no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6106bae3d29d4f2e"/>
          <a:stretch xmlns:a="http://schemas.openxmlformats.org/drawingml/2006/main"/>
        </p:blipFill>
        <p:spPr>
          <a:xfrm xmlns:a="http://schemas.openxmlformats.org/drawingml/2006/main">
            <a:off x="5099209" y="1600200"/>
            <a:ext cx="1517333" cy="33718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F66929E4-5074-4C79-9930-A222A491C2E0}"/>
              </a:ext>
            </a:extLst>
          </p:cNvPr>
          <p:cNvSpPr>
            <a:spLocks xmlns:a="http://schemas.openxmlformats.org/drawingml/2006/main" noGrp="1"/>
          </p:cNvSpPr>
          <p:nvPr/>
        </p:nvSpPr>
        <p:spPr>
          <a:xfrm xmlns:a="http://schemas.openxmlformats.org/drawingml/2006/main">
            <a:off x="4972050" y="506730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125" b="1" i="0">
                <a:solidFill>
                  <a:srgbClr val="16363B"/>
                </a:solidFill>
                <a:latin typeface="Aptos"/>
                <a:ea typeface="Aptos"/>
                <a:cs typeface="Aptos"/>
              </a:defRPr>
            </a:pPr>
            <a:r>
              <a:rPr sz="1125" b="1" i="0">
                <a:solidFill>
                  <a:srgbClr val="16363B"/>
                </a:solidFill>
                <a:latin typeface="Aptos"/>
                <a:ea typeface="Aptos"/>
                <a:cs typeface="Aptos"/>
              </a:rPr>
              <a:t>Published nearby item</a:t>
            </a:r>
          </a:p>
        </p:txBody>
      </p:sp>
      <p:sp>
        <p:nvSpPr>
          <p:cNvPr id="16" name="">
            <a:extLst xmlns:a="http://schemas.openxmlformats.org/drawingml/2006/main">
              <a:ext uri="{FF2B5EF4-FFF2-40B4-BE49-F238E27FC236}">
                <a16:creationId xmlns:a16="http://schemas.microsoft.com/office/drawing/2014/main" id="{633BB9E3-77A6-42E2-A160-E0C0A72299E5}"/>
              </a:ext>
            </a:extLst>
          </p:cNvPr>
          <p:cNvSpPr>
            <a:spLocks xmlns:a="http://schemas.openxmlformats.org/drawingml/2006/main" noGrp="1"/>
          </p:cNvSpPr>
          <p:nvPr/>
        </p:nvSpPr>
        <p:spPr>
          <a:xfrm xmlns:a="http://schemas.openxmlformats.org/drawingml/2006/main" flipH="0" flipV="0">
            <a:off x="6724650" y="3257550"/>
            <a:ext cx="400050" cy="0"/>
          </a:xfrm>
          <a:prstGeom xmlns:a="http://schemas.openxmlformats.org/drawingml/2006/main" prst="line">
            <a:avLst/>
          </a:prstGeom>
          <a:noFill xmlns:a="http://schemas.openxmlformats.org/drawingml/2006/main"/>
          <a:ln xmlns:a="http://schemas.openxmlformats.org/drawingml/2006/main" w="28575">
            <a:solidFill>
              <a:srgbClr val="E7C48D"/>
            </a:solidFill>
            <a:prstDash val="solid"/>
          </a:ln>
        </p:spPr>
      </p:sp>
      <p:sp>
        <p:nvSpPr>
          <p:cNvPr id="17" name="">
            <a:extLst xmlns:a="http://schemas.openxmlformats.org/drawingml/2006/main">
              <a:ext uri="{FF2B5EF4-FFF2-40B4-BE49-F238E27FC236}">
                <a16:creationId xmlns:a16="http://schemas.microsoft.com/office/drawing/2014/main" id="{7824E7CD-1B59-442E-BCDB-BC5B42ECA7EA}"/>
              </a:ext>
            </a:extLst>
          </p:cNvPr>
          <p:cNvSpPr>
            <a:spLocks xmlns:a="http://schemas.openxmlformats.org/drawingml/2006/main" noGrp="1"/>
          </p:cNvSpPr>
          <p:nvPr/>
        </p:nvSpPr>
        <p:spPr>
          <a:xfrm xmlns:a="http://schemas.openxmlformats.org/drawingml/2006/main">
            <a:off x="6972300" y="3181350"/>
            <a:ext cx="209550" cy="152400"/>
          </a:xfrm>
          <a:prstGeom xmlns:a="http://schemas.openxmlformats.org/drawingml/2006/main" prst="rightArrow">
            <a:avLst/>
          </a:prstGeom>
          <a:solidFill xmlns:a="http://schemas.openxmlformats.org/drawingml/2006/main">
            <a:srgbClr val="E7C48D"/>
          </a:solidFill>
          <a:ln xmlns:a="http://schemas.openxmlformats.org/drawingml/2006/main" w="0">
            <a:noFill/>
            <a:prstDash val="solid"/>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5d58ac180a224983"/>
          <a:stretch xmlns:a="http://schemas.openxmlformats.org/drawingml/2006/main"/>
        </p:blipFill>
        <p:spPr>
          <a:xfrm xmlns:a="http://schemas.openxmlformats.org/drawingml/2006/main">
            <a:off x="7251859" y="1600200"/>
            <a:ext cx="1517333" cy="33718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731685C6-A86D-46CA-8737-63DC196016CE}"/>
              </a:ext>
            </a:extLst>
          </p:cNvPr>
          <p:cNvSpPr>
            <a:spLocks xmlns:a="http://schemas.openxmlformats.org/drawingml/2006/main" noGrp="1"/>
          </p:cNvSpPr>
          <p:nvPr/>
        </p:nvSpPr>
        <p:spPr>
          <a:xfrm xmlns:a="http://schemas.openxmlformats.org/drawingml/2006/main">
            <a:off x="7124700" y="506730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125" b="1" i="0">
                <a:solidFill>
                  <a:srgbClr val="16363B"/>
                </a:solidFill>
                <a:latin typeface="Aptos"/>
                <a:ea typeface="Aptos"/>
                <a:cs typeface="Aptos"/>
              </a:defRPr>
            </a:pPr>
            <a:r>
              <a:rPr sz="1125" b="1" i="0">
                <a:solidFill>
                  <a:srgbClr val="16363B"/>
                </a:solidFill>
                <a:latin typeface="Aptos"/>
                <a:ea typeface="Aptos"/>
                <a:cs typeface="Aptos"/>
              </a:rPr>
              <a:t>Contextual details</a:t>
            </a:r>
          </a:p>
        </p:txBody>
      </p:sp>
      <p:sp>
        <p:nvSpPr>
          <p:cNvPr id="20" name="">
            <a:extLst xmlns:a="http://schemas.openxmlformats.org/drawingml/2006/main">
              <a:ext uri="{FF2B5EF4-FFF2-40B4-BE49-F238E27FC236}">
                <a16:creationId xmlns:a16="http://schemas.microsoft.com/office/drawing/2014/main" id="{182FE0C2-CB2C-4CC5-AC65-3D24F2B3778F}"/>
              </a:ext>
            </a:extLst>
          </p:cNvPr>
          <p:cNvSpPr>
            <a:spLocks xmlns:a="http://schemas.openxmlformats.org/drawingml/2006/main" noGrp="1"/>
          </p:cNvSpPr>
          <p:nvPr/>
        </p:nvSpPr>
        <p:spPr>
          <a:xfrm xmlns:a="http://schemas.openxmlformats.org/drawingml/2006/main" flipH="0" flipV="0">
            <a:off x="9410700" y="1562100"/>
            <a:ext cx="0" cy="4095750"/>
          </a:xfrm>
          <a:prstGeom xmlns:a="http://schemas.openxmlformats.org/drawingml/2006/main" prst="line">
            <a:avLst/>
          </a:prstGeom>
          <a:noFill xmlns:a="http://schemas.openxmlformats.org/drawingml/2006/main"/>
          <a:ln xmlns:a="http://schemas.openxmlformats.org/drawingml/2006/main" w="19050">
            <a:solidFill>
              <a:srgbClr val="89A98F"/>
            </a:solidFill>
            <a:prstDash val="solid"/>
          </a:ln>
        </p:spPr>
      </p:sp>
      <p:sp>
        <p:nvSpPr>
          <p:cNvPr id="21" name="">
            <a:extLst xmlns:a="http://schemas.openxmlformats.org/drawingml/2006/main">
              <a:ext uri="{FF2B5EF4-FFF2-40B4-BE49-F238E27FC236}">
                <a16:creationId xmlns:a16="http://schemas.microsoft.com/office/drawing/2014/main" id="{1E2BD2F9-D946-47B5-B443-B3EA739EA698}"/>
              </a:ext>
            </a:extLst>
          </p:cNvPr>
          <p:cNvSpPr>
            <a:spLocks xmlns:a="http://schemas.openxmlformats.org/drawingml/2006/main" noGrp="1"/>
          </p:cNvSpPr>
          <p:nvPr/>
        </p:nvSpPr>
        <p:spPr>
          <a:xfrm xmlns:a="http://schemas.openxmlformats.org/drawingml/2006/main">
            <a:off x="9696450" y="1619250"/>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063E4D"/>
                </a:solidFill>
                <a:latin typeface="Aptos"/>
                <a:ea typeface="Aptos"/>
                <a:cs typeface="Aptos"/>
              </a:defRPr>
            </a:pPr>
            <a:r>
              <a:rPr sz="1275" b="1" i="0">
                <a:solidFill>
                  <a:srgbClr val="063E4D"/>
                </a:solidFill>
                <a:latin typeface="Aptos"/>
                <a:ea typeface="Aptos"/>
                <a:cs typeface="Aptos"/>
              </a:rPr>
              <a:t>ADAPTED FOR JAMAA NEXT DOOR</a:t>
            </a:r>
          </a:p>
        </p:txBody>
      </p:sp>
      <p:sp>
        <p:nvSpPr>
          <p:cNvPr id="22" name="">
            <a:extLst xmlns:a="http://schemas.openxmlformats.org/drawingml/2006/main">
              <a:ext uri="{FF2B5EF4-FFF2-40B4-BE49-F238E27FC236}">
                <a16:creationId xmlns:a16="http://schemas.microsoft.com/office/drawing/2014/main" id="{2404E9C3-7614-4729-9E99-4C017CD84B8B}"/>
              </a:ext>
            </a:extLst>
          </p:cNvPr>
          <p:cNvSpPr>
            <a:spLocks xmlns:a="http://schemas.openxmlformats.org/drawingml/2006/main" noGrp="1"/>
          </p:cNvSpPr>
          <p:nvPr/>
        </p:nvSpPr>
        <p:spPr>
          <a:xfrm xmlns:a="http://schemas.openxmlformats.org/drawingml/2006/main">
            <a:off x="9705975" y="2343150"/>
            <a:ext cx="76200" cy="76200"/>
          </a:xfrm>
          <a:prstGeom xmlns:a="http://schemas.openxmlformats.org/drawingml/2006/main" prst="ellipse">
            <a:avLst/>
          </a:prstGeom>
          <a:solidFill xmlns:a="http://schemas.openxmlformats.org/drawingml/2006/main">
            <a:srgbClr val="E7C48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CEA5E0B-7714-4E74-B810-CF67D3B134DE}"/>
              </a:ext>
            </a:extLst>
          </p:cNvPr>
          <p:cNvSpPr>
            <a:spLocks xmlns:a="http://schemas.openxmlformats.org/drawingml/2006/main" noGrp="1"/>
          </p:cNvSpPr>
          <p:nvPr/>
        </p:nvSpPr>
        <p:spPr>
          <a:xfrm xmlns:a="http://schemas.openxmlformats.org/drawingml/2006/main">
            <a:off x="9886950" y="2266950"/>
            <a:ext cx="1790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0" i="0">
                <a:solidFill>
                  <a:srgbClr val="16363B"/>
                </a:solidFill>
                <a:latin typeface="Aptos"/>
                <a:ea typeface="Aptos"/>
                <a:cs typeface="Aptos"/>
              </a:defRPr>
            </a:pPr>
            <a:r>
              <a:rPr sz="1275" b="0" i="0">
                <a:solidFill>
                  <a:srgbClr val="16363B"/>
                </a:solidFill>
                <a:latin typeface="Aptos"/>
                <a:ea typeface="Aptos"/>
                <a:cs typeface="Aptos"/>
              </a:rPr>
              <a:t>Review before publication</a:t>
            </a:r>
          </a:p>
        </p:txBody>
      </p:sp>
      <p:sp>
        <p:nvSpPr>
          <p:cNvPr id="24" name="">
            <a:extLst xmlns:a="http://schemas.openxmlformats.org/drawingml/2006/main">
              <a:ext uri="{FF2B5EF4-FFF2-40B4-BE49-F238E27FC236}">
                <a16:creationId xmlns:a16="http://schemas.microsoft.com/office/drawing/2014/main" id="{242D2A60-4C33-43A1-B4A3-9DB45E003EAD}"/>
              </a:ext>
            </a:extLst>
          </p:cNvPr>
          <p:cNvSpPr>
            <a:spLocks xmlns:a="http://schemas.openxmlformats.org/drawingml/2006/main" noGrp="1"/>
          </p:cNvSpPr>
          <p:nvPr/>
        </p:nvSpPr>
        <p:spPr>
          <a:xfrm xmlns:a="http://schemas.openxmlformats.org/drawingml/2006/main">
            <a:off x="9705975" y="2933700"/>
            <a:ext cx="76200" cy="76200"/>
          </a:xfrm>
          <a:prstGeom xmlns:a="http://schemas.openxmlformats.org/drawingml/2006/main" prst="ellipse">
            <a:avLst/>
          </a:prstGeom>
          <a:solidFill xmlns:a="http://schemas.openxmlformats.org/drawingml/2006/main">
            <a:srgbClr val="E7C48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2401DBE-FB1E-4927-B31F-66958AE7F765}"/>
              </a:ext>
            </a:extLst>
          </p:cNvPr>
          <p:cNvSpPr>
            <a:spLocks xmlns:a="http://schemas.openxmlformats.org/drawingml/2006/main" noGrp="1"/>
          </p:cNvSpPr>
          <p:nvPr/>
        </p:nvSpPr>
        <p:spPr>
          <a:xfrm xmlns:a="http://schemas.openxmlformats.org/drawingml/2006/main">
            <a:off x="9886950" y="2857500"/>
            <a:ext cx="1790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0" i="0">
                <a:solidFill>
                  <a:srgbClr val="16363B"/>
                </a:solidFill>
                <a:latin typeface="Aptos"/>
                <a:ea typeface="Aptos"/>
                <a:cs typeface="Aptos"/>
              </a:defRPr>
            </a:pPr>
            <a:r>
              <a:rPr sz="1275" b="0" i="0">
                <a:solidFill>
                  <a:srgbClr val="16363B"/>
                </a:solidFill>
                <a:latin typeface="Aptos"/>
                <a:ea typeface="Aptos"/>
                <a:cs typeface="Aptos"/>
              </a:rPr>
              <a:t>Time-sorted discovery</a:t>
            </a:r>
          </a:p>
        </p:txBody>
      </p:sp>
      <p:sp>
        <p:nvSpPr>
          <p:cNvPr id="26" name="">
            <a:extLst xmlns:a="http://schemas.openxmlformats.org/drawingml/2006/main">
              <a:ext uri="{FF2B5EF4-FFF2-40B4-BE49-F238E27FC236}">
                <a16:creationId xmlns:a16="http://schemas.microsoft.com/office/drawing/2014/main" id="{8DFBB7EC-D286-492A-B421-D3E78E84BAF8}"/>
              </a:ext>
            </a:extLst>
          </p:cNvPr>
          <p:cNvSpPr>
            <a:spLocks xmlns:a="http://schemas.openxmlformats.org/drawingml/2006/main" noGrp="1"/>
          </p:cNvSpPr>
          <p:nvPr/>
        </p:nvSpPr>
        <p:spPr>
          <a:xfrm xmlns:a="http://schemas.openxmlformats.org/drawingml/2006/main">
            <a:off x="9705975" y="3524250"/>
            <a:ext cx="76200" cy="76200"/>
          </a:xfrm>
          <a:prstGeom xmlns:a="http://schemas.openxmlformats.org/drawingml/2006/main" prst="ellipse">
            <a:avLst/>
          </a:prstGeom>
          <a:solidFill xmlns:a="http://schemas.openxmlformats.org/drawingml/2006/main">
            <a:srgbClr val="E7C48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F06F6D2-A58F-48EF-8C6B-15AA4FFE2E37}"/>
              </a:ext>
            </a:extLst>
          </p:cNvPr>
          <p:cNvSpPr>
            <a:spLocks xmlns:a="http://schemas.openxmlformats.org/drawingml/2006/main" noGrp="1"/>
          </p:cNvSpPr>
          <p:nvPr/>
        </p:nvSpPr>
        <p:spPr>
          <a:xfrm xmlns:a="http://schemas.openxmlformats.org/drawingml/2006/main">
            <a:off x="9886950" y="3448050"/>
            <a:ext cx="1790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0" i="0">
                <a:solidFill>
                  <a:srgbClr val="16363B"/>
                </a:solidFill>
                <a:latin typeface="Aptos"/>
                <a:ea typeface="Aptos"/>
                <a:cs typeface="Aptos"/>
              </a:defRPr>
            </a:pPr>
            <a:r>
              <a:rPr sz="1275" b="0" i="0">
                <a:solidFill>
                  <a:srgbClr val="16363B"/>
                </a:solidFill>
                <a:latin typeface="Aptos"/>
                <a:ea typeface="Aptos"/>
                <a:cs typeface="Aptos"/>
              </a:rPr>
              <a:t>Bottom-sheet details</a:t>
            </a:r>
          </a:p>
        </p:txBody>
      </p:sp>
      <p:sp>
        <p:nvSpPr>
          <p:cNvPr id="28" name="">
            <a:extLst xmlns:a="http://schemas.openxmlformats.org/drawingml/2006/main">
              <a:ext uri="{FF2B5EF4-FFF2-40B4-BE49-F238E27FC236}">
                <a16:creationId xmlns:a16="http://schemas.microsoft.com/office/drawing/2014/main" id="{BD54446F-FC0B-478A-9F2C-EBD53ED86F8A}"/>
              </a:ext>
            </a:extLst>
          </p:cNvPr>
          <p:cNvSpPr>
            <a:spLocks xmlns:a="http://schemas.openxmlformats.org/drawingml/2006/main" noGrp="1"/>
          </p:cNvSpPr>
          <p:nvPr/>
        </p:nvSpPr>
        <p:spPr>
          <a:xfrm xmlns:a="http://schemas.openxmlformats.org/drawingml/2006/main">
            <a:off x="9705975" y="4114800"/>
            <a:ext cx="76200" cy="76200"/>
          </a:xfrm>
          <a:prstGeom xmlns:a="http://schemas.openxmlformats.org/drawingml/2006/main" prst="ellipse">
            <a:avLst/>
          </a:prstGeom>
          <a:solidFill xmlns:a="http://schemas.openxmlformats.org/drawingml/2006/main">
            <a:srgbClr val="E7C48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63F01DD-7C80-4148-AC45-2740A7BB2B90}"/>
              </a:ext>
            </a:extLst>
          </p:cNvPr>
          <p:cNvSpPr>
            <a:spLocks xmlns:a="http://schemas.openxmlformats.org/drawingml/2006/main" noGrp="1"/>
          </p:cNvSpPr>
          <p:nvPr/>
        </p:nvSpPr>
        <p:spPr>
          <a:xfrm xmlns:a="http://schemas.openxmlformats.org/drawingml/2006/main">
            <a:off x="9886950" y="4038600"/>
            <a:ext cx="1790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0" i="0">
                <a:solidFill>
                  <a:srgbClr val="16363B"/>
                </a:solidFill>
                <a:latin typeface="Aptos"/>
                <a:ea typeface="Aptos"/>
                <a:cs typeface="Aptos"/>
              </a:defRPr>
            </a:pPr>
            <a:r>
              <a:rPr sz="1275" b="0" i="0">
                <a:solidFill>
                  <a:srgbClr val="16363B"/>
                </a:solidFill>
                <a:latin typeface="Aptos"/>
                <a:ea typeface="Aptos"/>
                <a:cs typeface="Aptos"/>
              </a:rPr>
              <a:t>Role-based actions</a:t>
            </a:r>
          </a:p>
        </p:txBody>
      </p:sp>
      <p:sp>
        <p:nvSpPr>
          <p:cNvPr id="30" name="">
            <a:extLst xmlns:a="http://schemas.openxmlformats.org/drawingml/2006/main">
              <a:ext uri="{FF2B5EF4-FFF2-40B4-BE49-F238E27FC236}">
                <a16:creationId xmlns:a16="http://schemas.microsoft.com/office/drawing/2014/main" id="{E51B24FD-ADAC-414A-A010-1A3205034539}"/>
              </a:ext>
            </a:extLst>
          </p:cNvPr>
          <p:cNvSpPr>
            <a:spLocks xmlns:a="http://schemas.openxmlformats.org/drawingml/2006/main" noGrp="1"/>
          </p:cNvSpPr>
          <p:nvPr/>
        </p:nvSpPr>
        <p:spPr>
          <a:xfrm xmlns:a="http://schemas.openxmlformats.org/drawingml/2006/main">
            <a:off x="9705975" y="4705350"/>
            <a:ext cx="76200" cy="76200"/>
          </a:xfrm>
          <a:prstGeom xmlns:a="http://schemas.openxmlformats.org/drawingml/2006/main" prst="ellipse">
            <a:avLst/>
          </a:prstGeom>
          <a:solidFill xmlns:a="http://schemas.openxmlformats.org/drawingml/2006/main">
            <a:srgbClr val="E7C48D"/>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F0E1DDE-68D5-4466-91B2-1AC9C852F50E}"/>
              </a:ext>
            </a:extLst>
          </p:cNvPr>
          <p:cNvSpPr>
            <a:spLocks xmlns:a="http://schemas.openxmlformats.org/drawingml/2006/main" noGrp="1"/>
          </p:cNvSpPr>
          <p:nvPr/>
        </p:nvSpPr>
        <p:spPr>
          <a:xfrm xmlns:a="http://schemas.openxmlformats.org/drawingml/2006/main">
            <a:off x="9886950" y="4629150"/>
            <a:ext cx="1790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0" i="0">
                <a:solidFill>
                  <a:srgbClr val="16363B"/>
                </a:solidFill>
                <a:latin typeface="Aptos"/>
                <a:ea typeface="Aptos"/>
                <a:cs typeface="Aptos"/>
              </a:defRPr>
            </a:pPr>
            <a:r>
              <a:rPr sz="1275" b="0" i="0">
                <a:solidFill>
                  <a:srgbClr val="16363B"/>
                </a:solidFill>
                <a:latin typeface="Aptos"/>
                <a:ea typeface="Aptos"/>
                <a:cs typeface="Aptos"/>
              </a:rPr>
              <a:t>Privacy-controlled location</a:t>
            </a:r>
          </a:p>
        </p:txBody>
      </p:sp>
      <p:sp>
        <p:nvSpPr>
          <p:cNvPr id="32" name="">
            <a:extLst xmlns:a="http://schemas.openxmlformats.org/drawingml/2006/main">
              <a:ext uri="{FF2B5EF4-FFF2-40B4-BE49-F238E27FC236}">
                <a16:creationId xmlns:a16="http://schemas.microsoft.com/office/drawing/2014/main" id="{BCCEB4C4-4FF5-47B4-9ECA-4CBB98661D17}"/>
              </a:ext>
            </a:extLst>
          </p:cNvPr>
          <p:cNvSpPr>
            <a:spLocks xmlns:a="http://schemas.openxmlformats.org/drawingml/2006/main" noGrp="1"/>
          </p:cNvSpPr>
          <p:nvPr/>
        </p:nvSpPr>
        <p:spPr>
          <a:xfrm xmlns:a="http://schemas.openxmlformats.org/drawingml/2006/main">
            <a:off x="552450" y="65341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825" b="1" i="0">
                <a:solidFill>
                  <a:srgbClr val="6A7C7F"/>
                </a:solidFill>
                <a:latin typeface="Aptos"/>
                <a:ea typeface="Aptos"/>
                <a:cs typeface="Aptos"/>
              </a:defRPr>
            </a:pPr>
            <a:r>
              <a:rPr sz="825" b="1" i="0">
                <a:solidFill>
                  <a:srgbClr val="6A7C7F"/>
                </a:solidFill>
                <a:latin typeface="Aptos"/>
                <a:ea typeface="Aptos"/>
                <a:cs typeface="Aptos"/>
              </a:rPr>
              <a:t>JAMAA NEXT DOOR</a:t>
            </a:r>
          </a:p>
        </p:txBody>
      </p:sp>
      <p:sp>
        <p:nvSpPr>
          <p:cNvPr id="33" name="">
            <a:extLst xmlns:a="http://schemas.openxmlformats.org/drawingml/2006/main">
              <a:ext uri="{FF2B5EF4-FFF2-40B4-BE49-F238E27FC236}">
                <a16:creationId xmlns:a16="http://schemas.microsoft.com/office/drawing/2014/main" id="{642BC4C0-2192-42EA-AA07-A3F03D16F7BF}"/>
              </a:ext>
            </a:extLst>
          </p:cNvPr>
          <p:cNvSpPr>
            <a:spLocks xmlns:a="http://schemas.openxmlformats.org/drawingml/2006/main" noGrp="1"/>
          </p:cNvSpPr>
          <p:nvPr/>
        </p:nvSpPr>
        <p:spPr>
          <a:xfrm xmlns:a="http://schemas.openxmlformats.org/drawingml/2006/main">
            <a:off x="1125855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900" b="1" i="0">
                <a:solidFill>
                  <a:srgbClr val="E7C48D"/>
                </a:solidFill>
                <a:latin typeface="Aptos"/>
                <a:ea typeface="Aptos"/>
                <a:cs typeface="Aptos"/>
              </a:defRPr>
            </a:pPr>
            <a:r>
              <a:rPr sz="900" b="1" i="0">
                <a:solidFill>
                  <a:srgbClr val="E7C48D"/>
                </a:solidFill>
                <a:latin typeface="Aptos"/>
                <a:ea typeface="Aptos"/>
                <a:cs typeface="Aptos"/>
              </a:rPr>
              <a:t>05</a:t>
            </a:r>
          </a:p>
        </p:txBody>
      </p:sp>
    </p:spTree>
    <p:extLst>
      <p:ext uri="{BB962C8B-B14F-4D97-AF65-F5344CB8AC3E}">
        <p14:creationId xmlns:p14="http://schemas.microsoft.com/office/powerpoint/2010/main" val="253760182"/>
      </p:ext>
    </p:extLst>
  </p:cSld>
</p:sld>
</file>

<file path=ppt/slides/slide6.xml><?xml version="1.0" encoding="utf-8"?>
<p:sld xmlns:p="http://schemas.openxmlformats.org/presentationml/2006/main">
  <p:cSld>
    <p:bg>
      <p:bgPr>
        <a:solidFill xmlns:a="http://schemas.openxmlformats.org/drawingml/2006/main">
          <a:srgbClr val="EEE9D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6CBD3503-8949-4AA3-942E-AF9C354B55A6}"/>
              </a:ext>
            </a:extLst>
          </p:cNvPr>
          <p:cNvSpPr>
            <a:spLocks xmlns:a="http://schemas.openxmlformats.org/drawingml/2006/main" noGrp="1"/>
          </p:cNvSpPr>
          <p:nvPr/>
        </p:nvSpPr>
        <p:spPr>
          <a:xfrm xmlns:a="http://schemas.openxmlformats.org/drawingml/2006/main">
            <a:off x="552450" y="3238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E7C48D"/>
                </a:solidFill>
                <a:latin typeface="Aptos"/>
                <a:ea typeface="Aptos"/>
                <a:cs typeface="Aptos"/>
              </a:defRPr>
            </a:pPr>
            <a:r>
              <a:rPr sz="1275" b="1" i="0">
                <a:solidFill>
                  <a:srgbClr val="E7C48D"/>
                </a:solidFill>
                <a:latin typeface="Aptos"/>
                <a:ea typeface="Aptos"/>
                <a:cs typeface="Aptos"/>
              </a:rPr>
              <a:t>06</a:t>
            </a:r>
          </a:p>
        </p:txBody>
      </p:sp>
      <p:sp>
        <p:nvSpPr>
          <p:cNvPr id="2" name="">
            <a:extLst xmlns:a="http://schemas.openxmlformats.org/drawingml/2006/main">
              <a:ext uri="{FF2B5EF4-FFF2-40B4-BE49-F238E27FC236}">
                <a16:creationId xmlns:a16="http://schemas.microsoft.com/office/drawing/2014/main" id="{488567B7-F29F-4133-90CC-4F3A44C81255}"/>
              </a:ext>
            </a:extLst>
          </p:cNvPr>
          <p:cNvSpPr>
            <a:spLocks xmlns:a="http://schemas.openxmlformats.org/drawingml/2006/main" noGrp="1"/>
          </p:cNvSpPr>
          <p:nvPr/>
        </p:nvSpPr>
        <p:spPr>
          <a:xfrm xmlns:a="http://schemas.openxmlformats.org/drawingml/2006/main" flipH="0" flipV="0">
            <a:off x="1104900" y="447675"/>
            <a:ext cx="514350" cy="0"/>
          </a:xfrm>
          <a:prstGeom xmlns:a="http://schemas.openxmlformats.org/drawingml/2006/main" prst="line">
            <a:avLst/>
          </a:prstGeom>
          <a:noFill xmlns:a="http://schemas.openxmlformats.org/drawingml/2006/main"/>
          <a:ln xmlns:a="http://schemas.openxmlformats.org/drawingml/2006/main" w="19050">
            <a:solidFill>
              <a:srgbClr val="E7C48D"/>
            </a:solidFill>
            <a:prstDash val="solid"/>
          </a:ln>
        </p:spPr>
      </p:sp>
      <p:sp>
        <p:nvSpPr>
          <p:cNvPr id="3" name="">
            <a:extLst xmlns:a="http://schemas.openxmlformats.org/drawingml/2006/main">
              <a:ext uri="{FF2B5EF4-FFF2-40B4-BE49-F238E27FC236}">
                <a16:creationId xmlns:a16="http://schemas.microsoft.com/office/drawing/2014/main" id="{F9804E44-0A4C-45AA-B3B0-278707A90ADA}"/>
              </a:ext>
            </a:extLst>
          </p:cNvPr>
          <p:cNvSpPr>
            <a:spLocks xmlns:a="http://schemas.openxmlformats.org/drawingml/2006/main" noGrp="1"/>
          </p:cNvSpPr>
          <p:nvPr/>
        </p:nvSpPr>
        <p:spPr>
          <a:xfrm xmlns:a="http://schemas.openxmlformats.org/drawingml/2006/main">
            <a:off x="1790700" y="247650"/>
            <a:ext cx="9848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625" b="1" i="0">
                <a:solidFill>
                  <a:srgbClr val="16363B"/>
                </a:solidFill>
                <a:latin typeface="Georgia"/>
                <a:ea typeface="Georgia"/>
                <a:cs typeface="Georgia"/>
              </a:defRPr>
            </a:pPr>
            <a:r>
              <a:rPr sz="2625" b="1" i="0">
                <a:solidFill>
                  <a:srgbClr val="16363B"/>
                </a:solidFill>
                <a:latin typeface="Georgia"/>
                <a:ea typeface="Georgia"/>
                <a:cs typeface="Georgia"/>
              </a:rPr>
              <a:t>The visual language moved toward calm, human trust</a:t>
            </a:r>
          </a:p>
        </p:txBody>
      </p:sp>
      <p:sp>
        <p:nvSpPr>
          <p:cNvPr id="4" name="">
            <a:extLst xmlns:a="http://schemas.openxmlformats.org/drawingml/2006/main">
              <a:ext uri="{FF2B5EF4-FFF2-40B4-BE49-F238E27FC236}">
                <a16:creationId xmlns:a16="http://schemas.microsoft.com/office/drawing/2014/main" id="{09AFE5F8-CAEA-4151-AEA7-FCB89DF77B34}"/>
              </a:ext>
            </a:extLst>
          </p:cNvPr>
          <p:cNvSpPr>
            <a:spLocks xmlns:a="http://schemas.openxmlformats.org/drawingml/2006/main" noGrp="1"/>
          </p:cNvSpPr>
          <p:nvPr/>
        </p:nvSpPr>
        <p:spPr>
          <a:xfrm xmlns:a="http://schemas.openxmlformats.org/drawingml/2006/main">
            <a:off x="1571625" y="10668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200" b="1" i="0">
                <a:solidFill>
                  <a:srgbClr val="063E4D"/>
                </a:solidFill>
                <a:latin typeface="Aptos"/>
                <a:ea typeface="Aptos"/>
                <a:cs typeface="Aptos"/>
              </a:defRPr>
            </a:pPr>
            <a:r>
              <a:rPr sz="1200" b="1" i="0">
                <a:solidFill>
                  <a:srgbClr val="063E4D"/>
                </a:solidFill>
                <a:latin typeface="Aptos"/>
                <a:ea typeface="Aptos"/>
                <a:cs typeface="Aptos"/>
              </a:rPr>
              <a:t>EARLY</a:t>
            </a:r>
          </a:p>
        </p:txBody>
      </p:sp>
      <p:sp>
        <p:nvSpPr>
          <p:cNvPr id="5" name="">
            <a:extLst xmlns:a="http://schemas.openxmlformats.org/drawingml/2006/main">
              <a:ext uri="{FF2B5EF4-FFF2-40B4-BE49-F238E27FC236}">
                <a16:creationId xmlns:a16="http://schemas.microsoft.com/office/drawing/2014/main" id="{ACB7FDDE-2F62-486E-B615-7EDE52469F74}"/>
              </a:ext>
            </a:extLst>
          </p:cNvPr>
          <p:cNvSpPr>
            <a:spLocks xmlns:a="http://schemas.openxmlformats.org/drawingml/2006/main" noGrp="1"/>
          </p:cNvSpPr>
          <p:nvPr/>
        </p:nvSpPr>
        <p:spPr>
          <a:xfrm xmlns:a="http://schemas.openxmlformats.org/drawingml/2006/main">
            <a:off x="5591175" y="10668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200" b="1" i="0">
                <a:solidFill>
                  <a:srgbClr val="063E4D"/>
                </a:solidFill>
                <a:latin typeface="Aptos"/>
                <a:ea typeface="Aptos"/>
                <a:cs typeface="Aptos"/>
              </a:defRPr>
            </a:pPr>
            <a:r>
              <a:rPr sz="1200" b="1" i="0">
                <a:solidFill>
                  <a:srgbClr val="063E4D"/>
                </a:solidFill>
                <a:latin typeface="Aptos"/>
                <a:ea typeface="Aptos"/>
                <a:cs typeface="Aptos"/>
              </a:rPr>
              <a:t>CURRENT</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f56f1fdcda3c46d9"/>
          <a:stretch xmlns:a="http://schemas.openxmlformats.org/drawingml/2006/main"/>
        </p:blipFill>
        <p:spPr>
          <a:xfrm xmlns:a="http://schemas.openxmlformats.org/drawingml/2006/main">
            <a:off x="1428750" y="1411019"/>
            <a:ext cx="1752600" cy="3788312"/>
          </a:xfrm>
          <a:prstGeom xmlns:a="http://schemas.openxmlformats.org/drawingml/2006/main" prst="roundRect">
            <a:avLst>
              <a:gd name="adj" fmla="val 13587"/>
            </a:avLst>
          </a:prstGeom>
        </p:spPr>
      </p:pic>
      <p:sp>
        <p:nvSpPr>
          <p:cNvPr id="7" name="">
            <a:extLst xmlns:a="http://schemas.openxmlformats.org/drawingml/2006/main">
              <a:ext uri="{FF2B5EF4-FFF2-40B4-BE49-F238E27FC236}">
                <a16:creationId xmlns:a16="http://schemas.microsoft.com/office/drawing/2014/main" id="{DB358C07-C8B5-4B5F-975B-FF29AEC6AC0B}"/>
              </a:ext>
            </a:extLst>
          </p:cNvPr>
          <p:cNvSpPr>
            <a:spLocks xmlns:a="http://schemas.openxmlformats.org/drawingml/2006/main" noGrp="1"/>
          </p:cNvSpPr>
          <p:nvPr/>
        </p:nvSpPr>
        <p:spPr>
          <a:xfrm xmlns:a="http://schemas.openxmlformats.org/drawingml/2006/main" flipH="0" flipV="0">
            <a:off x="3600450" y="3305175"/>
            <a:ext cx="1123950" cy="0"/>
          </a:xfrm>
          <a:prstGeom xmlns:a="http://schemas.openxmlformats.org/drawingml/2006/main" prst="line">
            <a:avLst/>
          </a:prstGeom>
          <a:noFill xmlns:a="http://schemas.openxmlformats.org/drawingml/2006/main"/>
          <a:ln xmlns:a="http://schemas.openxmlformats.org/drawingml/2006/main" w="28575">
            <a:solidFill>
              <a:srgbClr val="E7C48D"/>
            </a:solidFill>
            <a:prstDash val="solid"/>
          </a:ln>
        </p:spPr>
      </p:sp>
      <p:sp>
        <p:nvSpPr>
          <p:cNvPr id="8" name="">
            <a:extLst xmlns:a="http://schemas.openxmlformats.org/drawingml/2006/main">
              <a:ext uri="{FF2B5EF4-FFF2-40B4-BE49-F238E27FC236}">
                <a16:creationId xmlns:a16="http://schemas.microsoft.com/office/drawing/2014/main" id="{BA2535E5-15BC-4197-A71E-E2E2AA73FFBE}"/>
              </a:ext>
            </a:extLst>
          </p:cNvPr>
          <p:cNvSpPr>
            <a:spLocks xmlns:a="http://schemas.openxmlformats.org/drawingml/2006/main" noGrp="1"/>
          </p:cNvSpPr>
          <p:nvPr/>
        </p:nvSpPr>
        <p:spPr>
          <a:xfrm xmlns:a="http://schemas.openxmlformats.org/drawingml/2006/main">
            <a:off x="4591050" y="3219450"/>
            <a:ext cx="266700" cy="171450"/>
          </a:xfrm>
          <a:prstGeom xmlns:a="http://schemas.openxmlformats.org/drawingml/2006/main" prst="rightArrow">
            <a:avLst/>
          </a:prstGeom>
          <a:solidFill xmlns:a="http://schemas.openxmlformats.org/drawingml/2006/main">
            <a:srgbClr val="E7C48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DA56043-0FD8-4D0C-B6F4-F5DA0DD3B268}"/>
              </a:ext>
            </a:extLst>
          </p:cNvPr>
          <p:cNvSpPr>
            <a:spLocks xmlns:a="http://schemas.openxmlformats.org/drawingml/2006/main" noGrp="1"/>
          </p:cNvSpPr>
          <p:nvPr/>
        </p:nvSpPr>
        <p:spPr>
          <a:xfrm xmlns:a="http://schemas.openxmlformats.org/drawingml/2006/main">
            <a:off x="5381625" y="1409700"/>
            <a:ext cx="2000250" cy="3790950"/>
          </a:xfrm>
          <a:prstGeom xmlns:a="http://schemas.openxmlformats.org/drawingml/2006/main" prst="roundRect">
            <a:avLst>
              <a:gd name="adj" fmla="val 14286"/>
            </a:avLst>
          </a:prstGeom>
          <a:solidFill xmlns:a="http://schemas.openxmlformats.org/drawingml/2006/main">
            <a:srgbClr val="102F33"/>
          </a:solidFill>
          <a:ln xmlns:a="http://schemas.openxmlformats.org/drawingml/2006/main" w="19050">
            <a:solidFill>
              <a:srgbClr val="E7C48D"/>
            </a:solidFill>
            <a:prstDash val="solid"/>
          </a:ln>
        </p:spPr>
      </p:sp>
      <p:sp>
        <p:nvSpPr>
          <p:cNvPr id="10" name="">
            <a:extLst xmlns:a="http://schemas.openxmlformats.org/drawingml/2006/main">
              <a:ext uri="{FF2B5EF4-FFF2-40B4-BE49-F238E27FC236}">
                <a16:creationId xmlns:a16="http://schemas.microsoft.com/office/drawing/2014/main" id="{899B871D-F6BF-47FE-BC33-7A741520B25E}"/>
              </a:ext>
            </a:extLst>
          </p:cNvPr>
          <p:cNvSpPr>
            <a:spLocks xmlns:a="http://schemas.openxmlformats.org/drawingml/2006/main" noGrp="1"/>
          </p:cNvSpPr>
          <p:nvPr/>
        </p:nvSpPr>
        <p:spPr>
          <a:xfrm xmlns:a="http://schemas.openxmlformats.org/drawingml/2006/main">
            <a:off x="5476875" y="1524000"/>
            <a:ext cx="1809750" cy="3562350"/>
          </a:xfrm>
          <a:prstGeom xmlns:a="http://schemas.openxmlformats.org/drawingml/2006/main" prst="roundRect">
            <a:avLst>
              <a:gd name="adj" fmla="val 12105"/>
            </a:avLst>
          </a:prstGeom>
          <a:solidFill xmlns:a="http://schemas.openxmlformats.org/drawingml/2006/main">
            <a:srgbClr val="063E4D"/>
          </a:solidFill>
          <a:ln xmlns:a="http://schemas.openxmlformats.org/drawingml/2006/main" w="9525">
            <a:solidFill>
              <a:srgbClr val="FFFFFF">
                <a:alpha val="16000"/>
              </a:srgbClr>
            </a:solidFill>
            <a:prstDash val="solid"/>
          </a:ln>
        </p:spPr>
      </p:sp>
      <p:sp>
        <p:nvSpPr>
          <p:cNvPr id="11" name="">
            <a:extLst xmlns:a="http://schemas.openxmlformats.org/drawingml/2006/main">
              <a:ext uri="{FF2B5EF4-FFF2-40B4-BE49-F238E27FC236}">
                <a16:creationId xmlns:a16="http://schemas.microsoft.com/office/drawing/2014/main" id="{DF0A24F9-B8EA-4713-981D-CE37FF7BF738}"/>
              </a:ext>
            </a:extLst>
          </p:cNvPr>
          <p:cNvSpPr>
            <a:spLocks xmlns:a="http://schemas.openxmlformats.org/drawingml/2006/main" noGrp="1"/>
          </p:cNvSpPr>
          <p:nvPr/>
        </p:nvSpPr>
        <p:spPr>
          <a:xfrm xmlns:a="http://schemas.openxmlformats.org/drawingml/2006/main">
            <a:off x="6101715" y="1485900"/>
            <a:ext cx="560070" cy="66675"/>
          </a:xfrm>
          <a:prstGeom xmlns:a="http://schemas.openxmlformats.org/drawingml/2006/main" prst="roundRect">
            <a:avLst>
              <a:gd name="adj" fmla="val 50000"/>
            </a:avLst>
          </a:prstGeom>
          <a:solidFill xmlns:a="http://schemas.openxmlformats.org/drawingml/2006/main">
            <a:srgbClr val="102F3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C533222-CE07-40D2-A621-D589816B7168}"/>
              </a:ext>
            </a:extLst>
          </p:cNvPr>
          <p:cNvSpPr>
            <a:spLocks xmlns:a="http://schemas.openxmlformats.org/drawingml/2006/main" noGrp="1"/>
          </p:cNvSpPr>
          <p:nvPr/>
        </p:nvSpPr>
        <p:spPr>
          <a:xfrm xmlns:a="http://schemas.openxmlformats.org/drawingml/2006/main">
            <a:off x="5534025" y="17145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975" b="1" i="0">
                <a:solidFill>
                  <a:srgbClr val="F7F5F2"/>
                </a:solidFill>
                <a:latin typeface="Aptos"/>
                <a:ea typeface="Aptos"/>
                <a:cs typeface="Aptos"/>
              </a:defRPr>
            </a:pPr>
            <a:r>
              <a:rPr sz="975" b="1" i="0">
                <a:solidFill>
                  <a:srgbClr val="F7F5F2"/>
                </a:solidFill>
                <a:latin typeface="Aptos"/>
                <a:ea typeface="Aptos"/>
                <a:cs typeface="Aptos"/>
              </a:rPr>
              <a:t>Frankfurt am Main</a:t>
            </a:r>
          </a:p>
        </p:txBody>
      </p:sp>
      <p:sp>
        <p:nvSpPr>
          <p:cNvPr id="13" name="">
            <a:extLst xmlns:a="http://schemas.openxmlformats.org/drawingml/2006/main">
              <a:ext uri="{FF2B5EF4-FFF2-40B4-BE49-F238E27FC236}">
                <a16:creationId xmlns:a16="http://schemas.microsoft.com/office/drawing/2014/main" id="{E80C7C7B-020F-4A6A-9785-1EEF871D9EEF}"/>
              </a:ext>
            </a:extLst>
          </p:cNvPr>
          <p:cNvSpPr>
            <a:spLocks xmlns:a="http://schemas.openxmlformats.org/drawingml/2006/main" noGrp="1"/>
          </p:cNvSpPr>
          <p:nvPr/>
        </p:nvSpPr>
        <p:spPr>
          <a:xfrm xmlns:a="http://schemas.openxmlformats.org/drawingml/2006/main">
            <a:off x="5610225" y="2038350"/>
            <a:ext cx="1543050" cy="819150"/>
          </a:xfrm>
          <a:prstGeom xmlns:a="http://schemas.openxmlformats.org/drawingml/2006/main" prst="roundRect">
            <a:avLst>
              <a:gd name="adj" fmla="val 20930"/>
            </a:avLst>
          </a:prstGeom>
          <a:solidFill xmlns:a="http://schemas.openxmlformats.org/drawingml/2006/main">
            <a:srgbClr val="FFFFFF">
              <a:alpha val="12000"/>
            </a:srgbClr>
          </a:solidFill>
          <a:ln xmlns:a="http://schemas.openxmlformats.org/drawingml/2006/main" w="9525">
            <a:solidFill>
              <a:srgbClr val="FFFFFF">
                <a:alpha val="18000"/>
              </a:srgbClr>
            </a:solidFill>
            <a:prstDash val="solid"/>
          </a:ln>
        </p:spPr>
      </p:sp>
      <p:sp>
        <p:nvSpPr>
          <p:cNvPr id="14" name="">
            <a:extLst xmlns:a="http://schemas.openxmlformats.org/drawingml/2006/main">
              <a:ext uri="{FF2B5EF4-FFF2-40B4-BE49-F238E27FC236}">
                <a16:creationId xmlns:a16="http://schemas.microsoft.com/office/drawing/2014/main" id="{88B8DBDC-BAF2-48CA-AD1A-96DA5E4F71CE}"/>
              </a:ext>
            </a:extLst>
          </p:cNvPr>
          <p:cNvSpPr>
            <a:spLocks xmlns:a="http://schemas.openxmlformats.org/drawingml/2006/main" noGrp="1"/>
          </p:cNvSpPr>
          <p:nvPr/>
        </p:nvSpPr>
        <p:spPr>
          <a:xfrm xmlns:a="http://schemas.openxmlformats.org/drawingml/2006/main">
            <a:off x="5724525" y="2143125"/>
            <a:ext cx="1314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750" b="0" i="0">
                <a:solidFill>
                  <a:srgbClr val="AEB7B8"/>
                </a:solidFill>
                <a:latin typeface="Aptos"/>
                <a:ea typeface="Aptos"/>
                <a:cs typeface="Aptos"/>
              </a:defRPr>
            </a:pPr>
            <a:r>
              <a:rPr sz="750" b="0" i="0">
                <a:solidFill>
                  <a:srgbClr val="AEB7B8"/>
                </a:solidFill>
                <a:latin typeface="Aptos"/>
                <a:ea typeface="Aptos"/>
                <a:cs typeface="Aptos"/>
              </a:rPr>
              <a:t>Nearby prayer</a:t>
            </a:r>
          </a:p>
        </p:txBody>
      </p:sp>
      <p:sp>
        <p:nvSpPr>
          <p:cNvPr id="15" name="">
            <a:extLst xmlns:a="http://schemas.openxmlformats.org/drawingml/2006/main">
              <a:ext uri="{FF2B5EF4-FFF2-40B4-BE49-F238E27FC236}">
                <a16:creationId xmlns:a16="http://schemas.microsoft.com/office/drawing/2014/main" id="{5496FE5C-E3BF-46A5-8977-ECEDF76DEAA7}"/>
              </a:ext>
            </a:extLst>
          </p:cNvPr>
          <p:cNvSpPr>
            <a:spLocks xmlns:a="http://schemas.openxmlformats.org/drawingml/2006/main" noGrp="1"/>
          </p:cNvSpPr>
          <p:nvPr/>
        </p:nvSpPr>
        <p:spPr>
          <a:xfrm xmlns:a="http://schemas.openxmlformats.org/drawingml/2006/main">
            <a:off x="5724525" y="2333625"/>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1" i="0">
                <a:solidFill>
                  <a:srgbClr val="F7F5F2"/>
                </a:solidFill>
                <a:latin typeface="Aptos"/>
                <a:ea typeface="Aptos"/>
                <a:cs typeface="Aptos"/>
              </a:defRPr>
            </a:pPr>
            <a:r>
              <a:rPr sz="1650" b="1" i="0">
                <a:solidFill>
                  <a:srgbClr val="F7F5F2"/>
                </a:solidFill>
                <a:latin typeface="Aptos"/>
                <a:ea typeface="Aptos"/>
                <a:cs typeface="Aptos"/>
              </a:rPr>
              <a:t>Jama'ah</a:t>
            </a:r>
          </a:p>
        </p:txBody>
      </p:sp>
      <p:sp>
        <p:nvSpPr>
          <p:cNvPr id="16" name="">
            <a:extLst xmlns:a="http://schemas.openxmlformats.org/drawingml/2006/main">
              <a:ext uri="{FF2B5EF4-FFF2-40B4-BE49-F238E27FC236}">
                <a16:creationId xmlns:a16="http://schemas.microsoft.com/office/drawing/2014/main" id="{5C686D82-FB45-439D-B17F-D278005E6A81}"/>
              </a:ext>
            </a:extLst>
          </p:cNvPr>
          <p:cNvSpPr>
            <a:spLocks xmlns:a="http://schemas.openxmlformats.org/drawingml/2006/main" noGrp="1"/>
          </p:cNvSpPr>
          <p:nvPr/>
        </p:nvSpPr>
        <p:spPr>
          <a:xfrm xmlns:a="http://schemas.openxmlformats.org/drawingml/2006/main">
            <a:off x="5724525" y="2638425"/>
            <a:ext cx="13144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517"/>
          </a:bodyPr>
          <a:lstStyle xmlns:a="http://schemas.openxmlformats.org/drawingml/2006/main"/>
          <a:p xmlns:a="http://schemas.openxmlformats.org/drawingml/2006/main">
            <a:pPr algn="l">
              <a:lnSpc>
                <a:spcPct val="102000"/>
              </a:lnSpc>
              <a:buNone/>
              <a:defRPr sz="675" b="0" i="0">
                <a:solidFill>
                  <a:srgbClr val="AEB7B8"/>
                </a:solidFill>
                <a:latin typeface="Aptos"/>
                <a:ea typeface="Aptos"/>
                <a:cs typeface="Aptos"/>
              </a:defRPr>
            </a:pPr>
            <a:r>
              <a:rPr sz="675" b="0" i="0">
                <a:solidFill>
                  <a:srgbClr val="AEB7B8"/>
                </a:solidFill>
                <a:latin typeface="Aptos"/>
                <a:ea typeface="Aptos"/>
                <a:cs typeface="Aptos"/>
              </a:rPr>
              <a:t>Approximate locations remain private.</a:t>
            </a:r>
          </a:p>
        </p:txBody>
      </p:sp>
      <p:sp>
        <p:nvSpPr>
          <p:cNvPr id="17" name="">
            <a:extLst xmlns:a="http://schemas.openxmlformats.org/drawingml/2006/main">
              <a:ext uri="{FF2B5EF4-FFF2-40B4-BE49-F238E27FC236}">
                <a16:creationId xmlns:a16="http://schemas.microsoft.com/office/drawing/2014/main" id="{DE656871-5DE2-4518-88AC-903C16C18C5E}"/>
              </a:ext>
            </a:extLst>
          </p:cNvPr>
          <p:cNvSpPr>
            <a:spLocks xmlns:a="http://schemas.openxmlformats.org/drawingml/2006/main" noGrp="1"/>
          </p:cNvSpPr>
          <p:nvPr/>
        </p:nvSpPr>
        <p:spPr>
          <a:xfrm xmlns:a="http://schemas.openxmlformats.org/drawingml/2006/main">
            <a:off x="5610225" y="30099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921"/>
          </a:bodyPr>
          <a:lstStyle xmlns:a="http://schemas.openxmlformats.org/drawingml/2006/main"/>
          <a:p xmlns:a="http://schemas.openxmlformats.org/drawingml/2006/main">
            <a:pPr algn="l">
              <a:lnSpc>
                <a:spcPct val="102000"/>
              </a:lnSpc>
              <a:buNone/>
              <a:defRPr sz="1575" b="1" i="0">
                <a:solidFill>
                  <a:srgbClr val="F7F5F2"/>
                </a:solidFill>
                <a:latin typeface="Aptos"/>
                <a:ea typeface="Aptos"/>
                <a:cs typeface="Aptos"/>
              </a:defRPr>
            </a:pPr>
            <a:r>
              <a:rPr sz="1575" b="1" i="0">
                <a:solidFill>
                  <a:srgbClr val="F7F5F2"/>
                </a:solidFill>
                <a:latin typeface="Aptos"/>
                <a:ea typeface="Aptos"/>
                <a:cs typeface="Aptos"/>
              </a:rPr>
              <a:t>Upcoming Jama'ahs</a:t>
            </a:r>
          </a:p>
        </p:txBody>
      </p:sp>
      <p:sp>
        <p:nvSpPr>
          <p:cNvPr id="18" name="">
            <a:extLst xmlns:a="http://schemas.openxmlformats.org/drawingml/2006/main">
              <a:ext uri="{FF2B5EF4-FFF2-40B4-BE49-F238E27FC236}">
                <a16:creationId xmlns:a16="http://schemas.microsoft.com/office/drawing/2014/main" id="{257310A9-D43F-4BC5-8C17-2C32CBE0B9A3}"/>
              </a:ext>
            </a:extLst>
          </p:cNvPr>
          <p:cNvSpPr>
            <a:spLocks xmlns:a="http://schemas.openxmlformats.org/drawingml/2006/main" noGrp="1"/>
          </p:cNvSpPr>
          <p:nvPr/>
        </p:nvSpPr>
        <p:spPr>
          <a:xfrm xmlns:a="http://schemas.openxmlformats.org/drawingml/2006/main">
            <a:off x="5610225" y="3400425"/>
            <a:ext cx="1543050" cy="495300"/>
          </a:xfrm>
          <a:prstGeom xmlns:a="http://schemas.openxmlformats.org/drawingml/2006/main" prst="roundRect">
            <a:avLst>
              <a:gd name="adj" fmla="val 26923"/>
            </a:avLst>
          </a:prstGeom>
          <a:solidFill xmlns:a="http://schemas.openxmlformats.org/drawingml/2006/main">
            <a:srgbClr val="FFFFFF">
              <a:alpha val="5000"/>
            </a:srgbClr>
          </a:solidFill>
          <a:ln xmlns:a="http://schemas.openxmlformats.org/drawingml/2006/main" w="9525">
            <a:solidFill>
              <a:srgbClr val="FFFFFF">
                <a:alpha val="18000"/>
              </a:srgbClr>
            </a:solidFill>
            <a:prstDash val="solid"/>
          </a:ln>
        </p:spPr>
      </p:sp>
      <p:sp>
        <p:nvSpPr>
          <p:cNvPr id="19" name="">
            <a:extLst xmlns:a="http://schemas.openxmlformats.org/drawingml/2006/main">
              <a:ext uri="{FF2B5EF4-FFF2-40B4-BE49-F238E27FC236}">
                <a16:creationId xmlns:a16="http://schemas.microsoft.com/office/drawing/2014/main" id="{41263BCB-16CF-46B7-AE0D-527854D0C968}"/>
              </a:ext>
            </a:extLst>
          </p:cNvPr>
          <p:cNvSpPr>
            <a:spLocks xmlns:a="http://schemas.openxmlformats.org/drawingml/2006/main" noGrp="1"/>
          </p:cNvSpPr>
          <p:nvPr/>
        </p:nvSpPr>
        <p:spPr>
          <a:xfrm xmlns:a="http://schemas.openxmlformats.org/drawingml/2006/main">
            <a:off x="5724525" y="3476625"/>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7F5F2"/>
                </a:solidFill>
                <a:latin typeface="Aptos"/>
                <a:ea typeface="Aptos"/>
                <a:cs typeface="Aptos"/>
              </a:defRPr>
            </a:pPr>
            <a:r>
              <a:rPr sz="1050" b="1" i="0">
                <a:solidFill>
                  <a:srgbClr val="F7F5F2"/>
                </a:solidFill>
                <a:latin typeface="Aptos"/>
                <a:ea typeface="Aptos"/>
                <a:cs typeface="Aptos"/>
              </a:rPr>
              <a:t>Dhuhr</a:t>
            </a:r>
          </a:p>
        </p:txBody>
      </p:sp>
      <p:sp>
        <p:nvSpPr>
          <p:cNvPr id="20" name="">
            <a:extLst xmlns:a="http://schemas.openxmlformats.org/drawingml/2006/main">
              <a:ext uri="{FF2B5EF4-FFF2-40B4-BE49-F238E27FC236}">
                <a16:creationId xmlns:a16="http://schemas.microsoft.com/office/drawing/2014/main" id="{AD207C4D-84A2-4109-83B9-1FEC080F1ED9}"/>
              </a:ext>
            </a:extLst>
          </p:cNvPr>
          <p:cNvSpPr>
            <a:spLocks xmlns:a="http://schemas.openxmlformats.org/drawingml/2006/main" noGrp="1"/>
          </p:cNvSpPr>
          <p:nvPr/>
        </p:nvSpPr>
        <p:spPr>
          <a:xfrm xmlns:a="http://schemas.openxmlformats.org/drawingml/2006/main">
            <a:off x="5724525" y="3676650"/>
            <a:ext cx="762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675" b="0" i="0">
                <a:solidFill>
                  <a:srgbClr val="AEB7B8"/>
                </a:solidFill>
                <a:latin typeface="Aptos"/>
                <a:ea typeface="Aptos"/>
                <a:cs typeface="Aptos"/>
              </a:defRPr>
            </a:pPr>
            <a:r>
              <a:rPr sz="675" b="0" i="0">
                <a:solidFill>
                  <a:srgbClr val="AEB7B8"/>
                </a:solidFill>
                <a:latin typeface="Aptos"/>
                <a:ea typeface="Aptos"/>
                <a:cs typeface="Aptos"/>
              </a:rPr>
              <a:t>12:45</a:t>
            </a:r>
          </a:p>
        </p:txBody>
      </p:sp>
      <p:sp>
        <p:nvSpPr>
          <p:cNvPr id="21" name="">
            <a:extLst xmlns:a="http://schemas.openxmlformats.org/drawingml/2006/main">
              <a:ext uri="{FF2B5EF4-FFF2-40B4-BE49-F238E27FC236}">
                <a16:creationId xmlns:a16="http://schemas.microsoft.com/office/drawing/2014/main" id="{A508246E-482B-4042-BBC4-6090CE567804}"/>
              </a:ext>
            </a:extLst>
          </p:cNvPr>
          <p:cNvSpPr>
            <a:spLocks xmlns:a="http://schemas.openxmlformats.org/drawingml/2006/main" noGrp="1"/>
          </p:cNvSpPr>
          <p:nvPr/>
        </p:nvSpPr>
        <p:spPr>
          <a:xfrm xmlns:a="http://schemas.openxmlformats.org/drawingml/2006/main">
            <a:off x="6334125" y="357187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750" b="1" i="0">
                <a:solidFill>
                  <a:srgbClr val="E7C48D"/>
                </a:solidFill>
                <a:latin typeface="Aptos"/>
                <a:ea typeface="Aptos"/>
                <a:cs typeface="Aptos"/>
              </a:defRPr>
            </a:pPr>
            <a:r>
              <a:rPr sz="750" b="1" i="0">
                <a:solidFill>
                  <a:srgbClr val="E7C48D"/>
                </a:solidFill>
                <a:latin typeface="Aptos"/>
                <a:ea typeface="Aptos"/>
                <a:cs typeface="Aptos"/>
              </a:rPr>
              <a:t>3 joined</a:t>
            </a:r>
          </a:p>
        </p:txBody>
      </p:sp>
      <p:sp>
        <p:nvSpPr>
          <p:cNvPr id="22" name="">
            <a:extLst xmlns:a="http://schemas.openxmlformats.org/drawingml/2006/main">
              <a:ext uri="{FF2B5EF4-FFF2-40B4-BE49-F238E27FC236}">
                <a16:creationId xmlns:a16="http://schemas.microsoft.com/office/drawing/2014/main" id="{F2DA390B-8665-49E9-A977-5C7A33893AA8}"/>
              </a:ext>
            </a:extLst>
          </p:cNvPr>
          <p:cNvSpPr>
            <a:spLocks xmlns:a="http://schemas.openxmlformats.org/drawingml/2006/main" noGrp="1"/>
          </p:cNvSpPr>
          <p:nvPr/>
        </p:nvSpPr>
        <p:spPr>
          <a:xfrm xmlns:a="http://schemas.openxmlformats.org/drawingml/2006/main">
            <a:off x="5610225" y="3990975"/>
            <a:ext cx="1543050" cy="495300"/>
          </a:xfrm>
          <a:prstGeom xmlns:a="http://schemas.openxmlformats.org/drawingml/2006/main" prst="roundRect">
            <a:avLst>
              <a:gd name="adj" fmla="val 26923"/>
            </a:avLst>
          </a:prstGeom>
          <a:solidFill xmlns:a="http://schemas.openxmlformats.org/drawingml/2006/main">
            <a:srgbClr val="FFFFFF">
              <a:alpha val="5000"/>
            </a:srgbClr>
          </a:solidFill>
          <a:ln xmlns:a="http://schemas.openxmlformats.org/drawingml/2006/main" w="9525">
            <a:solidFill>
              <a:srgbClr val="FFFFFF">
                <a:alpha val="18000"/>
              </a:srgbClr>
            </a:solidFill>
            <a:prstDash val="solid"/>
          </a:ln>
        </p:spPr>
      </p:sp>
      <p:sp>
        <p:nvSpPr>
          <p:cNvPr id="23" name="">
            <a:extLst xmlns:a="http://schemas.openxmlformats.org/drawingml/2006/main">
              <a:ext uri="{FF2B5EF4-FFF2-40B4-BE49-F238E27FC236}">
                <a16:creationId xmlns:a16="http://schemas.microsoft.com/office/drawing/2014/main" id="{FC006CE6-E5A4-48E2-A927-896AF16657FA}"/>
              </a:ext>
            </a:extLst>
          </p:cNvPr>
          <p:cNvSpPr>
            <a:spLocks xmlns:a="http://schemas.openxmlformats.org/drawingml/2006/main" noGrp="1"/>
          </p:cNvSpPr>
          <p:nvPr/>
        </p:nvSpPr>
        <p:spPr>
          <a:xfrm xmlns:a="http://schemas.openxmlformats.org/drawingml/2006/main">
            <a:off x="5724525" y="4067175"/>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7F5F2"/>
                </a:solidFill>
                <a:latin typeface="Aptos"/>
                <a:ea typeface="Aptos"/>
                <a:cs typeface="Aptos"/>
              </a:defRPr>
            </a:pPr>
            <a:r>
              <a:rPr sz="1050" b="1" i="0">
                <a:solidFill>
                  <a:srgbClr val="F7F5F2"/>
                </a:solidFill>
                <a:latin typeface="Aptos"/>
                <a:ea typeface="Aptos"/>
                <a:cs typeface="Aptos"/>
              </a:rPr>
              <a:t>Asr</a:t>
            </a:r>
          </a:p>
        </p:txBody>
      </p:sp>
      <p:sp>
        <p:nvSpPr>
          <p:cNvPr id="24" name="">
            <a:extLst xmlns:a="http://schemas.openxmlformats.org/drawingml/2006/main">
              <a:ext uri="{FF2B5EF4-FFF2-40B4-BE49-F238E27FC236}">
                <a16:creationId xmlns:a16="http://schemas.microsoft.com/office/drawing/2014/main" id="{08BFEB95-A62B-4A2D-A0E1-A6B1F40207F9}"/>
              </a:ext>
            </a:extLst>
          </p:cNvPr>
          <p:cNvSpPr>
            <a:spLocks xmlns:a="http://schemas.openxmlformats.org/drawingml/2006/main" noGrp="1"/>
          </p:cNvSpPr>
          <p:nvPr/>
        </p:nvSpPr>
        <p:spPr>
          <a:xfrm xmlns:a="http://schemas.openxmlformats.org/drawingml/2006/main">
            <a:off x="5724525" y="4267200"/>
            <a:ext cx="762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675" b="0" i="0">
                <a:solidFill>
                  <a:srgbClr val="AEB7B8"/>
                </a:solidFill>
                <a:latin typeface="Aptos"/>
                <a:ea typeface="Aptos"/>
                <a:cs typeface="Aptos"/>
              </a:defRPr>
            </a:pPr>
            <a:r>
              <a:rPr sz="675" b="0" i="0">
                <a:solidFill>
                  <a:srgbClr val="AEB7B8"/>
                </a:solidFill>
                <a:latin typeface="Aptos"/>
                <a:ea typeface="Aptos"/>
                <a:cs typeface="Aptos"/>
              </a:rPr>
              <a:t>16:30</a:t>
            </a:r>
          </a:p>
        </p:txBody>
      </p:sp>
      <p:sp>
        <p:nvSpPr>
          <p:cNvPr id="25" name="">
            <a:extLst xmlns:a="http://schemas.openxmlformats.org/drawingml/2006/main">
              <a:ext uri="{FF2B5EF4-FFF2-40B4-BE49-F238E27FC236}">
                <a16:creationId xmlns:a16="http://schemas.microsoft.com/office/drawing/2014/main" id="{90313E32-6186-4B2E-B8D1-6D90329600AA}"/>
              </a:ext>
            </a:extLst>
          </p:cNvPr>
          <p:cNvSpPr>
            <a:spLocks xmlns:a="http://schemas.openxmlformats.org/drawingml/2006/main" noGrp="1"/>
          </p:cNvSpPr>
          <p:nvPr/>
        </p:nvSpPr>
        <p:spPr>
          <a:xfrm xmlns:a="http://schemas.openxmlformats.org/drawingml/2006/main">
            <a:off x="6334125" y="41624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750" b="1" i="0">
                <a:solidFill>
                  <a:srgbClr val="E7C48D"/>
                </a:solidFill>
                <a:latin typeface="Aptos"/>
                <a:ea typeface="Aptos"/>
                <a:cs typeface="Aptos"/>
              </a:defRPr>
            </a:pPr>
            <a:r>
              <a:rPr sz="750" b="1" i="0">
                <a:solidFill>
                  <a:srgbClr val="E7C48D"/>
                </a:solidFill>
                <a:latin typeface="Aptos"/>
                <a:ea typeface="Aptos"/>
                <a:cs typeface="Aptos"/>
              </a:rPr>
              <a:t>1 joined</a:t>
            </a:r>
          </a:p>
        </p:txBody>
      </p:sp>
      <p:sp>
        <p:nvSpPr>
          <p:cNvPr id="26" name="">
            <a:extLst xmlns:a="http://schemas.openxmlformats.org/drawingml/2006/main">
              <a:ext uri="{FF2B5EF4-FFF2-40B4-BE49-F238E27FC236}">
                <a16:creationId xmlns:a16="http://schemas.microsoft.com/office/drawing/2014/main" id="{9FAE8849-9E03-47A2-8680-F56DDC43625D}"/>
              </a:ext>
            </a:extLst>
          </p:cNvPr>
          <p:cNvSpPr>
            <a:spLocks xmlns:a="http://schemas.openxmlformats.org/drawingml/2006/main" noGrp="1"/>
          </p:cNvSpPr>
          <p:nvPr/>
        </p:nvSpPr>
        <p:spPr>
          <a:xfrm xmlns:a="http://schemas.openxmlformats.org/drawingml/2006/main">
            <a:off x="6019800" y="4038600"/>
            <a:ext cx="723900" cy="723900"/>
          </a:xfrm>
          <a:prstGeom xmlns:a="http://schemas.openxmlformats.org/drawingml/2006/main" prst="ellipse">
            <a:avLst/>
          </a:prstGeom>
          <a:solidFill xmlns:a="http://schemas.openxmlformats.org/drawingml/2006/main">
            <a:srgbClr val="F7F5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A9DBBC9-C7A0-4DE1-9F8F-319A5B368F44}"/>
              </a:ext>
            </a:extLst>
          </p:cNvPr>
          <p:cNvSpPr>
            <a:spLocks xmlns:a="http://schemas.openxmlformats.org/drawingml/2006/main" noGrp="1"/>
          </p:cNvSpPr>
          <p:nvPr/>
        </p:nvSpPr>
        <p:spPr>
          <a:xfrm xmlns:a="http://schemas.openxmlformats.org/drawingml/2006/main">
            <a:off x="6096000" y="421005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975" b="1" i="0">
                <a:solidFill>
                  <a:srgbClr val="102F33"/>
                </a:solidFill>
                <a:latin typeface="Aptos"/>
                <a:ea typeface="Aptos"/>
                <a:cs typeface="Aptos"/>
              </a:defRPr>
            </a:pPr>
            <a:r>
              <a:rPr sz="975" b="1" i="0">
                <a:solidFill>
                  <a:srgbClr val="102F33"/>
                </a:solidFill>
                <a:latin typeface="Aptos"/>
                <a:ea typeface="Aptos"/>
                <a:cs typeface="Aptos"/>
              </a:rPr>
              <a:t>Start</a:t>
            </a:r>
          </a:p>
          <a:p xmlns:a="http://schemas.openxmlformats.org/drawingml/2006/main">
            <a:pPr algn="ctr">
              <a:lnSpc>
                <a:spcPct val="102000"/>
              </a:lnSpc>
              <a:buNone/>
              <a:defRPr sz="975" b="1" i="0">
                <a:solidFill>
                  <a:srgbClr val="102F33"/>
                </a:solidFill>
                <a:latin typeface="Aptos"/>
                <a:ea typeface="Aptos"/>
                <a:cs typeface="Aptos"/>
              </a:defRPr>
            </a:pPr>
            <a:r>
              <a:rPr sz="975" b="1" i="0">
                <a:solidFill>
                  <a:srgbClr val="102F33"/>
                </a:solidFill>
                <a:latin typeface="Aptos"/>
                <a:ea typeface="Aptos"/>
                <a:cs typeface="Aptos"/>
              </a:rPr>
              <a:t>Jama'ah</a:t>
            </a:r>
          </a:p>
        </p:txBody>
      </p:sp>
      <p:sp>
        <p:nvSpPr>
          <p:cNvPr id="28" name="">
            <a:extLst xmlns:a="http://schemas.openxmlformats.org/drawingml/2006/main">
              <a:ext uri="{FF2B5EF4-FFF2-40B4-BE49-F238E27FC236}">
                <a16:creationId xmlns:a16="http://schemas.microsoft.com/office/drawing/2014/main" id="{AA3F390B-F1F1-4F70-9313-4411CD85FB56}"/>
              </a:ext>
            </a:extLst>
          </p:cNvPr>
          <p:cNvSpPr>
            <a:spLocks xmlns:a="http://schemas.openxmlformats.org/drawingml/2006/main" noGrp="1"/>
          </p:cNvSpPr>
          <p:nvPr/>
        </p:nvSpPr>
        <p:spPr>
          <a:xfrm xmlns:a="http://schemas.openxmlformats.org/drawingml/2006/main">
            <a:off x="7943850" y="1485900"/>
            <a:ext cx="3333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16363B"/>
                </a:solidFill>
                <a:latin typeface="Georgia"/>
                <a:ea typeface="Georgia"/>
                <a:cs typeface="Georgia"/>
              </a:defRPr>
            </a:pPr>
            <a:r>
              <a:rPr sz="1725" b="0" i="0">
                <a:solidFill>
                  <a:srgbClr val="16363B"/>
                </a:solidFill>
                <a:latin typeface="Georgia"/>
                <a:ea typeface="Georgia"/>
                <a:cs typeface="Georgia"/>
              </a:rPr>
              <a:t>Prayer and countdown remained priorities. The hierarchy became quieter, the language more explicit, and privacy more visible.</a:t>
            </a:r>
          </a:p>
        </p:txBody>
      </p:sp>
      <p:sp>
        <p:nvSpPr>
          <p:cNvPr id="29" name="">
            <a:extLst xmlns:a="http://schemas.openxmlformats.org/drawingml/2006/main">
              <a:ext uri="{FF2B5EF4-FFF2-40B4-BE49-F238E27FC236}">
                <a16:creationId xmlns:a16="http://schemas.microsoft.com/office/drawing/2014/main" id="{141D0312-B086-434B-8581-DDC8D890B3B3}"/>
              </a:ext>
            </a:extLst>
          </p:cNvPr>
          <p:cNvSpPr>
            <a:spLocks xmlns:a="http://schemas.openxmlformats.org/drawingml/2006/main" noGrp="1"/>
          </p:cNvSpPr>
          <p:nvPr/>
        </p:nvSpPr>
        <p:spPr>
          <a:xfrm xmlns:a="http://schemas.openxmlformats.org/drawingml/2006/main">
            <a:off x="8105775" y="3124200"/>
            <a:ext cx="76200" cy="76200"/>
          </a:xfrm>
          <a:prstGeom xmlns:a="http://schemas.openxmlformats.org/drawingml/2006/main" prst="ellipse">
            <a:avLst/>
          </a:prstGeom>
          <a:solidFill xmlns:a="http://schemas.openxmlformats.org/drawingml/2006/main">
            <a:srgbClr val="E7C48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7E883DD-5C76-4356-88C6-11F52F343ED1}"/>
              </a:ext>
            </a:extLst>
          </p:cNvPr>
          <p:cNvSpPr>
            <a:spLocks xmlns:a="http://schemas.openxmlformats.org/drawingml/2006/main" noGrp="1"/>
          </p:cNvSpPr>
          <p:nvPr/>
        </p:nvSpPr>
        <p:spPr>
          <a:xfrm xmlns:a="http://schemas.openxmlformats.org/drawingml/2006/main">
            <a:off x="8286750" y="304800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425" b="0" i="0">
                <a:solidFill>
                  <a:srgbClr val="16363B"/>
                </a:solidFill>
                <a:latin typeface="Aptos"/>
                <a:ea typeface="Aptos"/>
                <a:cs typeface="Aptos"/>
              </a:defRPr>
            </a:pPr>
            <a:r>
              <a:rPr sz="1425" b="0" i="0">
                <a:solidFill>
                  <a:srgbClr val="16363B"/>
                </a:solidFill>
                <a:latin typeface="Aptos"/>
                <a:ea typeface="Aptos"/>
                <a:cs typeface="Aptos"/>
              </a:rPr>
              <a:t>Human, not generic</a:t>
            </a:r>
          </a:p>
        </p:txBody>
      </p:sp>
      <p:sp>
        <p:nvSpPr>
          <p:cNvPr id="31" name="">
            <a:extLst xmlns:a="http://schemas.openxmlformats.org/drawingml/2006/main">
              <a:ext uri="{FF2B5EF4-FFF2-40B4-BE49-F238E27FC236}">
                <a16:creationId xmlns:a16="http://schemas.microsoft.com/office/drawing/2014/main" id="{BA69E1D6-F510-4998-938B-171AAA82B111}"/>
              </a:ext>
            </a:extLst>
          </p:cNvPr>
          <p:cNvSpPr>
            <a:spLocks xmlns:a="http://schemas.openxmlformats.org/drawingml/2006/main" noGrp="1"/>
          </p:cNvSpPr>
          <p:nvPr/>
        </p:nvSpPr>
        <p:spPr>
          <a:xfrm xmlns:a="http://schemas.openxmlformats.org/drawingml/2006/main">
            <a:off x="8105775" y="3619500"/>
            <a:ext cx="76200" cy="76200"/>
          </a:xfrm>
          <a:prstGeom xmlns:a="http://schemas.openxmlformats.org/drawingml/2006/main" prst="ellipse">
            <a:avLst/>
          </a:prstGeom>
          <a:solidFill xmlns:a="http://schemas.openxmlformats.org/drawingml/2006/main">
            <a:srgbClr val="E7C48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0E31AE6-589C-493C-B5BC-4231B8935B86}"/>
              </a:ext>
            </a:extLst>
          </p:cNvPr>
          <p:cNvSpPr>
            <a:spLocks xmlns:a="http://schemas.openxmlformats.org/drawingml/2006/main" noGrp="1"/>
          </p:cNvSpPr>
          <p:nvPr/>
        </p:nvSpPr>
        <p:spPr>
          <a:xfrm xmlns:a="http://schemas.openxmlformats.org/drawingml/2006/main">
            <a:off x="8286750" y="354330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425" b="0" i="0">
                <a:solidFill>
                  <a:srgbClr val="16363B"/>
                </a:solidFill>
                <a:latin typeface="Aptos"/>
                <a:ea typeface="Aptos"/>
                <a:cs typeface="Aptos"/>
              </a:defRPr>
            </a:pPr>
            <a:r>
              <a:rPr sz="1425" b="0" i="0">
                <a:solidFill>
                  <a:srgbClr val="16363B"/>
                </a:solidFill>
                <a:latin typeface="Aptos"/>
                <a:ea typeface="Aptos"/>
                <a:cs typeface="Aptos"/>
              </a:rPr>
              <a:t>Calm, not technical</a:t>
            </a:r>
          </a:p>
        </p:txBody>
      </p:sp>
      <p:sp>
        <p:nvSpPr>
          <p:cNvPr id="33" name="">
            <a:extLst xmlns:a="http://schemas.openxmlformats.org/drawingml/2006/main">
              <a:ext uri="{FF2B5EF4-FFF2-40B4-BE49-F238E27FC236}">
                <a16:creationId xmlns:a16="http://schemas.microsoft.com/office/drawing/2014/main" id="{485DDE2E-98C6-4C1E-AB6B-A610D0BCAD19}"/>
              </a:ext>
            </a:extLst>
          </p:cNvPr>
          <p:cNvSpPr>
            <a:spLocks xmlns:a="http://schemas.openxmlformats.org/drawingml/2006/main" noGrp="1"/>
          </p:cNvSpPr>
          <p:nvPr/>
        </p:nvSpPr>
        <p:spPr>
          <a:xfrm xmlns:a="http://schemas.openxmlformats.org/drawingml/2006/main">
            <a:off x="8105775" y="4114800"/>
            <a:ext cx="76200" cy="76200"/>
          </a:xfrm>
          <a:prstGeom xmlns:a="http://schemas.openxmlformats.org/drawingml/2006/main" prst="ellipse">
            <a:avLst/>
          </a:prstGeom>
          <a:solidFill xmlns:a="http://schemas.openxmlformats.org/drawingml/2006/main">
            <a:srgbClr val="E7C48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98972B9-9EAC-4B60-A155-F893C232D6AD}"/>
              </a:ext>
            </a:extLst>
          </p:cNvPr>
          <p:cNvSpPr>
            <a:spLocks xmlns:a="http://schemas.openxmlformats.org/drawingml/2006/main" noGrp="1"/>
          </p:cNvSpPr>
          <p:nvPr/>
        </p:nvSpPr>
        <p:spPr>
          <a:xfrm xmlns:a="http://schemas.openxmlformats.org/drawingml/2006/main">
            <a:off x="8286750" y="403860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425" b="0" i="0">
                <a:solidFill>
                  <a:srgbClr val="16363B"/>
                </a:solidFill>
                <a:latin typeface="Aptos"/>
                <a:ea typeface="Aptos"/>
                <a:cs typeface="Aptos"/>
              </a:defRPr>
            </a:pPr>
            <a:r>
              <a:rPr sz="1425" b="0" i="0">
                <a:solidFill>
                  <a:srgbClr val="16363B"/>
                </a:solidFill>
                <a:latin typeface="Aptos"/>
                <a:ea typeface="Aptos"/>
                <a:cs typeface="Aptos"/>
              </a:rPr>
              <a:t>Specific, not decorative</a:t>
            </a:r>
          </a:p>
        </p:txBody>
      </p:sp>
      <p:sp>
        <p:nvSpPr>
          <p:cNvPr id="35" name="">
            <a:extLst xmlns:a="http://schemas.openxmlformats.org/drawingml/2006/main">
              <a:ext uri="{FF2B5EF4-FFF2-40B4-BE49-F238E27FC236}">
                <a16:creationId xmlns:a16="http://schemas.microsoft.com/office/drawing/2014/main" id="{0996AADE-FA8A-470C-92F6-961A583F6F7A}"/>
              </a:ext>
            </a:extLst>
          </p:cNvPr>
          <p:cNvSpPr>
            <a:spLocks xmlns:a="http://schemas.openxmlformats.org/drawingml/2006/main" noGrp="1"/>
          </p:cNvSpPr>
          <p:nvPr/>
        </p:nvSpPr>
        <p:spPr>
          <a:xfrm xmlns:a="http://schemas.openxmlformats.org/drawingml/2006/main">
            <a:off x="8105775" y="4610100"/>
            <a:ext cx="76200" cy="76200"/>
          </a:xfrm>
          <a:prstGeom xmlns:a="http://schemas.openxmlformats.org/drawingml/2006/main" prst="ellipse">
            <a:avLst/>
          </a:prstGeom>
          <a:solidFill xmlns:a="http://schemas.openxmlformats.org/drawingml/2006/main">
            <a:srgbClr val="E7C48D"/>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3173BDB-2DA1-4CDD-9AF5-6D7350CD7D0D}"/>
              </a:ext>
            </a:extLst>
          </p:cNvPr>
          <p:cNvSpPr>
            <a:spLocks xmlns:a="http://schemas.openxmlformats.org/drawingml/2006/main" noGrp="1"/>
          </p:cNvSpPr>
          <p:nvPr/>
        </p:nvSpPr>
        <p:spPr>
          <a:xfrm xmlns:a="http://schemas.openxmlformats.org/drawingml/2006/main">
            <a:off x="8286750" y="453390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425" b="0" i="0">
                <a:solidFill>
                  <a:srgbClr val="16363B"/>
                </a:solidFill>
                <a:latin typeface="Aptos"/>
                <a:ea typeface="Aptos"/>
                <a:cs typeface="Aptos"/>
              </a:defRPr>
            </a:pPr>
            <a:r>
              <a:rPr sz="1425" b="0" i="0">
                <a:solidFill>
                  <a:srgbClr val="16363B"/>
                </a:solidFill>
                <a:latin typeface="Aptos"/>
                <a:ea typeface="Aptos"/>
                <a:cs typeface="Aptos"/>
              </a:rPr>
              <a:t>Trust visible in language</a:t>
            </a:r>
          </a:p>
        </p:txBody>
      </p:sp>
      <p:sp>
        <p:nvSpPr>
          <p:cNvPr id="37" name="">
            <a:extLst xmlns:a="http://schemas.openxmlformats.org/drawingml/2006/main">
              <a:ext uri="{FF2B5EF4-FFF2-40B4-BE49-F238E27FC236}">
                <a16:creationId xmlns:a16="http://schemas.microsoft.com/office/drawing/2014/main" id="{2AE69A69-0883-45D5-BBA0-6ADAEB6A0EAC}"/>
              </a:ext>
            </a:extLst>
          </p:cNvPr>
          <p:cNvSpPr>
            <a:spLocks xmlns:a="http://schemas.openxmlformats.org/drawingml/2006/main" noGrp="1"/>
          </p:cNvSpPr>
          <p:nvPr/>
        </p:nvSpPr>
        <p:spPr>
          <a:xfrm xmlns:a="http://schemas.openxmlformats.org/drawingml/2006/main">
            <a:off x="1428750" y="5619750"/>
            <a:ext cx="1352550" cy="228600"/>
          </a:xfrm>
          <a:prstGeom xmlns:a="http://schemas.openxmlformats.org/drawingml/2006/main" prst="rect">
            <a:avLst/>
          </a:prstGeom>
          <a:solidFill xmlns:a="http://schemas.openxmlformats.org/drawingml/2006/main">
            <a:srgbClr val="063E4D"/>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7E72894-844B-44C5-901E-15FAC57FCC17}"/>
              </a:ext>
            </a:extLst>
          </p:cNvPr>
          <p:cNvSpPr>
            <a:spLocks xmlns:a="http://schemas.openxmlformats.org/drawingml/2006/main" noGrp="1"/>
          </p:cNvSpPr>
          <p:nvPr/>
        </p:nvSpPr>
        <p:spPr>
          <a:xfrm xmlns:a="http://schemas.openxmlformats.org/drawingml/2006/main">
            <a:off x="2914650" y="5619750"/>
            <a:ext cx="1352550" cy="228600"/>
          </a:xfrm>
          <a:prstGeom xmlns:a="http://schemas.openxmlformats.org/drawingml/2006/main" prst="rect">
            <a:avLst/>
          </a:prstGeom>
          <a:solidFill xmlns:a="http://schemas.openxmlformats.org/drawingml/2006/main">
            <a:srgbClr val="F7F5F2"/>
          </a:solidFill>
          <a:ln xmlns:a="http://schemas.openxmlformats.org/drawingml/2006/main" w="9525">
            <a:solidFill>
              <a:srgbClr val="CFC8BC"/>
            </a:solidFill>
            <a:prstDash val="solid"/>
          </a:ln>
        </p:spPr>
      </p:sp>
      <p:sp>
        <p:nvSpPr>
          <p:cNvPr id="39" name="">
            <a:extLst xmlns:a="http://schemas.openxmlformats.org/drawingml/2006/main">
              <a:ext uri="{FF2B5EF4-FFF2-40B4-BE49-F238E27FC236}">
                <a16:creationId xmlns:a16="http://schemas.microsoft.com/office/drawing/2014/main" id="{3ADA7224-B3EE-476B-8F26-0CF932AC2978}"/>
              </a:ext>
            </a:extLst>
          </p:cNvPr>
          <p:cNvSpPr>
            <a:spLocks xmlns:a="http://schemas.openxmlformats.org/drawingml/2006/main" noGrp="1"/>
          </p:cNvSpPr>
          <p:nvPr/>
        </p:nvSpPr>
        <p:spPr>
          <a:xfrm xmlns:a="http://schemas.openxmlformats.org/drawingml/2006/main">
            <a:off x="4400550" y="5619750"/>
            <a:ext cx="1352550" cy="228600"/>
          </a:xfrm>
          <a:prstGeom xmlns:a="http://schemas.openxmlformats.org/drawingml/2006/main" prst="rect">
            <a:avLst/>
          </a:prstGeom>
          <a:solidFill xmlns:a="http://schemas.openxmlformats.org/drawingml/2006/main">
            <a:srgbClr val="E7C48D"/>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F598C043-CB93-4CD8-B824-B85E4ABB6D6C}"/>
              </a:ext>
            </a:extLst>
          </p:cNvPr>
          <p:cNvSpPr>
            <a:spLocks xmlns:a="http://schemas.openxmlformats.org/drawingml/2006/main" noGrp="1"/>
          </p:cNvSpPr>
          <p:nvPr/>
        </p:nvSpPr>
        <p:spPr>
          <a:xfrm xmlns:a="http://schemas.openxmlformats.org/drawingml/2006/main">
            <a:off x="5886450" y="5619750"/>
            <a:ext cx="1352550" cy="228600"/>
          </a:xfrm>
          <a:prstGeom xmlns:a="http://schemas.openxmlformats.org/drawingml/2006/main" prst="rect">
            <a:avLst/>
          </a:prstGeom>
          <a:solidFill xmlns:a="http://schemas.openxmlformats.org/drawingml/2006/main">
            <a:srgbClr val="89A98F"/>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A0C51D4D-DDF3-4D59-80C4-26497BC368F7}"/>
              </a:ext>
            </a:extLst>
          </p:cNvPr>
          <p:cNvSpPr>
            <a:spLocks xmlns:a="http://schemas.openxmlformats.org/drawingml/2006/main" noGrp="1"/>
          </p:cNvSpPr>
          <p:nvPr/>
        </p:nvSpPr>
        <p:spPr>
          <a:xfrm xmlns:a="http://schemas.openxmlformats.org/drawingml/2006/main">
            <a:off x="4953000" y="52863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825" b="0" i="0">
                <a:solidFill>
                  <a:srgbClr val="6A7C7F"/>
                </a:solidFill>
                <a:latin typeface="Aptos"/>
                <a:ea typeface="Aptos"/>
                <a:cs typeface="Aptos"/>
              </a:defRPr>
            </a:pPr>
            <a:r>
              <a:rPr sz="825" b="0" i="0">
                <a:solidFill>
                  <a:srgbClr val="6A7C7F"/>
                </a:solidFill>
                <a:latin typeface="Aptos"/>
                <a:ea typeface="Aptos"/>
                <a:cs typeface="Aptos"/>
              </a:rPr>
              <a:t>Current prototype reconstruction based on implemented UI</a:t>
            </a:r>
          </a:p>
        </p:txBody>
      </p:sp>
      <p:sp>
        <p:nvSpPr>
          <p:cNvPr id="42" name="">
            <a:extLst xmlns:a="http://schemas.openxmlformats.org/drawingml/2006/main">
              <a:ext uri="{FF2B5EF4-FFF2-40B4-BE49-F238E27FC236}">
                <a16:creationId xmlns:a16="http://schemas.microsoft.com/office/drawing/2014/main" id="{A00EEA11-C4FC-4E9D-9EC0-A2ED4C306458}"/>
              </a:ext>
            </a:extLst>
          </p:cNvPr>
          <p:cNvSpPr>
            <a:spLocks xmlns:a="http://schemas.openxmlformats.org/drawingml/2006/main" noGrp="1"/>
          </p:cNvSpPr>
          <p:nvPr/>
        </p:nvSpPr>
        <p:spPr>
          <a:xfrm xmlns:a="http://schemas.openxmlformats.org/drawingml/2006/main">
            <a:off x="552450" y="65341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825" b="1" i="0">
                <a:solidFill>
                  <a:srgbClr val="6A7C7F"/>
                </a:solidFill>
                <a:latin typeface="Aptos"/>
                <a:ea typeface="Aptos"/>
                <a:cs typeface="Aptos"/>
              </a:defRPr>
            </a:pPr>
            <a:r>
              <a:rPr sz="825" b="1" i="0">
                <a:solidFill>
                  <a:srgbClr val="6A7C7F"/>
                </a:solidFill>
                <a:latin typeface="Aptos"/>
                <a:ea typeface="Aptos"/>
                <a:cs typeface="Aptos"/>
              </a:rPr>
              <a:t>JAMAA NEXT DOOR</a:t>
            </a:r>
          </a:p>
        </p:txBody>
      </p:sp>
      <p:sp>
        <p:nvSpPr>
          <p:cNvPr id="43" name="">
            <a:extLst xmlns:a="http://schemas.openxmlformats.org/drawingml/2006/main">
              <a:ext uri="{FF2B5EF4-FFF2-40B4-BE49-F238E27FC236}">
                <a16:creationId xmlns:a16="http://schemas.microsoft.com/office/drawing/2014/main" id="{C9BAD792-3761-4CE9-BE69-D939289C6F07}"/>
              </a:ext>
            </a:extLst>
          </p:cNvPr>
          <p:cNvSpPr>
            <a:spLocks xmlns:a="http://schemas.openxmlformats.org/drawingml/2006/main" noGrp="1"/>
          </p:cNvSpPr>
          <p:nvPr/>
        </p:nvSpPr>
        <p:spPr>
          <a:xfrm xmlns:a="http://schemas.openxmlformats.org/drawingml/2006/main">
            <a:off x="1125855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900" b="1" i="0">
                <a:solidFill>
                  <a:srgbClr val="E7C48D"/>
                </a:solidFill>
                <a:latin typeface="Aptos"/>
                <a:ea typeface="Aptos"/>
                <a:cs typeface="Aptos"/>
              </a:defRPr>
            </a:pPr>
            <a:r>
              <a:rPr sz="900" b="1" i="0">
                <a:solidFill>
                  <a:srgbClr val="E7C48D"/>
                </a:solidFill>
                <a:latin typeface="Aptos"/>
                <a:ea typeface="Aptos"/>
                <a:cs typeface="Aptos"/>
              </a:rPr>
              <a:t>06</a:t>
            </a:r>
          </a:p>
        </p:txBody>
      </p:sp>
    </p:spTree>
    <p:extLst>
      <p:ext uri="{BB962C8B-B14F-4D97-AF65-F5344CB8AC3E}">
        <p14:creationId xmlns:p14="http://schemas.microsoft.com/office/powerpoint/2010/main" val="170192085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0eb16bdba062429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E715D59-B2BB-4F64-A62B-CA09DA4BC526}"/>
              </a:ext>
            </a:extLst>
          </p:cNvPr>
          <p:cNvSpPr>
            <a:spLocks xmlns:a="http://schemas.openxmlformats.org/drawingml/2006/main" noGrp="1"/>
          </p:cNvSpPr>
          <p:nvPr/>
        </p:nvSpPr>
        <p:spPr>
          <a:xfrm xmlns:a="http://schemas.openxmlformats.org/drawingml/2006/main">
            <a:off x="0" y="0"/>
            <a:ext cx="5638800" cy="68580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AF6CBC8-2D4E-41A8-83FA-55B98B22B82F}"/>
              </a:ext>
            </a:extLst>
          </p:cNvPr>
          <p:cNvSpPr>
            <a:spLocks xmlns:a="http://schemas.openxmlformats.org/drawingml/2006/main" noGrp="1"/>
          </p:cNvSpPr>
          <p:nvPr/>
        </p:nvSpPr>
        <p:spPr>
          <a:xfrm xmlns:a="http://schemas.openxmlformats.org/drawingml/2006/main">
            <a:off x="552450" y="3238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E7C48D"/>
                </a:solidFill>
                <a:latin typeface="Aptos"/>
                <a:ea typeface="Aptos"/>
                <a:cs typeface="Aptos"/>
              </a:defRPr>
            </a:pPr>
            <a:r>
              <a:rPr sz="1275" b="1" i="0">
                <a:solidFill>
                  <a:srgbClr val="E7C48D"/>
                </a:solidFill>
                <a:latin typeface="Aptos"/>
                <a:ea typeface="Aptos"/>
                <a:cs typeface="Aptos"/>
              </a:rPr>
              <a:t>07</a:t>
            </a:r>
          </a:p>
        </p:txBody>
      </p:sp>
      <p:sp>
        <p:nvSpPr>
          <p:cNvPr id="4" name="">
            <a:extLst xmlns:a="http://schemas.openxmlformats.org/drawingml/2006/main">
              <a:ext uri="{FF2B5EF4-FFF2-40B4-BE49-F238E27FC236}">
                <a16:creationId xmlns:a16="http://schemas.microsoft.com/office/drawing/2014/main" id="{B28FA26D-70A3-40CA-9288-DEACD33903BA}"/>
              </a:ext>
            </a:extLst>
          </p:cNvPr>
          <p:cNvSpPr>
            <a:spLocks xmlns:a="http://schemas.openxmlformats.org/drawingml/2006/main" noGrp="1"/>
          </p:cNvSpPr>
          <p:nvPr/>
        </p:nvSpPr>
        <p:spPr>
          <a:xfrm xmlns:a="http://schemas.openxmlformats.org/drawingml/2006/main" flipH="0" flipV="0">
            <a:off x="1104900" y="447675"/>
            <a:ext cx="514350" cy="0"/>
          </a:xfrm>
          <a:prstGeom xmlns:a="http://schemas.openxmlformats.org/drawingml/2006/main" prst="line">
            <a:avLst/>
          </a:prstGeom>
          <a:noFill xmlns:a="http://schemas.openxmlformats.org/drawingml/2006/main"/>
          <a:ln xmlns:a="http://schemas.openxmlformats.org/drawingml/2006/main" w="19050">
            <a:solidFill>
              <a:srgbClr val="89A98F"/>
            </a:solidFill>
            <a:prstDash val="solid"/>
          </a:ln>
        </p:spPr>
      </p:sp>
      <p:sp>
        <p:nvSpPr>
          <p:cNvPr id="5" name="">
            <a:extLst xmlns:a="http://schemas.openxmlformats.org/drawingml/2006/main">
              <a:ext uri="{FF2B5EF4-FFF2-40B4-BE49-F238E27FC236}">
                <a16:creationId xmlns:a16="http://schemas.microsoft.com/office/drawing/2014/main" id="{AF1E161C-8A19-4519-A948-8E4FBA9F9528}"/>
              </a:ext>
            </a:extLst>
          </p:cNvPr>
          <p:cNvSpPr>
            <a:spLocks xmlns:a="http://schemas.openxmlformats.org/drawingml/2006/main" noGrp="1"/>
          </p:cNvSpPr>
          <p:nvPr/>
        </p:nvSpPr>
        <p:spPr>
          <a:xfrm xmlns:a="http://schemas.openxmlformats.org/drawingml/2006/main">
            <a:off x="1790700" y="247650"/>
            <a:ext cx="9848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625" b="1" i="0">
                <a:solidFill>
                  <a:srgbClr val="F7F5F2"/>
                </a:solidFill>
                <a:latin typeface="Georgia"/>
                <a:ea typeface="Georgia"/>
                <a:cs typeface="Georgia"/>
              </a:defRPr>
            </a:pPr>
            <a:r>
              <a:rPr sz="2625" b="1" i="0">
                <a:solidFill>
                  <a:srgbClr val="F7F5F2"/>
                </a:solidFill>
                <a:latin typeface="Georgia"/>
                <a:ea typeface="Georgia"/>
                <a:cs typeface="Georgia"/>
              </a:rPr>
              <a:t>Location makes privacy part of the product architecture</a:t>
            </a:r>
          </a:p>
        </p:txBody>
      </p:sp>
      <p:sp>
        <p:nvSpPr>
          <p:cNvPr id="6" name="">
            <a:extLst xmlns:a="http://schemas.openxmlformats.org/drawingml/2006/main">
              <a:ext uri="{FF2B5EF4-FFF2-40B4-BE49-F238E27FC236}">
                <a16:creationId xmlns:a16="http://schemas.microsoft.com/office/drawing/2014/main" id="{4AFE4ADD-B061-4BEC-B4D9-5121778014C8}"/>
              </a:ext>
            </a:extLst>
          </p:cNvPr>
          <p:cNvSpPr>
            <a:spLocks xmlns:a="http://schemas.openxmlformats.org/drawingml/2006/main" noGrp="1"/>
          </p:cNvSpPr>
          <p:nvPr/>
        </p:nvSpPr>
        <p:spPr>
          <a:xfrm xmlns:a="http://schemas.openxmlformats.org/drawingml/2006/main">
            <a:off x="723900" y="14668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E7C48D"/>
                </a:solidFill>
                <a:latin typeface="Aptos"/>
                <a:ea typeface="Aptos"/>
                <a:cs typeface="Aptos"/>
              </a:defRPr>
            </a:pPr>
            <a:r>
              <a:rPr sz="1275" b="1" i="0">
                <a:solidFill>
                  <a:srgbClr val="E7C48D"/>
                </a:solidFill>
                <a:latin typeface="Aptos"/>
                <a:ea typeface="Aptos"/>
                <a:cs typeface="Aptos"/>
              </a:rPr>
              <a:t>PUBLIC DISCOVERY</a:t>
            </a:r>
          </a:p>
        </p:txBody>
      </p:sp>
      <p:sp>
        <p:nvSpPr>
          <p:cNvPr id="7" name="">
            <a:extLst xmlns:a="http://schemas.openxmlformats.org/drawingml/2006/main">
              <a:ext uri="{FF2B5EF4-FFF2-40B4-BE49-F238E27FC236}">
                <a16:creationId xmlns:a16="http://schemas.microsoft.com/office/drawing/2014/main" id="{78239742-9C09-44DC-AE24-F4953E45B8A0}"/>
              </a:ext>
            </a:extLst>
          </p:cNvPr>
          <p:cNvSpPr>
            <a:spLocks xmlns:a="http://schemas.openxmlformats.org/drawingml/2006/main" noGrp="1"/>
          </p:cNvSpPr>
          <p:nvPr/>
        </p:nvSpPr>
        <p:spPr>
          <a:xfrm xmlns:a="http://schemas.openxmlformats.org/drawingml/2006/main">
            <a:off x="733425" y="1933575"/>
            <a:ext cx="76200" cy="76200"/>
          </a:xfrm>
          <a:prstGeom xmlns:a="http://schemas.openxmlformats.org/drawingml/2006/main" prst="ellipse">
            <a:avLst/>
          </a:prstGeom>
          <a:solidFill xmlns:a="http://schemas.openxmlformats.org/drawingml/2006/main">
            <a:srgbClr val="89A98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659ACDD-24ED-4D2E-A186-9E305F8B4704}"/>
              </a:ext>
            </a:extLst>
          </p:cNvPr>
          <p:cNvSpPr>
            <a:spLocks xmlns:a="http://schemas.openxmlformats.org/drawingml/2006/main" noGrp="1"/>
          </p:cNvSpPr>
          <p:nvPr/>
        </p:nvSpPr>
        <p:spPr>
          <a:xfrm xmlns:a="http://schemas.openxmlformats.org/drawingml/2006/main">
            <a:off x="914400" y="1857375"/>
            <a:ext cx="3810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F7F5F2"/>
                </a:solidFill>
                <a:latin typeface="Aptos"/>
                <a:ea typeface="Aptos"/>
                <a:cs typeface="Aptos"/>
              </a:defRPr>
            </a:pPr>
            <a:r>
              <a:rPr sz="1500" b="0" i="0">
                <a:solidFill>
                  <a:srgbClr val="F7F5F2"/>
                </a:solidFill>
                <a:latin typeface="Aptos"/>
                <a:ea typeface="Aptos"/>
                <a:cs typeface="Aptos"/>
              </a:rPr>
              <a:t>Prayer and start time</a:t>
            </a:r>
          </a:p>
        </p:txBody>
      </p:sp>
      <p:sp>
        <p:nvSpPr>
          <p:cNvPr id="9" name="">
            <a:extLst xmlns:a="http://schemas.openxmlformats.org/drawingml/2006/main">
              <a:ext uri="{FF2B5EF4-FFF2-40B4-BE49-F238E27FC236}">
                <a16:creationId xmlns:a16="http://schemas.microsoft.com/office/drawing/2014/main" id="{59C99D30-802A-4302-9E3F-A50B16D749E4}"/>
              </a:ext>
            </a:extLst>
          </p:cNvPr>
          <p:cNvSpPr>
            <a:spLocks xmlns:a="http://schemas.openxmlformats.org/drawingml/2006/main" noGrp="1"/>
          </p:cNvSpPr>
          <p:nvPr/>
        </p:nvSpPr>
        <p:spPr>
          <a:xfrm xmlns:a="http://schemas.openxmlformats.org/drawingml/2006/main">
            <a:off x="733425" y="2390775"/>
            <a:ext cx="76200" cy="76200"/>
          </a:xfrm>
          <a:prstGeom xmlns:a="http://schemas.openxmlformats.org/drawingml/2006/main" prst="ellipse">
            <a:avLst/>
          </a:prstGeom>
          <a:solidFill xmlns:a="http://schemas.openxmlformats.org/drawingml/2006/main">
            <a:srgbClr val="89A98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7A56126-92CA-498C-A02A-B62CE1E57004}"/>
              </a:ext>
            </a:extLst>
          </p:cNvPr>
          <p:cNvSpPr>
            <a:spLocks xmlns:a="http://schemas.openxmlformats.org/drawingml/2006/main" noGrp="1"/>
          </p:cNvSpPr>
          <p:nvPr/>
        </p:nvSpPr>
        <p:spPr>
          <a:xfrm xmlns:a="http://schemas.openxmlformats.org/drawingml/2006/main">
            <a:off x="914400" y="2314575"/>
            <a:ext cx="3810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F7F5F2"/>
                </a:solidFill>
                <a:latin typeface="Aptos"/>
                <a:ea typeface="Aptos"/>
                <a:cs typeface="Aptos"/>
              </a:defRPr>
            </a:pPr>
            <a:r>
              <a:rPr sz="1500" b="0" i="0">
                <a:solidFill>
                  <a:srgbClr val="F7F5F2"/>
                </a:solidFill>
                <a:latin typeface="Aptos"/>
                <a:ea typeface="Aptos"/>
                <a:cs typeface="Aptos"/>
              </a:rPr>
              <a:t>Approximate area</a:t>
            </a:r>
          </a:p>
        </p:txBody>
      </p:sp>
      <p:sp>
        <p:nvSpPr>
          <p:cNvPr id="11" name="">
            <a:extLst xmlns:a="http://schemas.openxmlformats.org/drawingml/2006/main">
              <a:ext uri="{FF2B5EF4-FFF2-40B4-BE49-F238E27FC236}">
                <a16:creationId xmlns:a16="http://schemas.microsoft.com/office/drawing/2014/main" id="{3518EA86-4A02-4DC9-A466-5CE73FA00C25}"/>
              </a:ext>
            </a:extLst>
          </p:cNvPr>
          <p:cNvSpPr>
            <a:spLocks xmlns:a="http://schemas.openxmlformats.org/drawingml/2006/main" noGrp="1"/>
          </p:cNvSpPr>
          <p:nvPr/>
        </p:nvSpPr>
        <p:spPr>
          <a:xfrm xmlns:a="http://schemas.openxmlformats.org/drawingml/2006/main">
            <a:off x="733425" y="2847975"/>
            <a:ext cx="76200" cy="76200"/>
          </a:xfrm>
          <a:prstGeom xmlns:a="http://schemas.openxmlformats.org/drawingml/2006/main" prst="ellipse">
            <a:avLst/>
          </a:prstGeom>
          <a:solidFill xmlns:a="http://schemas.openxmlformats.org/drawingml/2006/main">
            <a:srgbClr val="89A98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90169E8-D06D-4B72-ABC9-30981605F29C}"/>
              </a:ext>
            </a:extLst>
          </p:cNvPr>
          <p:cNvSpPr>
            <a:spLocks xmlns:a="http://schemas.openxmlformats.org/drawingml/2006/main" noGrp="1"/>
          </p:cNvSpPr>
          <p:nvPr/>
        </p:nvSpPr>
        <p:spPr>
          <a:xfrm xmlns:a="http://schemas.openxmlformats.org/drawingml/2006/main">
            <a:off x="914400" y="2771775"/>
            <a:ext cx="3810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F7F5F2"/>
                </a:solidFill>
                <a:latin typeface="Aptos"/>
                <a:ea typeface="Aptos"/>
                <a:cs typeface="Aptos"/>
              </a:defRPr>
            </a:pPr>
            <a:r>
              <a:rPr sz="1500" b="0" i="0">
                <a:solidFill>
                  <a:srgbClr val="F7F5F2"/>
                </a:solidFill>
                <a:latin typeface="Aptos"/>
                <a:ea typeface="Aptos"/>
                <a:cs typeface="Aptos"/>
              </a:rPr>
              <a:t>Participant count</a:t>
            </a:r>
          </a:p>
        </p:txBody>
      </p:sp>
      <p:sp>
        <p:nvSpPr>
          <p:cNvPr id="13" name="">
            <a:extLst xmlns:a="http://schemas.openxmlformats.org/drawingml/2006/main">
              <a:ext uri="{FF2B5EF4-FFF2-40B4-BE49-F238E27FC236}">
                <a16:creationId xmlns:a16="http://schemas.microsoft.com/office/drawing/2014/main" id="{E561A7C0-FEC6-4856-9EB1-EDB0D6FDFFF7}"/>
              </a:ext>
            </a:extLst>
          </p:cNvPr>
          <p:cNvSpPr>
            <a:spLocks xmlns:a="http://schemas.openxmlformats.org/drawingml/2006/main" noGrp="1"/>
          </p:cNvSpPr>
          <p:nvPr/>
        </p:nvSpPr>
        <p:spPr>
          <a:xfrm xmlns:a="http://schemas.openxmlformats.org/drawingml/2006/main">
            <a:off x="723900" y="34290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E7C48D"/>
                </a:solidFill>
                <a:latin typeface="Aptos"/>
                <a:ea typeface="Aptos"/>
                <a:cs typeface="Aptos"/>
              </a:defRPr>
            </a:pPr>
            <a:r>
              <a:rPr sz="1275" b="1" i="0">
                <a:solidFill>
                  <a:srgbClr val="E7C48D"/>
                </a:solidFill>
                <a:latin typeface="Aptos"/>
                <a:ea typeface="Aptos"/>
                <a:cs typeface="Aptos"/>
              </a:rPr>
              <a:t>PROTECTED ACCESS</a:t>
            </a:r>
          </a:p>
        </p:txBody>
      </p:sp>
      <p:sp>
        <p:nvSpPr>
          <p:cNvPr id="14" name="">
            <a:extLst xmlns:a="http://schemas.openxmlformats.org/drawingml/2006/main">
              <a:ext uri="{FF2B5EF4-FFF2-40B4-BE49-F238E27FC236}">
                <a16:creationId xmlns:a16="http://schemas.microsoft.com/office/drawing/2014/main" id="{5AD2451C-17F1-4D02-954E-89899755F452}"/>
              </a:ext>
            </a:extLst>
          </p:cNvPr>
          <p:cNvSpPr>
            <a:spLocks xmlns:a="http://schemas.openxmlformats.org/drawingml/2006/main" noGrp="1"/>
          </p:cNvSpPr>
          <p:nvPr/>
        </p:nvSpPr>
        <p:spPr>
          <a:xfrm xmlns:a="http://schemas.openxmlformats.org/drawingml/2006/main">
            <a:off x="733425" y="3895725"/>
            <a:ext cx="76200" cy="76200"/>
          </a:xfrm>
          <a:prstGeom xmlns:a="http://schemas.openxmlformats.org/drawingml/2006/main" prst="ellipse">
            <a:avLst/>
          </a:prstGeom>
          <a:solidFill xmlns:a="http://schemas.openxmlformats.org/drawingml/2006/main">
            <a:srgbClr val="89A98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125FD70-DF03-4BDB-B5AD-8A5DDF774708}"/>
              </a:ext>
            </a:extLst>
          </p:cNvPr>
          <p:cNvSpPr>
            <a:spLocks xmlns:a="http://schemas.openxmlformats.org/drawingml/2006/main" noGrp="1"/>
          </p:cNvSpPr>
          <p:nvPr/>
        </p:nvSpPr>
        <p:spPr>
          <a:xfrm xmlns:a="http://schemas.openxmlformats.org/drawingml/2006/main">
            <a:off x="914400" y="3819525"/>
            <a:ext cx="3905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F7F5F2"/>
                </a:solidFill>
                <a:latin typeface="Aptos"/>
                <a:ea typeface="Aptos"/>
                <a:cs typeface="Aptos"/>
              </a:defRPr>
            </a:pPr>
            <a:r>
              <a:rPr sz="1500" b="0" i="0">
                <a:solidFill>
                  <a:srgbClr val="F7F5F2"/>
                </a:solidFill>
                <a:latin typeface="Aptos"/>
                <a:ea typeface="Aptos"/>
                <a:cs typeface="Aptos"/>
              </a:rPr>
              <a:t>Exact address</a:t>
            </a:r>
          </a:p>
        </p:txBody>
      </p:sp>
      <p:sp>
        <p:nvSpPr>
          <p:cNvPr id="16" name="">
            <a:extLst xmlns:a="http://schemas.openxmlformats.org/drawingml/2006/main">
              <a:ext uri="{FF2B5EF4-FFF2-40B4-BE49-F238E27FC236}">
                <a16:creationId xmlns:a16="http://schemas.microsoft.com/office/drawing/2014/main" id="{42CC69F6-002C-4BC6-87DC-60B485DE1993}"/>
              </a:ext>
            </a:extLst>
          </p:cNvPr>
          <p:cNvSpPr>
            <a:spLocks xmlns:a="http://schemas.openxmlformats.org/drawingml/2006/main" noGrp="1"/>
          </p:cNvSpPr>
          <p:nvPr/>
        </p:nvSpPr>
        <p:spPr>
          <a:xfrm xmlns:a="http://schemas.openxmlformats.org/drawingml/2006/main">
            <a:off x="733425" y="4352925"/>
            <a:ext cx="76200" cy="76200"/>
          </a:xfrm>
          <a:prstGeom xmlns:a="http://schemas.openxmlformats.org/drawingml/2006/main" prst="ellipse">
            <a:avLst/>
          </a:prstGeom>
          <a:solidFill xmlns:a="http://schemas.openxmlformats.org/drawingml/2006/main">
            <a:srgbClr val="89A98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4DA9561-415D-4F9D-9205-8310777E47FC}"/>
              </a:ext>
            </a:extLst>
          </p:cNvPr>
          <p:cNvSpPr>
            <a:spLocks xmlns:a="http://schemas.openxmlformats.org/drawingml/2006/main" noGrp="1"/>
          </p:cNvSpPr>
          <p:nvPr/>
        </p:nvSpPr>
        <p:spPr>
          <a:xfrm xmlns:a="http://schemas.openxmlformats.org/drawingml/2006/main">
            <a:off x="914400" y="4276725"/>
            <a:ext cx="3905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F7F5F2"/>
                </a:solidFill>
                <a:latin typeface="Aptos"/>
                <a:ea typeface="Aptos"/>
                <a:cs typeface="Aptos"/>
              </a:defRPr>
            </a:pPr>
            <a:r>
              <a:rPr sz="1500" b="0" i="0">
                <a:solidFill>
                  <a:srgbClr val="F7F5F2"/>
                </a:solidFill>
                <a:latin typeface="Aptos"/>
                <a:ea typeface="Aptos"/>
                <a:cs typeface="Aptos"/>
              </a:rPr>
              <a:t>Location image</a:t>
            </a:r>
          </a:p>
        </p:txBody>
      </p:sp>
      <p:sp>
        <p:nvSpPr>
          <p:cNvPr id="18" name="">
            <a:extLst xmlns:a="http://schemas.openxmlformats.org/drawingml/2006/main">
              <a:ext uri="{FF2B5EF4-FFF2-40B4-BE49-F238E27FC236}">
                <a16:creationId xmlns:a16="http://schemas.microsoft.com/office/drawing/2014/main" id="{D5451342-78F2-4565-89BF-3116F4F21B3F}"/>
              </a:ext>
            </a:extLst>
          </p:cNvPr>
          <p:cNvSpPr>
            <a:spLocks xmlns:a="http://schemas.openxmlformats.org/drawingml/2006/main" noGrp="1"/>
          </p:cNvSpPr>
          <p:nvPr/>
        </p:nvSpPr>
        <p:spPr>
          <a:xfrm xmlns:a="http://schemas.openxmlformats.org/drawingml/2006/main">
            <a:off x="733425" y="4810125"/>
            <a:ext cx="76200" cy="76200"/>
          </a:xfrm>
          <a:prstGeom xmlns:a="http://schemas.openxmlformats.org/drawingml/2006/main" prst="ellipse">
            <a:avLst/>
          </a:prstGeom>
          <a:solidFill xmlns:a="http://schemas.openxmlformats.org/drawingml/2006/main">
            <a:srgbClr val="89A98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1E2EA5E-2976-49C2-9539-88CB7900F0B7}"/>
              </a:ext>
            </a:extLst>
          </p:cNvPr>
          <p:cNvSpPr>
            <a:spLocks xmlns:a="http://schemas.openxmlformats.org/drawingml/2006/main" noGrp="1"/>
          </p:cNvSpPr>
          <p:nvPr/>
        </p:nvSpPr>
        <p:spPr>
          <a:xfrm xmlns:a="http://schemas.openxmlformats.org/drawingml/2006/main">
            <a:off x="914400" y="4733925"/>
            <a:ext cx="3905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F7F5F2"/>
                </a:solidFill>
                <a:latin typeface="Aptos"/>
                <a:ea typeface="Aptos"/>
                <a:cs typeface="Aptos"/>
              </a:defRPr>
            </a:pPr>
            <a:r>
              <a:rPr sz="1500" b="0" i="0">
                <a:solidFill>
                  <a:srgbClr val="F7F5F2"/>
                </a:solidFill>
                <a:latin typeface="Aptos"/>
                <a:ea typeface="Aptos"/>
                <a:cs typeface="Aptos"/>
              </a:rPr>
              <a:t>Participant-only information</a:t>
            </a:r>
          </a:p>
        </p:txBody>
      </p:sp>
      <p:sp>
        <p:nvSpPr>
          <p:cNvPr id="20" name="">
            <a:extLst xmlns:a="http://schemas.openxmlformats.org/drawingml/2006/main">
              <a:ext uri="{FF2B5EF4-FFF2-40B4-BE49-F238E27FC236}">
                <a16:creationId xmlns:a16="http://schemas.microsoft.com/office/drawing/2014/main" id="{5F14168E-CD17-4253-BB0E-5443AF9C04C0}"/>
              </a:ext>
            </a:extLst>
          </p:cNvPr>
          <p:cNvSpPr>
            <a:spLocks xmlns:a="http://schemas.openxmlformats.org/drawingml/2006/main" noGrp="1"/>
          </p:cNvSpPr>
          <p:nvPr/>
        </p:nvSpPr>
        <p:spPr>
          <a:xfrm xmlns:a="http://schemas.openxmlformats.org/drawingml/2006/main">
            <a:off x="723900" y="539115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00" b="1" i="0">
                <a:solidFill>
                  <a:srgbClr val="E7C48D"/>
                </a:solidFill>
                <a:latin typeface="Aptos"/>
                <a:ea typeface="Aptos"/>
                <a:cs typeface="Aptos"/>
              </a:defRPr>
            </a:pPr>
            <a:r>
              <a:rPr sz="1200" b="1" i="0">
                <a:solidFill>
                  <a:srgbClr val="E7C48D"/>
                </a:solidFill>
                <a:latin typeface="Aptos"/>
                <a:ea typeface="Aptos"/>
                <a:cs typeface="Aptos"/>
              </a:rPr>
              <a:t>BACKEND ENFORCEMENT</a:t>
            </a:r>
          </a:p>
        </p:txBody>
      </p:sp>
      <p:sp>
        <p:nvSpPr>
          <p:cNvPr id="21" name="">
            <a:extLst xmlns:a="http://schemas.openxmlformats.org/drawingml/2006/main">
              <a:ext uri="{FF2B5EF4-FFF2-40B4-BE49-F238E27FC236}">
                <a16:creationId xmlns:a16="http://schemas.microsoft.com/office/drawing/2014/main" id="{420B842B-CFF1-4292-AD47-95ADE7171C69}"/>
              </a:ext>
            </a:extLst>
          </p:cNvPr>
          <p:cNvSpPr>
            <a:spLocks xmlns:a="http://schemas.openxmlformats.org/drawingml/2006/main" noGrp="1"/>
          </p:cNvSpPr>
          <p:nvPr/>
        </p:nvSpPr>
        <p:spPr>
          <a:xfrm xmlns:a="http://schemas.openxmlformats.org/drawingml/2006/main">
            <a:off x="723900" y="56959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00" b="0" i="0">
                <a:solidFill>
                  <a:srgbClr val="F7F5F2"/>
                </a:solidFill>
                <a:latin typeface="Aptos"/>
                <a:ea typeface="Aptos"/>
                <a:cs typeface="Aptos"/>
              </a:defRPr>
            </a:pPr>
            <a:r>
              <a:rPr sz="1200" b="0" i="0">
                <a:solidFill>
                  <a:srgbClr val="F7F5F2"/>
                </a:solidFill>
                <a:latin typeface="Aptos"/>
                <a:ea typeface="Aptos"/>
                <a:cs typeface="Aptos"/>
              </a:rPr>
              <a:t>Private Storage  /  RLS  /  authenticated functions  /  reports, blocks and deletion</a:t>
            </a:r>
          </a:p>
        </p:txBody>
      </p:sp>
      <p:sp>
        <p:nvSpPr>
          <p:cNvPr id="22" name="">
            <a:extLst xmlns:a="http://schemas.openxmlformats.org/drawingml/2006/main">
              <a:ext uri="{FF2B5EF4-FFF2-40B4-BE49-F238E27FC236}">
                <a16:creationId xmlns:a16="http://schemas.microsoft.com/office/drawing/2014/main" id="{DB4C4559-6FD6-448D-8C8E-8978DBCA8B7A}"/>
              </a:ext>
            </a:extLst>
          </p:cNvPr>
          <p:cNvSpPr>
            <a:spLocks xmlns:a="http://schemas.openxmlformats.org/drawingml/2006/main" noGrp="1"/>
          </p:cNvSpPr>
          <p:nvPr/>
        </p:nvSpPr>
        <p:spPr>
          <a:xfrm xmlns:a="http://schemas.openxmlformats.org/drawingml/2006/main">
            <a:off x="7334250" y="1543050"/>
            <a:ext cx="3467100" cy="3467100"/>
          </a:xfrm>
          <a:prstGeom xmlns:a="http://schemas.openxmlformats.org/drawingml/2006/main" prst="ellipse">
            <a:avLst/>
          </a:prstGeom>
          <a:solidFill xmlns:a="http://schemas.openxmlformats.org/drawingml/2006/main">
            <a:srgbClr val="FFFFFF">
              <a:alpha val="4000"/>
            </a:srgbClr>
          </a:solidFill>
          <a:ln xmlns:a="http://schemas.openxmlformats.org/drawingml/2006/main" w="28575">
            <a:solidFill>
              <a:srgbClr val="89A98F"/>
            </a:solidFill>
            <a:prstDash val="solid"/>
          </a:ln>
        </p:spPr>
      </p:sp>
      <p:sp>
        <p:nvSpPr>
          <p:cNvPr id="23" name="">
            <a:extLst xmlns:a="http://schemas.openxmlformats.org/drawingml/2006/main">
              <a:ext uri="{FF2B5EF4-FFF2-40B4-BE49-F238E27FC236}">
                <a16:creationId xmlns:a16="http://schemas.microsoft.com/office/drawing/2014/main" id="{E6F1D949-738A-43C3-8271-6F176CB45242}"/>
              </a:ext>
            </a:extLst>
          </p:cNvPr>
          <p:cNvSpPr>
            <a:spLocks xmlns:a="http://schemas.openxmlformats.org/drawingml/2006/main" noGrp="1"/>
          </p:cNvSpPr>
          <p:nvPr/>
        </p:nvSpPr>
        <p:spPr>
          <a:xfrm xmlns:a="http://schemas.openxmlformats.org/drawingml/2006/main">
            <a:off x="8096250" y="2305050"/>
            <a:ext cx="1943100" cy="1943100"/>
          </a:xfrm>
          <a:prstGeom xmlns:a="http://schemas.openxmlformats.org/drawingml/2006/main" prst="ellipse">
            <a:avLst/>
          </a:prstGeom>
          <a:solidFill xmlns:a="http://schemas.openxmlformats.org/drawingml/2006/main">
            <a:srgbClr val="E7C48D">
              <a:alpha val="12000"/>
            </a:srgbClr>
          </a:solidFill>
          <a:ln xmlns:a="http://schemas.openxmlformats.org/drawingml/2006/main" w="28575">
            <a:solidFill>
              <a:srgbClr val="E7C48D"/>
            </a:solidFill>
            <a:prstDash val="solid"/>
          </a:ln>
        </p:spPr>
      </p:sp>
      <p:sp>
        <p:nvSpPr>
          <p:cNvPr id="24" name="">
            <a:extLst xmlns:a="http://schemas.openxmlformats.org/drawingml/2006/main">
              <a:ext uri="{FF2B5EF4-FFF2-40B4-BE49-F238E27FC236}">
                <a16:creationId xmlns:a16="http://schemas.microsoft.com/office/drawing/2014/main" id="{8EEE5373-38EB-45CA-AA55-E95771DFAE3A}"/>
              </a:ext>
            </a:extLst>
          </p:cNvPr>
          <p:cNvSpPr>
            <a:spLocks xmlns:a="http://schemas.openxmlformats.org/drawingml/2006/main" noGrp="1"/>
          </p:cNvSpPr>
          <p:nvPr/>
        </p:nvSpPr>
        <p:spPr>
          <a:xfrm xmlns:a="http://schemas.openxmlformats.org/drawingml/2006/main">
            <a:off x="7620000" y="17621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350" b="1" i="0">
                <a:solidFill>
                  <a:srgbClr val="F7F5F2"/>
                </a:solidFill>
                <a:latin typeface="Aptos"/>
                <a:ea typeface="Aptos"/>
                <a:cs typeface="Aptos"/>
              </a:defRPr>
            </a:pPr>
            <a:r>
              <a:rPr sz="1350" b="1" i="0">
                <a:solidFill>
                  <a:srgbClr val="F7F5F2"/>
                </a:solidFill>
                <a:latin typeface="Aptos"/>
                <a:ea typeface="Aptos"/>
                <a:cs typeface="Aptos"/>
              </a:rPr>
              <a:t>APPROXIMATE</a:t>
            </a:r>
          </a:p>
          <a:p xmlns:a="http://schemas.openxmlformats.org/drawingml/2006/main">
            <a:pPr algn="ctr">
              <a:lnSpc>
                <a:spcPct val="102000"/>
              </a:lnSpc>
              <a:buNone/>
              <a:defRPr sz="1350" b="1" i="0">
                <a:solidFill>
                  <a:srgbClr val="F7F5F2"/>
                </a:solidFill>
                <a:latin typeface="Aptos"/>
                <a:ea typeface="Aptos"/>
                <a:cs typeface="Aptos"/>
              </a:defRPr>
            </a:pPr>
            <a:r>
              <a:rPr sz="1350" b="1" i="0">
                <a:solidFill>
                  <a:srgbClr val="F7F5F2"/>
                </a:solidFill>
                <a:latin typeface="Aptos"/>
                <a:ea typeface="Aptos"/>
                <a:cs typeface="Aptos"/>
              </a:rPr>
              <a:t>PUBLIC ZONE</a:t>
            </a:r>
          </a:p>
        </p:txBody>
      </p:sp>
      <p:sp>
        <p:nvSpPr>
          <p:cNvPr id="25" name="">
            <a:extLst xmlns:a="http://schemas.openxmlformats.org/drawingml/2006/main">
              <a:ext uri="{FF2B5EF4-FFF2-40B4-BE49-F238E27FC236}">
                <a16:creationId xmlns:a16="http://schemas.microsoft.com/office/drawing/2014/main" id="{795F2D81-6BEC-46EB-B51F-F396EC4FD1EE}"/>
              </a:ext>
            </a:extLst>
          </p:cNvPr>
          <p:cNvSpPr>
            <a:spLocks xmlns:a="http://schemas.openxmlformats.org/drawingml/2006/main" noGrp="1"/>
          </p:cNvSpPr>
          <p:nvPr/>
        </p:nvSpPr>
        <p:spPr>
          <a:xfrm xmlns:a="http://schemas.openxmlformats.org/drawingml/2006/main">
            <a:off x="8334375" y="2895600"/>
            <a:ext cx="1466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2000"/>
              </a:lnSpc>
              <a:buNone/>
              <a:defRPr sz="1350" b="1" i="0">
                <a:solidFill>
                  <a:srgbClr val="E7C48D"/>
                </a:solidFill>
                <a:latin typeface="Aptos"/>
                <a:ea typeface="Aptos"/>
                <a:cs typeface="Aptos"/>
              </a:defRPr>
            </a:pPr>
            <a:r>
              <a:rPr sz="1350" b="1" i="0">
                <a:solidFill>
                  <a:srgbClr val="E7C48D"/>
                </a:solidFill>
                <a:latin typeface="Aptos"/>
                <a:ea typeface="Aptos"/>
                <a:cs typeface="Aptos"/>
              </a:rPr>
              <a:t>EXACT</a:t>
            </a:r>
          </a:p>
          <a:p xmlns:a="http://schemas.openxmlformats.org/drawingml/2006/main">
            <a:pPr algn="ctr">
              <a:lnSpc>
                <a:spcPct val="102000"/>
              </a:lnSpc>
              <a:buNone/>
              <a:defRPr sz="1350" b="1" i="0">
                <a:solidFill>
                  <a:srgbClr val="E7C48D"/>
                </a:solidFill>
                <a:latin typeface="Aptos"/>
                <a:ea typeface="Aptos"/>
                <a:cs typeface="Aptos"/>
              </a:defRPr>
            </a:pPr>
            <a:r>
              <a:rPr sz="1350" b="1" i="0">
                <a:solidFill>
                  <a:srgbClr val="E7C48D"/>
                </a:solidFill>
                <a:latin typeface="Aptos"/>
                <a:ea typeface="Aptos"/>
                <a:cs typeface="Aptos"/>
              </a:rPr>
              <a:t>PARTICIPANT ZONE</a:t>
            </a:r>
          </a:p>
        </p:txBody>
      </p:sp>
      <p:sp>
        <p:nvSpPr>
          <p:cNvPr id="26" name="">
            <a:extLst xmlns:a="http://schemas.openxmlformats.org/drawingml/2006/main">
              <a:ext uri="{FF2B5EF4-FFF2-40B4-BE49-F238E27FC236}">
                <a16:creationId xmlns:a16="http://schemas.microsoft.com/office/drawing/2014/main" id="{DD34EC3A-62F4-4F93-91C7-F593331A0A95}"/>
              </a:ext>
            </a:extLst>
          </p:cNvPr>
          <p:cNvSpPr>
            <a:spLocks xmlns:a="http://schemas.openxmlformats.org/drawingml/2006/main" noGrp="1"/>
          </p:cNvSpPr>
          <p:nvPr/>
        </p:nvSpPr>
        <p:spPr>
          <a:xfrm xmlns:a="http://schemas.openxmlformats.org/drawingml/2006/main">
            <a:off x="552450" y="65341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825" b="1" i="0">
                <a:solidFill>
                  <a:srgbClr val="AEB7B8"/>
                </a:solidFill>
                <a:latin typeface="Aptos"/>
                <a:ea typeface="Aptos"/>
                <a:cs typeface="Aptos"/>
              </a:defRPr>
            </a:pPr>
            <a:r>
              <a:rPr sz="825" b="1" i="0">
                <a:solidFill>
                  <a:srgbClr val="AEB7B8"/>
                </a:solidFill>
                <a:latin typeface="Aptos"/>
                <a:ea typeface="Aptos"/>
                <a:cs typeface="Aptos"/>
              </a:rPr>
              <a:t>JAMAA NEXT DOOR</a:t>
            </a:r>
          </a:p>
        </p:txBody>
      </p:sp>
      <p:sp>
        <p:nvSpPr>
          <p:cNvPr id="27" name="">
            <a:extLst xmlns:a="http://schemas.openxmlformats.org/drawingml/2006/main">
              <a:ext uri="{FF2B5EF4-FFF2-40B4-BE49-F238E27FC236}">
                <a16:creationId xmlns:a16="http://schemas.microsoft.com/office/drawing/2014/main" id="{671F9A95-6163-4D63-9315-C7D0307376AB}"/>
              </a:ext>
            </a:extLst>
          </p:cNvPr>
          <p:cNvSpPr>
            <a:spLocks xmlns:a="http://schemas.openxmlformats.org/drawingml/2006/main" noGrp="1"/>
          </p:cNvSpPr>
          <p:nvPr/>
        </p:nvSpPr>
        <p:spPr>
          <a:xfrm xmlns:a="http://schemas.openxmlformats.org/drawingml/2006/main">
            <a:off x="1125855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900" b="1" i="0">
                <a:solidFill>
                  <a:srgbClr val="E7C48D"/>
                </a:solidFill>
                <a:latin typeface="Aptos"/>
                <a:ea typeface="Aptos"/>
                <a:cs typeface="Aptos"/>
              </a:defRPr>
            </a:pPr>
            <a:r>
              <a:rPr sz="900" b="1" i="0">
                <a:solidFill>
                  <a:srgbClr val="E7C48D"/>
                </a:solidFill>
                <a:latin typeface="Aptos"/>
                <a:ea typeface="Aptos"/>
                <a:cs typeface="Aptos"/>
              </a:rPr>
              <a:t>07</a:t>
            </a:r>
          </a:p>
        </p:txBody>
      </p:sp>
    </p:spTree>
    <p:extLst>
      <p:ext uri="{BB962C8B-B14F-4D97-AF65-F5344CB8AC3E}">
        <p14:creationId xmlns:p14="http://schemas.microsoft.com/office/powerpoint/2010/main" val="842428592"/>
      </p:ext>
    </p:extLst>
  </p:cSld>
</p:sld>
</file>

<file path=ppt/slides/slide8.xml><?xml version="1.0" encoding="utf-8"?>
<p:sld xmlns:p="http://schemas.openxmlformats.org/presentationml/2006/main">
  <p:cSld>
    <p:bg>
      <p:bgPr>
        <a:solidFill xmlns:a="http://schemas.openxmlformats.org/drawingml/2006/main">
          <a:srgbClr val="F7F5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1C024A5-EE3F-4F03-923D-ABFD4BEA758F}"/>
              </a:ext>
            </a:extLst>
          </p:cNvPr>
          <p:cNvSpPr>
            <a:spLocks xmlns:a="http://schemas.openxmlformats.org/drawingml/2006/main" noGrp="1"/>
          </p:cNvSpPr>
          <p:nvPr/>
        </p:nvSpPr>
        <p:spPr>
          <a:xfrm xmlns:a="http://schemas.openxmlformats.org/drawingml/2006/main">
            <a:off x="552450" y="3238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E7C48D"/>
                </a:solidFill>
                <a:latin typeface="Aptos"/>
                <a:ea typeface="Aptos"/>
                <a:cs typeface="Aptos"/>
              </a:defRPr>
            </a:pPr>
            <a:r>
              <a:rPr sz="1275" b="1" i="0">
                <a:solidFill>
                  <a:srgbClr val="E7C48D"/>
                </a:solidFill>
                <a:latin typeface="Aptos"/>
                <a:ea typeface="Aptos"/>
                <a:cs typeface="Aptos"/>
              </a:rPr>
              <a:t>08</a:t>
            </a:r>
          </a:p>
        </p:txBody>
      </p:sp>
      <p:sp>
        <p:nvSpPr>
          <p:cNvPr id="2" name="">
            <a:extLst xmlns:a="http://schemas.openxmlformats.org/drawingml/2006/main">
              <a:ext uri="{FF2B5EF4-FFF2-40B4-BE49-F238E27FC236}">
                <a16:creationId xmlns:a16="http://schemas.microsoft.com/office/drawing/2014/main" id="{2CFBE368-9B48-4007-A61E-1C788C764ED4}"/>
              </a:ext>
            </a:extLst>
          </p:cNvPr>
          <p:cNvSpPr>
            <a:spLocks xmlns:a="http://schemas.openxmlformats.org/drawingml/2006/main" noGrp="1"/>
          </p:cNvSpPr>
          <p:nvPr/>
        </p:nvSpPr>
        <p:spPr>
          <a:xfrm xmlns:a="http://schemas.openxmlformats.org/drawingml/2006/main" flipH="0" flipV="0">
            <a:off x="1104900" y="447675"/>
            <a:ext cx="514350" cy="0"/>
          </a:xfrm>
          <a:prstGeom xmlns:a="http://schemas.openxmlformats.org/drawingml/2006/main" prst="line">
            <a:avLst/>
          </a:prstGeom>
          <a:noFill xmlns:a="http://schemas.openxmlformats.org/drawingml/2006/main"/>
          <a:ln xmlns:a="http://schemas.openxmlformats.org/drawingml/2006/main" w="19050">
            <a:solidFill>
              <a:srgbClr val="E7C48D"/>
            </a:solidFill>
            <a:prstDash val="solid"/>
          </a:ln>
        </p:spPr>
      </p:sp>
      <p:sp>
        <p:nvSpPr>
          <p:cNvPr id="3" name="">
            <a:extLst xmlns:a="http://schemas.openxmlformats.org/drawingml/2006/main">
              <a:ext uri="{FF2B5EF4-FFF2-40B4-BE49-F238E27FC236}">
                <a16:creationId xmlns:a16="http://schemas.microsoft.com/office/drawing/2014/main" id="{E9E8F9FA-53D1-4420-8191-F191772C81DA}"/>
              </a:ext>
            </a:extLst>
          </p:cNvPr>
          <p:cNvSpPr>
            <a:spLocks xmlns:a="http://schemas.openxmlformats.org/drawingml/2006/main" noGrp="1"/>
          </p:cNvSpPr>
          <p:nvPr/>
        </p:nvSpPr>
        <p:spPr>
          <a:xfrm xmlns:a="http://schemas.openxmlformats.org/drawingml/2006/main">
            <a:off x="1790700" y="247650"/>
            <a:ext cx="9848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280"/>
          </a:bodyPr>
          <a:lstStyle xmlns:a="http://schemas.openxmlformats.org/drawingml/2006/main"/>
          <a:p xmlns:a="http://schemas.openxmlformats.org/drawingml/2006/main">
            <a:pPr algn="l">
              <a:lnSpc>
                <a:spcPct val="102000"/>
              </a:lnSpc>
              <a:buNone/>
              <a:defRPr sz="2850" b="1" i="0">
                <a:solidFill>
                  <a:srgbClr val="16363B"/>
                </a:solidFill>
                <a:latin typeface="Georgia"/>
                <a:ea typeface="Georgia"/>
                <a:cs typeface="Georgia"/>
              </a:defRPr>
            </a:pPr>
            <a:r>
              <a:rPr sz="2850" b="1" i="0">
                <a:solidFill>
                  <a:srgbClr val="16363B"/>
                </a:solidFill>
                <a:latin typeface="Georgia"/>
                <a:ea typeface="Georgia"/>
                <a:cs typeface="Georgia"/>
              </a:rPr>
              <a:t>A standalone APK connects focused mobile layers to Supabase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6645c61e7064973"/>
          <a:stretch xmlns:a="http://schemas.openxmlformats.org/drawingml/2006/main"/>
        </p:blipFill>
        <p:spPr>
          <a:xfrm xmlns:a="http://schemas.openxmlformats.org/drawingml/2006/main">
            <a:off x="2165684" y="1143000"/>
            <a:ext cx="7860632" cy="3733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BF64862-7265-46E1-9061-102A8AC69AEF}"/>
              </a:ext>
            </a:extLst>
          </p:cNvPr>
          <p:cNvSpPr>
            <a:spLocks xmlns:a="http://schemas.openxmlformats.org/drawingml/2006/main" noGrp="1"/>
          </p:cNvSpPr>
          <p:nvPr/>
        </p:nvSpPr>
        <p:spPr>
          <a:xfrm xmlns:a="http://schemas.openxmlformats.org/drawingml/2006/main" flipH="0" flipV="0">
            <a:off x="1276350" y="5181600"/>
            <a:ext cx="9620250" cy="0"/>
          </a:xfrm>
          <a:prstGeom xmlns:a="http://schemas.openxmlformats.org/drawingml/2006/main" prst="line">
            <a:avLst/>
          </a:prstGeom>
          <a:noFill xmlns:a="http://schemas.openxmlformats.org/drawingml/2006/main"/>
          <a:ln xmlns:a="http://schemas.openxmlformats.org/drawingml/2006/main" w="19050">
            <a:solidFill>
              <a:srgbClr val="E7C48D"/>
            </a:solidFill>
            <a:prstDash val="solid"/>
          </a:ln>
        </p:spPr>
      </p:sp>
      <p:sp>
        <p:nvSpPr>
          <p:cNvPr id="6" name="">
            <a:extLst xmlns:a="http://schemas.openxmlformats.org/drawingml/2006/main">
              <a:ext uri="{FF2B5EF4-FFF2-40B4-BE49-F238E27FC236}">
                <a16:creationId xmlns:a16="http://schemas.microsoft.com/office/drawing/2014/main" id="{7A558A70-DE5B-49D4-B365-24FA4227AA68}"/>
              </a:ext>
            </a:extLst>
          </p:cNvPr>
          <p:cNvSpPr>
            <a:spLocks xmlns:a="http://schemas.openxmlformats.org/drawingml/2006/main" noGrp="1"/>
          </p:cNvSpPr>
          <p:nvPr/>
        </p:nvSpPr>
        <p:spPr>
          <a:xfrm xmlns:a="http://schemas.openxmlformats.org/drawingml/2006/main">
            <a:off x="1123950" y="53911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063E4D"/>
                </a:solidFill>
                <a:latin typeface="Aptos"/>
                <a:ea typeface="Aptos"/>
                <a:cs typeface="Aptos"/>
              </a:defRPr>
            </a:pPr>
            <a:r>
              <a:rPr sz="1125" b="1" i="0">
                <a:solidFill>
                  <a:srgbClr val="063E4D"/>
                </a:solidFill>
                <a:latin typeface="Aptos"/>
                <a:ea typeface="Aptos"/>
                <a:cs typeface="Aptos"/>
              </a:rPr>
              <a:t>ANDROID UI</a:t>
            </a:r>
          </a:p>
        </p:txBody>
      </p:sp>
      <p:sp>
        <p:nvSpPr>
          <p:cNvPr id="7" name="">
            <a:extLst xmlns:a="http://schemas.openxmlformats.org/drawingml/2006/main">
              <a:ext uri="{FF2B5EF4-FFF2-40B4-BE49-F238E27FC236}">
                <a16:creationId xmlns:a16="http://schemas.microsoft.com/office/drawing/2014/main" id="{881DC551-3B86-415E-AF02-8D3D53FBD1B7}"/>
              </a:ext>
            </a:extLst>
          </p:cNvPr>
          <p:cNvSpPr>
            <a:spLocks xmlns:a="http://schemas.openxmlformats.org/drawingml/2006/main" noGrp="1"/>
          </p:cNvSpPr>
          <p:nvPr/>
        </p:nvSpPr>
        <p:spPr>
          <a:xfrm xmlns:a="http://schemas.openxmlformats.org/drawingml/2006/main">
            <a:off x="1123950" y="56769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350" b="0" i="0">
                <a:solidFill>
                  <a:srgbClr val="16363B"/>
                </a:solidFill>
                <a:latin typeface="Aptos"/>
                <a:ea typeface="Aptos"/>
                <a:cs typeface="Aptos"/>
              </a:defRPr>
            </a:pPr>
            <a:r>
              <a:rPr sz="1350" b="0" i="0">
                <a:solidFill>
                  <a:srgbClr val="16363B"/>
                </a:solidFill>
                <a:latin typeface="Aptos"/>
                <a:ea typeface="Aptos"/>
                <a:cs typeface="Aptos"/>
              </a:rPr>
              <a:t>Expo React Native + TypeScript</a:t>
            </a:r>
          </a:p>
          <a:p xmlns:a="http://schemas.openxmlformats.org/drawingml/2006/main">
            <a:pPr algn="l">
              <a:lnSpc>
                <a:spcPct val="102000"/>
              </a:lnSpc>
              <a:buNone/>
              <a:defRPr sz="1350" b="0" i="0">
                <a:solidFill>
                  <a:srgbClr val="16363B"/>
                </a:solidFill>
                <a:latin typeface="Aptos"/>
                <a:ea typeface="Aptos"/>
                <a:cs typeface="Aptos"/>
              </a:defRPr>
            </a:pPr>
            <a:r>
              <a:rPr sz="1350" b="0" i="0">
                <a:solidFill>
                  <a:srgbClr val="16363B"/>
                </a:solidFill>
                <a:latin typeface="Aptos"/>
                <a:ea typeface="Aptos"/>
                <a:cs typeface="Aptos"/>
              </a:rPr>
              <a:t>Expo Router + deep links</a:t>
            </a:r>
          </a:p>
        </p:txBody>
      </p:sp>
      <p:sp>
        <p:nvSpPr>
          <p:cNvPr id="8" name="">
            <a:extLst xmlns:a="http://schemas.openxmlformats.org/drawingml/2006/main">
              <a:ext uri="{FF2B5EF4-FFF2-40B4-BE49-F238E27FC236}">
                <a16:creationId xmlns:a16="http://schemas.microsoft.com/office/drawing/2014/main" id="{1F581179-0890-498A-8622-049A85E09578}"/>
              </a:ext>
            </a:extLst>
          </p:cNvPr>
          <p:cNvSpPr>
            <a:spLocks xmlns:a="http://schemas.openxmlformats.org/drawingml/2006/main" noGrp="1"/>
          </p:cNvSpPr>
          <p:nvPr/>
        </p:nvSpPr>
        <p:spPr>
          <a:xfrm xmlns:a="http://schemas.openxmlformats.org/drawingml/2006/main">
            <a:off x="4476750" y="53911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063E4D"/>
                </a:solidFill>
                <a:latin typeface="Aptos"/>
                <a:ea typeface="Aptos"/>
                <a:cs typeface="Aptos"/>
              </a:defRPr>
            </a:pPr>
            <a:r>
              <a:rPr sz="1125" b="1" i="0">
                <a:solidFill>
                  <a:srgbClr val="063E4D"/>
                </a:solidFill>
                <a:latin typeface="Aptos"/>
                <a:ea typeface="Aptos"/>
                <a:cs typeface="Aptos"/>
              </a:rPr>
              <a:t>FOCUSED MOBILE LAYERS</a:t>
            </a:r>
          </a:p>
        </p:txBody>
      </p:sp>
      <p:sp>
        <p:nvSpPr>
          <p:cNvPr id="9" name="">
            <a:extLst xmlns:a="http://schemas.openxmlformats.org/drawingml/2006/main">
              <a:ext uri="{FF2B5EF4-FFF2-40B4-BE49-F238E27FC236}">
                <a16:creationId xmlns:a16="http://schemas.microsoft.com/office/drawing/2014/main" id="{25835D53-4796-4357-9A22-A7D1E53548CE}"/>
              </a:ext>
            </a:extLst>
          </p:cNvPr>
          <p:cNvSpPr>
            <a:spLocks xmlns:a="http://schemas.openxmlformats.org/drawingml/2006/main" noGrp="1"/>
          </p:cNvSpPr>
          <p:nvPr/>
        </p:nvSpPr>
        <p:spPr>
          <a:xfrm xmlns:a="http://schemas.openxmlformats.org/drawingml/2006/main">
            <a:off x="4476750" y="56769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350" b="0" i="0">
                <a:solidFill>
                  <a:srgbClr val="16363B"/>
                </a:solidFill>
                <a:latin typeface="Aptos"/>
                <a:ea typeface="Aptos"/>
                <a:cs typeface="Aptos"/>
              </a:defRPr>
            </a:pPr>
            <a:r>
              <a:rPr sz="1350" b="0" i="0">
                <a:solidFill>
                  <a:srgbClr val="16363B"/>
                </a:solidFill>
                <a:latin typeface="Aptos"/>
                <a:ea typeface="Aptos"/>
                <a:cs typeface="Aptos"/>
              </a:rPr>
              <a:t>Controllers, state holders</a:t>
            </a:r>
          </a:p>
          <a:p xmlns:a="http://schemas.openxmlformats.org/drawingml/2006/main">
            <a:pPr algn="l">
              <a:lnSpc>
                <a:spcPct val="102000"/>
              </a:lnSpc>
              <a:buNone/>
              <a:defRPr sz="1350" b="0" i="0">
                <a:solidFill>
                  <a:srgbClr val="16363B"/>
                </a:solidFill>
                <a:latin typeface="Aptos"/>
                <a:ea typeface="Aptos"/>
                <a:cs typeface="Aptos"/>
              </a:defRPr>
            </a:pPr>
            <a:r>
              <a:rPr sz="1350" b="0" i="0">
                <a:solidFill>
                  <a:srgbClr val="16363B"/>
                </a:solidFill>
                <a:latin typeface="Aptos"/>
                <a:ea typeface="Aptos"/>
                <a:cs typeface="Aptos"/>
              </a:rPr>
              <a:t>and repository interfaces</a:t>
            </a:r>
          </a:p>
        </p:txBody>
      </p:sp>
      <p:sp>
        <p:nvSpPr>
          <p:cNvPr id="10" name="">
            <a:extLst xmlns:a="http://schemas.openxmlformats.org/drawingml/2006/main">
              <a:ext uri="{FF2B5EF4-FFF2-40B4-BE49-F238E27FC236}">
                <a16:creationId xmlns:a16="http://schemas.microsoft.com/office/drawing/2014/main" id="{9311BD9B-A619-48B9-BC3D-697AC7BD2A69}"/>
              </a:ext>
            </a:extLst>
          </p:cNvPr>
          <p:cNvSpPr>
            <a:spLocks xmlns:a="http://schemas.openxmlformats.org/drawingml/2006/main" noGrp="1"/>
          </p:cNvSpPr>
          <p:nvPr/>
        </p:nvSpPr>
        <p:spPr>
          <a:xfrm xmlns:a="http://schemas.openxmlformats.org/drawingml/2006/main">
            <a:off x="7905750" y="53911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063E4D"/>
                </a:solidFill>
                <a:latin typeface="Aptos"/>
                <a:ea typeface="Aptos"/>
                <a:cs typeface="Aptos"/>
              </a:defRPr>
            </a:pPr>
            <a:r>
              <a:rPr sz="1125" b="1" i="0">
                <a:solidFill>
                  <a:srgbClr val="063E4D"/>
                </a:solidFill>
                <a:latin typeface="Aptos"/>
                <a:ea typeface="Aptos"/>
                <a:cs typeface="Aptos"/>
              </a:rPr>
              <a:t>SERVICE IMPLEMENTATIONS</a:t>
            </a:r>
          </a:p>
        </p:txBody>
      </p:sp>
      <p:sp>
        <p:nvSpPr>
          <p:cNvPr id="11" name="">
            <a:extLst xmlns:a="http://schemas.openxmlformats.org/drawingml/2006/main">
              <a:ext uri="{FF2B5EF4-FFF2-40B4-BE49-F238E27FC236}">
                <a16:creationId xmlns:a16="http://schemas.microsoft.com/office/drawing/2014/main" id="{2F8BF862-F76F-48D3-89F8-24B28B5E8035}"/>
              </a:ext>
            </a:extLst>
          </p:cNvPr>
          <p:cNvSpPr>
            <a:spLocks xmlns:a="http://schemas.openxmlformats.org/drawingml/2006/main" noGrp="1"/>
          </p:cNvSpPr>
          <p:nvPr/>
        </p:nvSpPr>
        <p:spPr>
          <a:xfrm xmlns:a="http://schemas.openxmlformats.org/drawingml/2006/main">
            <a:off x="7905750" y="56769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350" b="0" i="0">
                <a:solidFill>
                  <a:srgbClr val="16363B"/>
                </a:solidFill>
                <a:latin typeface="Aptos"/>
                <a:ea typeface="Aptos"/>
                <a:cs typeface="Aptos"/>
              </a:defRPr>
            </a:pPr>
            <a:r>
              <a:rPr sz="1350" b="0" i="0">
                <a:solidFill>
                  <a:srgbClr val="16363B"/>
                </a:solidFill>
                <a:latin typeface="Aptos"/>
                <a:ea typeface="Aptos"/>
                <a:cs typeface="Aptos"/>
              </a:rPr>
              <a:t>Supabase Auth, PostGIS, RLS,</a:t>
            </a:r>
          </a:p>
          <a:p xmlns:a="http://schemas.openxmlformats.org/drawingml/2006/main">
            <a:pPr algn="l">
              <a:lnSpc>
                <a:spcPct val="102000"/>
              </a:lnSpc>
              <a:buNone/>
              <a:defRPr sz="1350" b="0" i="0">
                <a:solidFill>
                  <a:srgbClr val="16363B"/>
                </a:solidFill>
                <a:latin typeface="Aptos"/>
                <a:ea typeface="Aptos"/>
                <a:cs typeface="Aptos"/>
              </a:defRPr>
            </a:pPr>
            <a:r>
              <a:rPr sz="1350" b="0" i="0">
                <a:solidFill>
                  <a:srgbClr val="16363B"/>
                </a:solidFill>
                <a:latin typeface="Aptos"/>
                <a:ea typeface="Aptos"/>
                <a:cs typeface="Aptos"/>
              </a:rPr>
              <a:t>Realtime, Storage + notifications</a:t>
            </a:r>
          </a:p>
        </p:txBody>
      </p:sp>
      <p:sp>
        <p:nvSpPr>
          <p:cNvPr id="12" name="">
            <a:extLst xmlns:a="http://schemas.openxmlformats.org/drawingml/2006/main">
              <a:ext uri="{FF2B5EF4-FFF2-40B4-BE49-F238E27FC236}">
                <a16:creationId xmlns:a16="http://schemas.microsoft.com/office/drawing/2014/main" id="{CE1095C7-C202-4530-86C3-2E70A2E589BD}"/>
              </a:ext>
            </a:extLst>
          </p:cNvPr>
          <p:cNvSpPr>
            <a:spLocks xmlns:a="http://schemas.openxmlformats.org/drawingml/2006/main" noGrp="1"/>
          </p:cNvSpPr>
          <p:nvPr/>
        </p:nvSpPr>
        <p:spPr>
          <a:xfrm xmlns:a="http://schemas.openxmlformats.org/drawingml/2006/main">
            <a:off x="10715625" y="5391150"/>
            <a:ext cx="800100" cy="609600"/>
          </a:xfrm>
          <a:prstGeom xmlns:a="http://schemas.openxmlformats.org/drawingml/2006/main" prst="roundRect">
            <a:avLst>
              <a:gd name="adj" fmla="val 21875"/>
            </a:avLst>
          </a:prstGeom>
          <a:solidFill xmlns:a="http://schemas.openxmlformats.org/drawingml/2006/main">
            <a:srgbClr val="063E4D"/>
          </a:solidFill>
          <a:ln xmlns:a="http://schemas.openxmlformats.org/drawingml/2006/main" w="19050">
            <a:solidFill>
              <a:srgbClr val="E7C48D"/>
            </a:solidFill>
            <a:prstDash val="solid"/>
          </a:ln>
        </p:spPr>
      </p:sp>
      <p:sp>
        <p:nvSpPr>
          <p:cNvPr id="13" name="">
            <a:extLst xmlns:a="http://schemas.openxmlformats.org/drawingml/2006/main">
              <a:ext uri="{FF2B5EF4-FFF2-40B4-BE49-F238E27FC236}">
                <a16:creationId xmlns:a16="http://schemas.microsoft.com/office/drawing/2014/main" id="{505CA0D9-A13B-4328-A1BD-95C50AEF3114}"/>
              </a:ext>
            </a:extLst>
          </p:cNvPr>
          <p:cNvSpPr>
            <a:spLocks xmlns:a="http://schemas.openxmlformats.org/drawingml/2006/main" noGrp="1"/>
          </p:cNvSpPr>
          <p:nvPr/>
        </p:nvSpPr>
        <p:spPr>
          <a:xfrm xmlns:a="http://schemas.openxmlformats.org/drawingml/2006/main">
            <a:off x="10839450" y="5534025"/>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575" b="1" i="0">
                <a:solidFill>
                  <a:srgbClr val="E7C48D"/>
                </a:solidFill>
                <a:latin typeface="Aptos"/>
                <a:ea typeface="Aptos"/>
                <a:cs typeface="Aptos"/>
              </a:defRPr>
            </a:pPr>
            <a:r>
              <a:rPr sz="1575" b="1" i="0">
                <a:solidFill>
                  <a:srgbClr val="E7C48D"/>
                </a:solidFill>
                <a:latin typeface="Aptos"/>
                <a:ea typeface="Aptos"/>
                <a:cs typeface="Aptos"/>
              </a:rPr>
              <a:t>APK</a:t>
            </a:r>
          </a:p>
        </p:txBody>
      </p:sp>
      <p:sp>
        <p:nvSpPr>
          <p:cNvPr id="14" name="">
            <a:extLst xmlns:a="http://schemas.openxmlformats.org/drawingml/2006/main">
              <a:ext uri="{FF2B5EF4-FFF2-40B4-BE49-F238E27FC236}">
                <a16:creationId xmlns:a16="http://schemas.microsoft.com/office/drawing/2014/main" id="{BE3AC3C7-98CA-4E59-8734-85CB87FC0609}"/>
              </a:ext>
            </a:extLst>
          </p:cNvPr>
          <p:cNvSpPr>
            <a:spLocks xmlns:a="http://schemas.openxmlformats.org/drawingml/2006/main" noGrp="1"/>
          </p:cNvSpPr>
          <p:nvPr/>
        </p:nvSpPr>
        <p:spPr>
          <a:xfrm xmlns:a="http://schemas.openxmlformats.org/drawingml/2006/main">
            <a:off x="552450" y="65341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825" b="1" i="0">
                <a:solidFill>
                  <a:srgbClr val="6A7C7F"/>
                </a:solidFill>
                <a:latin typeface="Aptos"/>
                <a:ea typeface="Aptos"/>
                <a:cs typeface="Aptos"/>
              </a:defRPr>
            </a:pPr>
            <a:r>
              <a:rPr sz="825" b="1" i="0">
                <a:solidFill>
                  <a:srgbClr val="6A7C7F"/>
                </a:solidFill>
                <a:latin typeface="Aptos"/>
                <a:ea typeface="Aptos"/>
                <a:cs typeface="Aptos"/>
              </a:rPr>
              <a:t>JAMAA NEXT DOOR</a:t>
            </a:r>
          </a:p>
        </p:txBody>
      </p:sp>
      <p:sp>
        <p:nvSpPr>
          <p:cNvPr id="15" name="">
            <a:extLst xmlns:a="http://schemas.openxmlformats.org/drawingml/2006/main">
              <a:ext uri="{FF2B5EF4-FFF2-40B4-BE49-F238E27FC236}">
                <a16:creationId xmlns:a16="http://schemas.microsoft.com/office/drawing/2014/main" id="{E98F2D80-CA2C-45E9-9339-838B18E1D8CC}"/>
              </a:ext>
            </a:extLst>
          </p:cNvPr>
          <p:cNvSpPr>
            <a:spLocks xmlns:a="http://schemas.openxmlformats.org/drawingml/2006/main" noGrp="1"/>
          </p:cNvSpPr>
          <p:nvPr/>
        </p:nvSpPr>
        <p:spPr>
          <a:xfrm xmlns:a="http://schemas.openxmlformats.org/drawingml/2006/main">
            <a:off x="1125855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900" b="1" i="0">
                <a:solidFill>
                  <a:srgbClr val="E7C48D"/>
                </a:solidFill>
                <a:latin typeface="Aptos"/>
                <a:ea typeface="Aptos"/>
                <a:cs typeface="Aptos"/>
              </a:defRPr>
            </a:pPr>
            <a:r>
              <a:rPr sz="900" b="1" i="0">
                <a:solidFill>
                  <a:srgbClr val="E7C48D"/>
                </a:solidFill>
                <a:latin typeface="Aptos"/>
                <a:ea typeface="Aptos"/>
                <a:cs typeface="Aptos"/>
              </a:rPr>
              <a:t>08</a:t>
            </a:r>
          </a:p>
        </p:txBody>
      </p:sp>
    </p:spTree>
    <p:extLst>
      <p:ext uri="{BB962C8B-B14F-4D97-AF65-F5344CB8AC3E}">
        <p14:creationId xmlns:p14="http://schemas.microsoft.com/office/powerpoint/2010/main" val="781433075"/>
      </p:ext>
    </p:extLst>
  </p:cSld>
</p:sld>
</file>

<file path=ppt/slides/slide9.xml><?xml version="1.0" encoding="utf-8"?>
<p:sld xmlns:p="http://schemas.openxmlformats.org/presentationml/2006/main">
  <p:cSld>
    <p:bg>
      <p:bgPr>
        <a:solidFill xmlns:a="http://schemas.openxmlformats.org/drawingml/2006/main">
          <a:srgbClr val="063E4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64F2E74-CCF6-4FB3-9D60-16E70819BC67}"/>
              </a:ext>
            </a:extLst>
          </p:cNvPr>
          <p:cNvSpPr>
            <a:spLocks xmlns:a="http://schemas.openxmlformats.org/drawingml/2006/main" noGrp="1"/>
          </p:cNvSpPr>
          <p:nvPr/>
        </p:nvSpPr>
        <p:spPr>
          <a:xfrm xmlns:a="http://schemas.openxmlformats.org/drawingml/2006/main">
            <a:off x="552450" y="3238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E7C48D"/>
                </a:solidFill>
                <a:latin typeface="Aptos"/>
                <a:ea typeface="Aptos"/>
                <a:cs typeface="Aptos"/>
              </a:defRPr>
            </a:pPr>
            <a:r>
              <a:rPr sz="1275" b="1" i="0">
                <a:solidFill>
                  <a:srgbClr val="E7C48D"/>
                </a:solidFill>
                <a:latin typeface="Aptos"/>
                <a:ea typeface="Aptos"/>
                <a:cs typeface="Aptos"/>
              </a:rPr>
              <a:t>09</a:t>
            </a:r>
          </a:p>
        </p:txBody>
      </p:sp>
      <p:sp>
        <p:nvSpPr>
          <p:cNvPr id="2" name="">
            <a:extLst xmlns:a="http://schemas.openxmlformats.org/drawingml/2006/main">
              <a:ext uri="{FF2B5EF4-FFF2-40B4-BE49-F238E27FC236}">
                <a16:creationId xmlns:a16="http://schemas.microsoft.com/office/drawing/2014/main" id="{290840F6-3F12-402A-AD35-CD631F22F052}"/>
              </a:ext>
            </a:extLst>
          </p:cNvPr>
          <p:cNvSpPr>
            <a:spLocks xmlns:a="http://schemas.openxmlformats.org/drawingml/2006/main" noGrp="1"/>
          </p:cNvSpPr>
          <p:nvPr/>
        </p:nvSpPr>
        <p:spPr>
          <a:xfrm xmlns:a="http://schemas.openxmlformats.org/drawingml/2006/main" flipH="0" flipV="0">
            <a:off x="1104900" y="447675"/>
            <a:ext cx="514350" cy="0"/>
          </a:xfrm>
          <a:prstGeom xmlns:a="http://schemas.openxmlformats.org/drawingml/2006/main" prst="line">
            <a:avLst/>
          </a:prstGeom>
          <a:noFill xmlns:a="http://schemas.openxmlformats.org/drawingml/2006/main"/>
          <a:ln xmlns:a="http://schemas.openxmlformats.org/drawingml/2006/main" w="19050">
            <a:solidFill>
              <a:srgbClr val="89A98F"/>
            </a:solidFill>
            <a:prstDash val="solid"/>
          </a:ln>
        </p:spPr>
      </p:sp>
      <p:sp>
        <p:nvSpPr>
          <p:cNvPr id="3" name="">
            <a:extLst xmlns:a="http://schemas.openxmlformats.org/drawingml/2006/main">
              <a:ext uri="{FF2B5EF4-FFF2-40B4-BE49-F238E27FC236}">
                <a16:creationId xmlns:a16="http://schemas.microsoft.com/office/drawing/2014/main" id="{156DE546-0BAF-4854-A158-4E6BAAB6FB54}"/>
              </a:ext>
            </a:extLst>
          </p:cNvPr>
          <p:cNvSpPr>
            <a:spLocks xmlns:a="http://schemas.openxmlformats.org/drawingml/2006/main" noGrp="1"/>
          </p:cNvSpPr>
          <p:nvPr/>
        </p:nvSpPr>
        <p:spPr>
          <a:xfrm xmlns:a="http://schemas.openxmlformats.org/drawingml/2006/main">
            <a:off x="1790700" y="247650"/>
            <a:ext cx="9848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914"/>
          </a:bodyPr>
          <a:lstStyle xmlns:a="http://schemas.openxmlformats.org/drawingml/2006/main"/>
          <a:p xmlns:a="http://schemas.openxmlformats.org/drawingml/2006/main">
            <a:pPr algn="l">
              <a:lnSpc>
                <a:spcPct val="102000"/>
              </a:lnSpc>
              <a:buNone/>
              <a:defRPr sz="2850" b="1" i="0">
                <a:solidFill>
                  <a:srgbClr val="F7F5F2"/>
                </a:solidFill>
                <a:latin typeface="Georgia"/>
                <a:ea typeface="Georgia"/>
                <a:cs typeface="Georgia"/>
              </a:defRPr>
            </a:pPr>
            <a:r>
              <a:rPr sz="2850" b="1" i="0">
                <a:solidFill>
                  <a:srgbClr val="F7F5F2"/>
                </a:solidFill>
                <a:latin typeface="Georgia"/>
                <a:ea typeface="Georgia"/>
                <a:cs typeface="Georgia"/>
              </a:rPr>
              <a:t>AI became useful when requests became controlled specifications</a:t>
            </a:r>
          </a:p>
        </p:txBody>
      </p:sp>
      <p:sp>
        <p:nvSpPr>
          <p:cNvPr id="4" name="">
            <a:extLst xmlns:a="http://schemas.openxmlformats.org/drawingml/2006/main">
              <a:ext uri="{FF2B5EF4-FFF2-40B4-BE49-F238E27FC236}">
                <a16:creationId xmlns:a16="http://schemas.microsoft.com/office/drawing/2014/main" id="{649BC8A3-6A73-4CFE-9EA8-65C5E6DEBDA8}"/>
              </a:ext>
            </a:extLst>
          </p:cNvPr>
          <p:cNvSpPr>
            <a:spLocks xmlns:a="http://schemas.openxmlformats.org/drawingml/2006/main" noGrp="1"/>
          </p:cNvSpPr>
          <p:nvPr/>
        </p:nvSpPr>
        <p:spPr>
          <a:xfrm xmlns:a="http://schemas.openxmlformats.org/drawingml/2006/main" flipH="0" flipV="0">
            <a:off x="2324100" y="2552700"/>
            <a:ext cx="6477000" cy="0"/>
          </a:xfrm>
          <a:prstGeom xmlns:a="http://schemas.openxmlformats.org/drawingml/2006/main" prst="line">
            <a:avLst/>
          </a:prstGeom>
          <a:noFill xmlns:a="http://schemas.openxmlformats.org/drawingml/2006/main"/>
          <a:ln xmlns:a="http://schemas.openxmlformats.org/drawingml/2006/main" w="38100">
            <a:solidFill>
              <a:srgbClr val="E7C48D"/>
            </a:solidFill>
            <a:prstDash val="solid"/>
          </a:ln>
        </p:spPr>
      </p:sp>
      <p:sp>
        <p:nvSpPr>
          <p:cNvPr id="5" name="">
            <a:extLst xmlns:a="http://schemas.openxmlformats.org/drawingml/2006/main">
              <a:ext uri="{FF2B5EF4-FFF2-40B4-BE49-F238E27FC236}">
                <a16:creationId xmlns:a16="http://schemas.microsoft.com/office/drawing/2014/main" id="{6454889C-F841-4A65-94A7-11582FB7E5D0}"/>
              </a:ext>
            </a:extLst>
          </p:cNvPr>
          <p:cNvSpPr>
            <a:spLocks xmlns:a="http://schemas.openxmlformats.org/drawingml/2006/main" noGrp="1"/>
          </p:cNvSpPr>
          <p:nvPr/>
        </p:nvSpPr>
        <p:spPr>
          <a:xfrm xmlns:a="http://schemas.openxmlformats.org/drawingml/2006/main">
            <a:off x="3952875" y="2447925"/>
            <a:ext cx="285750" cy="209550"/>
          </a:xfrm>
          <a:prstGeom xmlns:a="http://schemas.openxmlformats.org/drawingml/2006/main" prst="rightArrow">
            <a:avLst/>
          </a:prstGeom>
          <a:solidFill xmlns:a="http://schemas.openxmlformats.org/drawingml/2006/main">
            <a:srgbClr val="E7C48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6610BEC-B9CE-4965-9294-E9A625452386}"/>
              </a:ext>
            </a:extLst>
          </p:cNvPr>
          <p:cNvSpPr>
            <a:spLocks xmlns:a="http://schemas.openxmlformats.org/drawingml/2006/main" noGrp="1"/>
          </p:cNvSpPr>
          <p:nvPr/>
        </p:nvSpPr>
        <p:spPr>
          <a:xfrm xmlns:a="http://schemas.openxmlformats.org/drawingml/2006/main">
            <a:off x="7315200" y="2447925"/>
            <a:ext cx="285750" cy="209550"/>
          </a:xfrm>
          <a:prstGeom xmlns:a="http://schemas.openxmlformats.org/drawingml/2006/main" prst="rightArrow">
            <a:avLst/>
          </a:prstGeom>
          <a:solidFill xmlns:a="http://schemas.openxmlformats.org/drawingml/2006/main">
            <a:srgbClr val="E7C4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45602F0-608D-4871-8452-6EC0B904DADA}"/>
              </a:ext>
            </a:extLst>
          </p:cNvPr>
          <p:cNvSpPr>
            <a:spLocks xmlns:a="http://schemas.openxmlformats.org/drawingml/2006/main" noGrp="1"/>
          </p:cNvSpPr>
          <p:nvPr/>
        </p:nvSpPr>
        <p:spPr>
          <a:xfrm xmlns:a="http://schemas.openxmlformats.org/drawingml/2006/main">
            <a:off x="1866900" y="2428875"/>
            <a:ext cx="247650" cy="247650"/>
          </a:xfrm>
          <a:prstGeom xmlns:a="http://schemas.openxmlformats.org/drawingml/2006/main" prst="ellipse">
            <a:avLst/>
          </a:prstGeom>
          <a:solidFill xmlns:a="http://schemas.openxmlformats.org/drawingml/2006/main">
            <a:srgbClr val="89A98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7E001A0-6B1F-468D-9D1A-7F74AD758253}"/>
              </a:ext>
            </a:extLst>
          </p:cNvPr>
          <p:cNvSpPr>
            <a:spLocks xmlns:a="http://schemas.openxmlformats.org/drawingml/2006/main" noGrp="1"/>
          </p:cNvSpPr>
          <p:nvPr/>
        </p:nvSpPr>
        <p:spPr>
          <a:xfrm xmlns:a="http://schemas.openxmlformats.org/drawingml/2006/main">
            <a:off x="895350" y="150495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350" b="1" i="0">
                <a:solidFill>
                  <a:srgbClr val="F7F5F2"/>
                </a:solidFill>
                <a:latin typeface="Aptos"/>
                <a:ea typeface="Aptos"/>
                <a:cs typeface="Aptos"/>
              </a:defRPr>
            </a:pPr>
            <a:r>
              <a:rPr sz="1350" b="1" i="0">
                <a:solidFill>
                  <a:srgbClr val="F7F5F2"/>
                </a:solidFill>
                <a:latin typeface="Aptos"/>
                <a:ea typeface="Aptos"/>
                <a:cs typeface="Aptos"/>
              </a:rPr>
              <a:t>BROAD REQUEST</a:t>
            </a:r>
          </a:p>
        </p:txBody>
      </p:sp>
      <p:sp>
        <p:nvSpPr>
          <p:cNvPr id="9" name="">
            <a:extLst xmlns:a="http://schemas.openxmlformats.org/drawingml/2006/main">
              <a:ext uri="{FF2B5EF4-FFF2-40B4-BE49-F238E27FC236}">
                <a16:creationId xmlns:a16="http://schemas.microsoft.com/office/drawing/2014/main" id="{EF798D22-B2DF-4100-84FF-71A19CA205DA}"/>
              </a:ext>
            </a:extLst>
          </p:cNvPr>
          <p:cNvSpPr>
            <a:spLocks xmlns:a="http://schemas.openxmlformats.org/drawingml/2006/main" noGrp="1"/>
          </p:cNvSpPr>
          <p:nvPr/>
        </p:nvSpPr>
        <p:spPr>
          <a:xfrm xmlns:a="http://schemas.openxmlformats.org/drawingml/2006/main">
            <a:off x="895350" y="2914650"/>
            <a:ext cx="21907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0000"/>
              </a:lnSpc>
              <a:buNone/>
              <a:defRPr sz="1500" b="0" i="0">
                <a:solidFill>
                  <a:srgbClr val="F7F5F2"/>
                </a:solidFill>
                <a:latin typeface="Aptos"/>
                <a:ea typeface="Aptos"/>
                <a:cs typeface="Aptos"/>
              </a:defRPr>
            </a:pPr>
            <a:r>
              <a:rPr sz="1500" b="0" i="0">
                <a:solidFill>
                  <a:srgbClr val="F7F5F2"/>
                </a:solidFill>
                <a:latin typeface="Aptos"/>
                <a:ea typeface="Aptos"/>
                <a:cs typeface="Aptos"/>
              </a:rPr>
              <a:t>Feature idea</a:t>
            </a:r>
          </a:p>
          <a:p xmlns:a="http://schemas.openxmlformats.org/drawingml/2006/main">
            <a:pPr algn="ctr">
              <a:lnSpc>
                <a:spcPct val="110000"/>
              </a:lnSpc>
              <a:buNone/>
              <a:defRPr sz="1500" b="0" i="0">
                <a:solidFill>
                  <a:srgbClr val="F7F5F2"/>
                </a:solidFill>
                <a:latin typeface="Aptos"/>
                <a:ea typeface="Aptos"/>
                <a:cs typeface="Aptos"/>
              </a:defRPr>
            </a:pPr>
            <a:r>
              <a:rPr sz="1500" b="0" i="0">
                <a:solidFill>
                  <a:srgbClr val="F7F5F2"/>
                </a:solidFill>
                <a:latin typeface="Aptos"/>
                <a:ea typeface="Aptos"/>
                <a:cs typeface="Aptos"/>
              </a:rPr>
              <a:t>Screenshots</a:t>
            </a:r>
          </a:p>
          <a:p xmlns:a="http://schemas.openxmlformats.org/drawingml/2006/main">
            <a:pPr algn="ctr">
              <a:lnSpc>
                <a:spcPct val="110000"/>
              </a:lnSpc>
              <a:buNone/>
              <a:defRPr sz="1500" b="0" i="0">
                <a:solidFill>
                  <a:srgbClr val="F7F5F2"/>
                </a:solidFill>
                <a:latin typeface="Aptos"/>
                <a:ea typeface="Aptos"/>
                <a:cs typeface="Aptos"/>
              </a:defRPr>
            </a:pPr>
            <a:r>
              <a:rPr sz="1500" b="0" i="0">
                <a:solidFill>
                  <a:srgbClr val="F7F5F2"/>
                </a:solidFill>
                <a:latin typeface="Aptos"/>
                <a:ea typeface="Aptos"/>
                <a:cs typeface="Aptos"/>
              </a:rPr>
              <a:t>Written description</a:t>
            </a:r>
          </a:p>
        </p:txBody>
      </p:sp>
      <p:sp>
        <p:nvSpPr>
          <p:cNvPr id="10" name="">
            <a:extLst xmlns:a="http://schemas.openxmlformats.org/drawingml/2006/main">
              <a:ext uri="{FF2B5EF4-FFF2-40B4-BE49-F238E27FC236}">
                <a16:creationId xmlns:a16="http://schemas.microsoft.com/office/drawing/2014/main" id="{3E9094CB-7977-4560-B822-104F25C8BE4D}"/>
              </a:ext>
            </a:extLst>
          </p:cNvPr>
          <p:cNvSpPr>
            <a:spLocks xmlns:a="http://schemas.openxmlformats.org/drawingml/2006/main" noGrp="1"/>
          </p:cNvSpPr>
          <p:nvPr/>
        </p:nvSpPr>
        <p:spPr>
          <a:xfrm xmlns:a="http://schemas.openxmlformats.org/drawingml/2006/main">
            <a:off x="5229225" y="2428875"/>
            <a:ext cx="247650" cy="247650"/>
          </a:xfrm>
          <a:prstGeom xmlns:a="http://schemas.openxmlformats.org/drawingml/2006/main" prst="ellipse">
            <a:avLst/>
          </a:prstGeom>
          <a:solidFill xmlns:a="http://schemas.openxmlformats.org/drawingml/2006/main">
            <a:srgbClr val="E7C48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AA6017E-D899-46EB-BB0C-87460CE31511}"/>
              </a:ext>
            </a:extLst>
          </p:cNvPr>
          <p:cNvSpPr>
            <a:spLocks xmlns:a="http://schemas.openxmlformats.org/drawingml/2006/main" noGrp="1"/>
          </p:cNvSpPr>
          <p:nvPr/>
        </p:nvSpPr>
        <p:spPr>
          <a:xfrm xmlns:a="http://schemas.openxmlformats.org/drawingml/2006/main">
            <a:off x="4257675" y="150495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350" b="1" i="0">
                <a:solidFill>
                  <a:srgbClr val="E7C48D"/>
                </a:solidFill>
                <a:latin typeface="Aptos"/>
                <a:ea typeface="Aptos"/>
                <a:cs typeface="Aptos"/>
              </a:defRPr>
            </a:pPr>
            <a:r>
              <a:rPr sz="1350" b="1" i="0">
                <a:solidFill>
                  <a:srgbClr val="E7C48D"/>
                </a:solidFill>
                <a:latin typeface="Aptos"/>
                <a:ea typeface="Aptos"/>
                <a:cs typeface="Aptos"/>
              </a:rPr>
              <a:t>BOUNDED CHANGE</a:t>
            </a:r>
          </a:p>
        </p:txBody>
      </p:sp>
      <p:sp>
        <p:nvSpPr>
          <p:cNvPr id="12" name="">
            <a:extLst xmlns:a="http://schemas.openxmlformats.org/drawingml/2006/main">
              <a:ext uri="{FF2B5EF4-FFF2-40B4-BE49-F238E27FC236}">
                <a16:creationId xmlns:a16="http://schemas.microsoft.com/office/drawing/2014/main" id="{CA619247-A2C3-4F82-8BE7-2B31CF84088C}"/>
              </a:ext>
            </a:extLst>
          </p:cNvPr>
          <p:cNvSpPr>
            <a:spLocks xmlns:a="http://schemas.openxmlformats.org/drawingml/2006/main" noGrp="1"/>
          </p:cNvSpPr>
          <p:nvPr/>
        </p:nvSpPr>
        <p:spPr>
          <a:xfrm xmlns:a="http://schemas.openxmlformats.org/drawingml/2006/main">
            <a:off x="4257675" y="2914650"/>
            <a:ext cx="21907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0000"/>
              </a:lnSpc>
              <a:buNone/>
              <a:defRPr sz="1500" b="0" i="0">
                <a:solidFill>
                  <a:srgbClr val="F7F5F2"/>
                </a:solidFill>
                <a:latin typeface="Aptos"/>
                <a:ea typeface="Aptos"/>
                <a:cs typeface="Aptos"/>
              </a:defRPr>
            </a:pPr>
            <a:r>
              <a:rPr sz="1500" b="0" i="0">
                <a:solidFill>
                  <a:srgbClr val="F7F5F2"/>
                </a:solidFill>
                <a:latin typeface="Aptos"/>
                <a:ea typeface="Aptos"/>
                <a:cs typeface="Aptos"/>
              </a:rPr>
              <a:t>Desired behavior</a:t>
            </a:r>
          </a:p>
          <a:p xmlns:a="http://schemas.openxmlformats.org/drawingml/2006/main">
            <a:pPr algn="ctr">
              <a:lnSpc>
                <a:spcPct val="110000"/>
              </a:lnSpc>
              <a:buNone/>
              <a:defRPr sz="1500" b="0" i="0">
                <a:solidFill>
                  <a:srgbClr val="F7F5F2"/>
                </a:solidFill>
                <a:latin typeface="Aptos"/>
                <a:ea typeface="Aptos"/>
                <a:cs typeface="Aptos"/>
              </a:defRPr>
            </a:pPr>
            <a:r>
              <a:rPr sz="1500" b="0" i="0">
                <a:solidFill>
                  <a:srgbClr val="F7F5F2"/>
                </a:solidFill>
                <a:latin typeface="Aptos"/>
                <a:ea typeface="Aptos"/>
                <a:cs typeface="Aptos"/>
              </a:rPr>
              <a:t>Keep unchanged</a:t>
            </a:r>
          </a:p>
          <a:p xmlns:a="http://schemas.openxmlformats.org/drawingml/2006/main">
            <a:pPr algn="ctr">
              <a:lnSpc>
                <a:spcPct val="110000"/>
              </a:lnSpc>
              <a:buNone/>
              <a:defRPr sz="1500" b="0" i="0">
                <a:solidFill>
                  <a:srgbClr val="F7F5F2"/>
                </a:solidFill>
                <a:latin typeface="Aptos"/>
                <a:ea typeface="Aptos"/>
                <a:cs typeface="Aptos"/>
              </a:defRPr>
            </a:pPr>
            <a:r>
              <a:rPr sz="1500" b="0" i="0">
                <a:solidFill>
                  <a:srgbClr val="F7F5F2"/>
                </a:solidFill>
                <a:latin typeface="Aptos"/>
                <a:ea typeface="Aptos"/>
                <a:cs typeface="Aptos"/>
              </a:rPr>
              <a:t>Obsolete behavior</a:t>
            </a:r>
          </a:p>
          <a:p xmlns:a="http://schemas.openxmlformats.org/drawingml/2006/main">
            <a:pPr algn="ctr">
              <a:lnSpc>
                <a:spcPct val="110000"/>
              </a:lnSpc>
              <a:buNone/>
              <a:defRPr sz="1500" b="0" i="0">
                <a:solidFill>
                  <a:srgbClr val="F7F5F2"/>
                </a:solidFill>
                <a:latin typeface="Aptos"/>
                <a:ea typeface="Aptos"/>
                <a:cs typeface="Aptos"/>
              </a:defRPr>
            </a:pPr>
            <a:r>
              <a:rPr sz="1500" b="0" i="0">
                <a:solidFill>
                  <a:srgbClr val="F7F5F2"/>
                </a:solidFill>
                <a:latin typeface="Aptos"/>
                <a:ea typeface="Aptos"/>
                <a:cs typeface="Aptos"/>
              </a:rPr>
              <a:t>Owner module</a:t>
            </a:r>
          </a:p>
        </p:txBody>
      </p:sp>
      <p:sp>
        <p:nvSpPr>
          <p:cNvPr id="13" name="">
            <a:extLst xmlns:a="http://schemas.openxmlformats.org/drawingml/2006/main">
              <a:ext uri="{FF2B5EF4-FFF2-40B4-BE49-F238E27FC236}">
                <a16:creationId xmlns:a16="http://schemas.microsoft.com/office/drawing/2014/main" id="{B0FEAFCB-D932-48F3-90F9-2856CF27C5A0}"/>
              </a:ext>
            </a:extLst>
          </p:cNvPr>
          <p:cNvSpPr>
            <a:spLocks xmlns:a="http://schemas.openxmlformats.org/drawingml/2006/main" noGrp="1"/>
          </p:cNvSpPr>
          <p:nvPr/>
        </p:nvSpPr>
        <p:spPr>
          <a:xfrm xmlns:a="http://schemas.openxmlformats.org/drawingml/2006/main">
            <a:off x="7543800" y="2428875"/>
            <a:ext cx="247650" cy="247650"/>
          </a:xfrm>
          <a:prstGeom xmlns:a="http://schemas.openxmlformats.org/drawingml/2006/main" prst="ellipse">
            <a:avLst/>
          </a:prstGeom>
          <a:solidFill xmlns:a="http://schemas.openxmlformats.org/drawingml/2006/main">
            <a:srgbClr val="E7C48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CE86528-6EDE-4612-9421-673DBE62EC57}"/>
              </a:ext>
            </a:extLst>
          </p:cNvPr>
          <p:cNvSpPr>
            <a:spLocks xmlns:a="http://schemas.openxmlformats.org/drawingml/2006/main" noGrp="1"/>
          </p:cNvSpPr>
          <p:nvPr/>
        </p:nvSpPr>
        <p:spPr>
          <a:xfrm xmlns:a="http://schemas.openxmlformats.org/drawingml/2006/main">
            <a:off x="6572250" y="150495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350" b="1" i="0">
                <a:solidFill>
                  <a:srgbClr val="F7F5F2"/>
                </a:solidFill>
                <a:latin typeface="Aptos"/>
                <a:ea typeface="Aptos"/>
                <a:cs typeface="Aptos"/>
              </a:defRPr>
            </a:pPr>
            <a:r>
              <a:rPr sz="1350" b="1" i="0">
                <a:solidFill>
                  <a:srgbClr val="F7F5F2"/>
                </a:solidFill>
                <a:latin typeface="Aptos"/>
                <a:ea typeface="Aptos"/>
                <a:cs typeface="Aptos"/>
              </a:rPr>
              <a:t>VERIFIED IMPLEMENTATION</a:t>
            </a:r>
          </a:p>
        </p:txBody>
      </p:sp>
      <p:sp>
        <p:nvSpPr>
          <p:cNvPr id="15" name="">
            <a:extLst xmlns:a="http://schemas.openxmlformats.org/drawingml/2006/main">
              <a:ext uri="{FF2B5EF4-FFF2-40B4-BE49-F238E27FC236}">
                <a16:creationId xmlns:a16="http://schemas.microsoft.com/office/drawing/2014/main" id="{81ADDC09-4CD4-4327-B615-F9D9050271A4}"/>
              </a:ext>
            </a:extLst>
          </p:cNvPr>
          <p:cNvSpPr>
            <a:spLocks xmlns:a="http://schemas.openxmlformats.org/drawingml/2006/main" noGrp="1"/>
          </p:cNvSpPr>
          <p:nvPr/>
        </p:nvSpPr>
        <p:spPr>
          <a:xfrm xmlns:a="http://schemas.openxmlformats.org/drawingml/2006/main">
            <a:off x="6572250" y="2914650"/>
            <a:ext cx="21907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0000"/>
              </a:lnSpc>
              <a:buNone/>
              <a:defRPr sz="1500" b="0" i="0">
                <a:solidFill>
                  <a:srgbClr val="F7F5F2"/>
                </a:solidFill>
                <a:latin typeface="Aptos"/>
                <a:ea typeface="Aptos"/>
                <a:cs typeface="Aptos"/>
              </a:defRPr>
            </a:pPr>
            <a:r>
              <a:rPr sz="1500" b="0" i="0">
                <a:solidFill>
                  <a:srgbClr val="F7F5F2"/>
                </a:solidFill>
                <a:latin typeface="Aptos"/>
                <a:ea typeface="Aptos"/>
                <a:cs typeface="Aptos"/>
              </a:rPr>
              <a:t>Syntax + imports</a:t>
            </a:r>
          </a:p>
          <a:p xmlns:a="http://schemas.openxmlformats.org/drawingml/2006/main">
            <a:pPr algn="ctr">
              <a:lnSpc>
                <a:spcPct val="110000"/>
              </a:lnSpc>
              <a:buNone/>
              <a:defRPr sz="1500" b="0" i="0">
                <a:solidFill>
                  <a:srgbClr val="F7F5F2"/>
                </a:solidFill>
                <a:latin typeface="Aptos"/>
                <a:ea typeface="Aptos"/>
                <a:cs typeface="Aptos"/>
              </a:defRPr>
            </a:pPr>
            <a:r>
              <a:rPr sz="1500" b="0" i="0">
                <a:solidFill>
                  <a:srgbClr val="F7F5F2"/>
                </a:solidFill>
                <a:latin typeface="Aptos"/>
                <a:ea typeface="Aptos"/>
                <a:cs typeface="Aptos"/>
              </a:rPr>
              <a:t>Smoke test</a:t>
            </a:r>
          </a:p>
          <a:p xmlns:a="http://schemas.openxmlformats.org/drawingml/2006/main">
            <a:pPr algn="ctr">
              <a:lnSpc>
                <a:spcPct val="110000"/>
              </a:lnSpc>
              <a:buNone/>
              <a:defRPr sz="1500" b="0" i="0">
                <a:solidFill>
                  <a:srgbClr val="F7F5F2"/>
                </a:solidFill>
                <a:latin typeface="Aptos"/>
                <a:ea typeface="Aptos"/>
                <a:cs typeface="Aptos"/>
              </a:defRPr>
            </a:pPr>
            <a:r>
              <a:rPr sz="1500" b="0" i="0">
                <a:solidFill>
                  <a:srgbClr val="F7F5F2"/>
                </a:solidFill>
                <a:latin typeface="Aptos"/>
                <a:ea typeface="Aptos"/>
                <a:cs typeface="Aptos"/>
              </a:rPr>
              <a:t>Device reproduction</a:t>
            </a:r>
          </a:p>
          <a:p xmlns:a="http://schemas.openxmlformats.org/drawingml/2006/main">
            <a:pPr algn="ctr">
              <a:lnSpc>
                <a:spcPct val="110000"/>
              </a:lnSpc>
              <a:buNone/>
              <a:defRPr sz="1500" b="0" i="0">
                <a:solidFill>
                  <a:srgbClr val="F7F5F2"/>
                </a:solidFill>
                <a:latin typeface="Aptos"/>
                <a:ea typeface="Aptos"/>
                <a:cs typeface="Aptos"/>
              </a:defRPr>
            </a:pPr>
            <a:r>
              <a:rPr sz="1500" b="0" i="0">
                <a:solidFill>
                  <a:srgbClr val="F7F5F2"/>
                </a:solidFill>
                <a:latin typeface="Aptos"/>
                <a:ea typeface="Aptos"/>
                <a:cs typeface="Aptos"/>
              </a:rPr>
              <a:t>Regression check</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e2f4063442914cd5"/>
          <a:srcRect xmlns:a="http://schemas.openxmlformats.org/drawingml/2006/main" l="9706" t="0" r="9706" b="0"/>
          <a:stretch xmlns:a="http://schemas.openxmlformats.org/drawingml/2006/main">
            <a:fillRect l="0" t="0" r="0" b="0"/>
          </a:stretch>
        </p:blipFill>
        <p:spPr>
          <a:xfrm xmlns:a="http://schemas.openxmlformats.org/drawingml/2006/main">
            <a:off x="9239250" y="1095375"/>
            <a:ext cx="2095500" cy="3676650"/>
          </a:xfrm>
          <a:prstGeom xmlns:a="http://schemas.openxmlformats.org/drawingml/2006/main" prst="roundRect">
            <a:avLst>
              <a:gd name="adj" fmla="val 6364"/>
            </a:avLst>
          </a:prstGeom>
        </p:spPr>
      </p:pic>
      <p:sp>
        <p:nvSpPr>
          <p:cNvPr id="17" name="">
            <a:extLst xmlns:a="http://schemas.openxmlformats.org/drawingml/2006/main">
              <a:ext uri="{FF2B5EF4-FFF2-40B4-BE49-F238E27FC236}">
                <a16:creationId xmlns:a16="http://schemas.microsoft.com/office/drawing/2014/main" id="{698F87D1-19CE-4D20-81E0-6264210EAD65}"/>
              </a:ext>
            </a:extLst>
          </p:cNvPr>
          <p:cNvSpPr>
            <a:spLocks xmlns:a="http://schemas.openxmlformats.org/drawingml/2006/main" noGrp="1"/>
          </p:cNvSpPr>
          <p:nvPr/>
        </p:nvSpPr>
        <p:spPr>
          <a:xfrm xmlns:a="http://schemas.openxmlformats.org/drawingml/2006/main">
            <a:off x="1600200" y="4953000"/>
            <a:ext cx="723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2250" b="1" i="0">
                <a:solidFill>
                  <a:srgbClr val="E7C48D"/>
                </a:solidFill>
                <a:latin typeface="Georgia"/>
                <a:ea typeface="Georgia"/>
                <a:cs typeface="Georgia"/>
              </a:defRPr>
            </a:pPr>
            <a:r>
              <a:rPr sz="2250" b="1" i="0">
                <a:solidFill>
                  <a:srgbClr val="E7C48D"/>
                </a:solidFill>
                <a:latin typeface="Georgia"/>
                <a:ea typeface="Georgia"/>
                <a:cs typeface="Georgia"/>
              </a:rPr>
              <a:t>Prompting became an engineering control rather than a request for automatic output.</a:t>
            </a:r>
          </a:p>
        </p:txBody>
      </p:sp>
      <p:sp>
        <p:nvSpPr>
          <p:cNvPr id="18" name="">
            <a:extLst xmlns:a="http://schemas.openxmlformats.org/drawingml/2006/main">
              <a:ext uri="{FF2B5EF4-FFF2-40B4-BE49-F238E27FC236}">
                <a16:creationId xmlns:a16="http://schemas.microsoft.com/office/drawing/2014/main" id="{3AA435FB-5DDD-4E0F-9E80-E14976090126}"/>
              </a:ext>
            </a:extLst>
          </p:cNvPr>
          <p:cNvSpPr>
            <a:spLocks xmlns:a="http://schemas.openxmlformats.org/drawingml/2006/main" noGrp="1"/>
          </p:cNvSpPr>
          <p:nvPr/>
        </p:nvSpPr>
        <p:spPr>
          <a:xfrm xmlns:a="http://schemas.openxmlformats.org/drawingml/2006/main">
            <a:off x="9239250" y="48958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825" b="0" i="0">
                <a:solidFill>
                  <a:srgbClr val="AEB7B8"/>
                </a:solidFill>
                <a:latin typeface="Aptos"/>
                <a:ea typeface="Aptos"/>
                <a:cs typeface="Aptos"/>
              </a:defRPr>
            </a:pPr>
            <a:r>
              <a:rPr sz="825" b="0" i="0">
                <a:solidFill>
                  <a:srgbClr val="AEB7B8"/>
                </a:solidFill>
                <a:latin typeface="Aptos"/>
                <a:ea typeface="Aptos"/>
                <a:cs typeface="Aptos"/>
              </a:rPr>
              <a:t>Safe-change template crop</a:t>
            </a:r>
          </a:p>
        </p:txBody>
      </p:sp>
      <p:sp>
        <p:nvSpPr>
          <p:cNvPr id="19" name="">
            <a:extLst xmlns:a="http://schemas.openxmlformats.org/drawingml/2006/main">
              <a:ext uri="{FF2B5EF4-FFF2-40B4-BE49-F238E27FC236}">
                <a16:creationId xmlns:a16="http://schemas.microsoft.com/office/drawing/2014/main" id="{024CD7F3-4F22-4163-BE36-A3CE5061FCC4}"/>
              </a:ext>
            </a:extLst>
          </p:cNvPr>
          <p:cNvSpPr>
            <a:spLocks xmlns:a="http://schemas.openxmlformats.org/drawingml/2006/main" noGrp="1"/>
          </p:cNvSpPr>
          <p:nvPr/>
        </p:nvSpPr>
        <p:spPr>
          <a:xfrm xmlns:a="http://schemas.openxmlformats.org/drawingml/2006/main">
            <a:off x="552450" y="65341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825" b="1" i="0">
                <a:solidFill>
                  <a:srgbClr val="AEB7B8"/>
                </a:solidFill>
                <a:latin typeface="Aptos"/>
                <a:ea typeface="Aptos"/>
                <a:cs typeface="Aptos"/>
              </a:defRPr>
            </a:pPr>
            <a:r>
              <a:rPr sz="825" b="1" i="0">
                <a:solidFill>
                  <a:srgbClr val="AEB7B8"/>
                </a:solidFill>
                <a:latin typeface="Aptos"/>
                <a:ea typeface="Aptos"/>
                <a:cs typeface="Aptos"/>
              </a:rPr>
              <a:t>JAMAA NEXT DOOR</a:t>
            </a:r>
          </a:p>
        </p:txBody>
      </p:sp>
      <p:sp>
        <p:nvSpPr>
          <p:cNvPr id="20" name="">
            <a:extLst xmlns:a="http://schemas.openxmlformats.org/drawingml/2006/main">
              <a:ext uri="{FF2B5EF4-FFF2-40B4-BE49-F238E27FC236}">
                <a16:creationId xmlns:a16="http://schemas.microsoft.com/office/drawing/2014/main" id="{CC96E506-24F1-406D-934B-277829C22D65}"/>
              </a:ext>
            </a:extLst>
          </p:cNvPr>
          <p:cNvSpPr>
            <a:spLocks xmlns:a="http://schemas.openxmlformats.org/drawingml/2006/main" noGrp="1"/>
          </p:cNvSpPr>
          <p:nvPr/>
        </p:nvSpPr>
        <p:spPr>
          <a:xfrm xmlns:a="http://schemas.openxmlformats.org/drawingml/2006/main">
            <a:off x="1125855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900" b="1" i="0">
                <a:solidFill>
                  <a:srgbClr val="E7C48D"/>
                </a:solidFill>
                <a:latin typeface="Aptos"/>
                <a:ea typeface="Aptos"/>
                <a:cs typeface="Aptos"/>
              </a:defRPr>
            </a:pPr>
            <a:r>
              <a:rPr sz="900" b="1" i="0">
                <a:solidFill>
                  <a:srgbClr val="E7C48D"/>
                </a:solidFill>
                <a:latin typeface="Aptos"/>
                <a:ea typeface="Aptos"/>
                <a:cs typeface="Aptos"/>
              </a:rPr>
              <a:t>09</a:t>
            </a:r>
          </a:p>
        </p:txBody>
      </p:sp>
    </p:spTree>
    <p:extLst>
      <p:ext uri="{BB962C8B-B14F-4D97-AF65-F5344CB8AC3E}">
        <p14:creationId xmlns:p14="http://schemas.microsoft.com/office/powerpoint/2010/main" val="927802199"/>
      </p:ext>
    </p:extLst>
  </p:cSld>
</p:sld>
</file>

<file path=ppt/slides/slide10.xml><?xml version="1.0" encoding="utf-8"?>
<p:sld xmlns:p="http://schemas.openxmlformats.org/presentationml/2006/main">
  <p:cSld>
    <p:bg>
      <p:bgPr>
        <a:solidFill xmlns:a="http://schemas.openxmlformats.org/drawingml/2006/main">
          <a:srgbClr val="F7F5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49B74CE-1EB2-4981-81F3-8EF0D43F00C8}"/>
              </a:ext>
            </a:extLst>
          </p:cNvPr>
          <p:cNvSpPr>
            <a:spLocks xmlns:a="http://schemas.openxmlformats.org/drawingml/2006/main" noGrp="1"/>
          </p:cNvSpPr>
          <p:nvPr/>
        </p:nvSpPr>
        <p:spPr>
          <a:xfrm xmlns:a="http://schemas.openxmlformats.org/drawingml/2006/main">
            <a:off x="552450" y="3238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E7C48D"/>
                </a:solidFill>
                <a:latin typeface="Aptos"/>
                <a:ea typeface="Aptos"/>
                <a:cs typeface="Aptos"/>
              </a:defRPr>
            </a:pPr>
            <a:r>
              <a:rPr sz="1275" b="1" i="0">
                <a:solidFill>
                  <a:srgbClr val="E7C48D"/>
                </a:solidFill>
                <a:latin typeface="Aptos"/>
                <a:ea typeface="Aptos"/>
                <a:cs typeface="Aptos"/>
              </a:rPr>
              <a:t>10</a:t>
            </a:r>
          </a:p>
        </p:txBody>
      </p:sp>
      <p:sp>
        <p:nvSpPr>
          <p:cNvPr id="2" name="">
            <a:extLst xmlns:a="http://schemas.openxmlformats.org/drawingml/2006/main">
              <a:ext uri="{FF2B5EF4-FFF2-40B4-BE49-F238E27FC236}">
                <a16:creationId xmlns:a16="http://schemas.microsoft.com/office/drawing/2014/main" id="{D9D7DA90-BFBE-461D-BBA3-750577296C27}"/>
              </a:ext>
            </a:extLst>
          </p:cNvPr>
          <p:cNvSpPr>
            <a:spLocks xmlns:a="http://schemas.openxmlformats.org/drawingml/2006/main" noGrp="1"/>
          </p:cNvSpPr>
          <p:nvPr/>
        </p:nvSpPr>
        <p:spPr>
          <a:xfrm xmlns:a="http://schemas.openxmlformats.org/drawingml/2006/main" flipH="0" flipV="0">
            <a:off x="1104900" y="447675"/>
            <a:ext cx="514350" cy="0"/>
          </a:xfrm>
          <a:prstGeom xmlns:a="http://schemas.openxmlformats.org/drawingml/2006/main" prst="line">
            <a:avLst/>
          </a:prstGeom>
          <a:noFill xmlns:a="http://schemas.openxmlformats.org/drawingml/2006/main"/>
          <a:ln xmlns:a="http://schemas.openxmlformats.org/drawingml/2006/main" w="19050">
            <a:solidFill>
              <a:srgbClr val="E7C48D"/>
            </a:solidFill>
            <a:prstDash val="solid"/>
          </a:ln>
        </p:spPr>
      </p:sp>
      <p:sp>
        <p:nvSpPr>
          <p:cNvPr id="3" name="">
            <a:extLst xmlns:a="http://schemas.openxmlformats.org/drawingml/2006/main">
              <a:ext uri="{FF2B5EF4-FFF2-40B4-BE49-F238E27FC236}">
                <a16:creationId xmlns:a16="http://schemas.microsoft.com/office/drawing/2014/main" id="{221D7AF2-93F4-49D0-A043-4ADAB70381EB}"/>
              </a:ext>
            </a:extLst>
          </p:cNvPr>
          <p:cNvSpPr>
            <a:spLocks xmlns:a="http://schemas.openxmlformats.org/drawingml/2006/main" noGrp="1"/>
          </p:cNvSpPr>
          <p:nvPr/>
        </p:nvSpPr>
        <p:spPr>
          <a:xfrm xmlns:a="http://schemas.openxmlformats.org/drawingml/2006/main">
            <a:off x="1790700" y="247650"/>
            <a:ext cx="9848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625" b="1" i="0">
                <a:solidFill>
                  <a:srgbClr val="16363B"/>
                </a:solidFill>
                <a:latin typeface="Georgia"/>
                <a:ea typeface="Georgia"/>
                <a:cs typeface="Georgia"/>
              </a:defRPr>
            </a:pPr>
            <a:r>
              <a:rPr sz="2625" b="1" i="0">
                <a:solidFill>
                  <a:srgbClr val="16363B"/>
                </a:solidFill>
                <a:latin typeface="Georgia"/>
                <a:ea typeface="Georgia"/>
                <a:cs typeface="Georgia"/>
              </a:rPr>
              <a:t>Reusable prompts made different kinds of changes safer</a:t>
            </a:r>
          </a:p>
        </p:txBody>
      </p:sp>
      <p:sp>
        <p:nvSpPr>
          <p:cNvPr id="4" name="">
            <a:extLst xmlns:a="http://schemas.openxmlformats.org/drawingml/2006/main">
              <a:ext uri="{FF2B5EF4-FFF2-40B4-BE49-F238E27FC236}">
                <a16:creationId xmlns:a16="http://schemas.microsoft.com/office/drawing/2014/main" id="{431E6D31-8B2D-4EE2-B465-871A785AE0AC}"/>
              </a:ext>
            </a:extLst>
          </p:cNvPr>
          <p:cNvSpPr>
            <a:spLocks xmlns:a="http://schemas.openxmlformats.org/drawingml/2006/main" noGrp="1"/>
          </p:cNvSpPr>
          <p:nvPr/>
        </p:nvSpPr>
        <p:spPr>
          <a:xfrm xmlns:a="http://schemas.openxmlformats.org/drawingml/2006/main">
            <a:off x="762000" y="1219200"/>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700" b="1" i="0">
                <a:solidFill>
                  <a:srgbClr val="063E4D"/>
                </a:solidFill>
                <a:latin typeface="Georgia"/>
                <a:ea typeface="Georgia"/>
                <a:cs typeface="Georgia"/>
              </a:defRPr>
            </a:pPr>
            <a:r>
              <a:rPr sz="2700" b="1" i="0">
                <a:solidFill>
                  <a:srgbClr val="063E4D"/>
                </a:solidFill>
                <a:latin typeface="Georgia"/>
                <a:ea typeface="Georgia"/>
                <a:cs typeface="Georgia"/>
              </a:rPr>
              <a:t>ADD</a:t>
            </a:r>
          </a:p>
        </p:txBody>
      </p:sp>
      <p:sp>
        <p:nvSpPr>
          <p:cNvPr id="5" name="">
            <a:extLst xmlns:a="http://schemas.openxmlformats.org/drawingml/2006/main">
              <a:ext uri="{FF2B5EF4-FFF2-40B4-BE49-F238E27FC236}">
                <a16:creationId xmlns:a16="http://schemas.microsoft.com/office/drawing/2014/main" id="{E59962EA-FA20-4A04-A0B4-18B6FB4EF0B7}"/>
              </a:ext>
            </a:extLst>
          </p:cNvPr>
          <p:cNvSpPr>
            <a:spLocks xmlns:a="http://schemas.openxmlformats.org/drawingml/2006/main" noGrp="1"/>
          </p:cNvSpPr>
          <p:nvPr/>
        </p:nvSpPr>
        <p:spPr>
          <a:xfrm xmlns:a="http://schemas.openxmlformats.org/drawingml/2006/main" flipH="0" flipV="0">
            <a:off x="2857500" y="1485900"/>
            <a:ext cx="781050" cy="0"/>
          </a:xfrm>
          <a:prstGeom xmlns:a="http://schemas.openxmlformats.org/drawingml/2006/main" prst="line">
            <a:avLst/>
          </a:prstGeom>
          <a:noFill xmlns:a="http://schemas.openxmlformats.org/drawingml/2006/main"/>
          <a:ln xmlns:a="http://schemas.openxmlformats.org/drawingml/2006/main" w="28575">
            <a:solidFill>
              <a:srgbClr val="89A98F"/>
            </a:solidFill>
            <a:prstDash val="solid"/>
          </a:ln>
        </p:spPr>
      </p:sp>
      <p:sp>
        <p:nvSpPr>
          <p:cNvPr id="6" name="">
            <a:extLst xmlns:a="http://schemas.openxmlformats.org/drawingml/2006/main">
              <a:ext uri="{FF2B5EF4-FFF2-40B4-BE49-F238E27FC236}">
                <a16:creationId xmlns:a16="http://schemas.microsoft.com/office/drawing/2014/main" id="{0E3521A5-3662-4BF0-8450-FDE61966333E}"/>
              </a:ext>
            </a:extLst>
          </p:cNvPr>
          <p:cNvSpPr>
            <a:spLocks xmlns:a="http://schemas.openxmlformats.org/drawingml/2006/main" noGrp="1"/>
          </p:cNvSpPr>
          <p:nvPr/>
        </p:nvSpPr>
        <p:spPr>
          <a:xfrm xmlns:a="http://schemas.openxmlformats.org/drawingml/2006/main">
            <a:off x="3857625" y="1266825"/>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i="0">
                <a:solidFill>
                  <a:srgbClr val="16363B"/>
                </a:solidFill>
                <a:latin typeface="Aptos"/>
                <a:ea typeface="Aptos"/>
                <a:cs typeface="Aptos"/>
              </a:defRPr>
            </a:pPr>
            <a:r>
              <a:rPr sz="1650" b="0" i="0">
                <a:solidFill>
                  <a:srgbClr val="16363B"/>
                </a:solidFill>
                <a:latin typeface="Aptos"/>
                <a:ea typeface="Aptos"/>
                <a:cs typeface="Aptos"/>
              </a:rPr>
              <a:t>Owner module + explicit dependencies</a:t>
            </a:r>
          </a:p>
        </p:txBody>
      </p:sp>
      <p:sp>
        <p:nvSpPr>
          <p:cNvPr id="7" name="">
            <a:extLst xmlns:a="http://schemas.openxmlformats.org/drawingml/2006/main">
              <a:ext uri="{FF2B5EF4-FFF2-40B4-BE49-F238E27FC236}">
                <a16:creationId xmlns:a16="http://schemas.microsoft.com/office/drawing/2014/main" id="{B241EB9E-F7E9-4835-A860-1B4F6DA6A541}"/>
              </a:ext>
            </a:extLst>
          </p:cNvPr>
          <p:cNvSpPr>
            <a:spLocks xmlns:a="http://schemas.openxmlformats.org/drawingml/2006/main" noGrp="1"/>
          </p:cNvSpPr>
          <p:nvPr/>
        </p:nvSpPr>
        <p:spPr>
          <a:xfrm xmlns:a="http://schemas.openxmlformats.org/drawingml/2006/main">
            <a:off x="762000" y="2009775"/>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700" b="1" i="0">
                <a:solidFill>
                  <a:srgbClr val="063E4D"/>
                </a:solidFill>
                <a:latin typeface="Georgia"/>
                <a:ea typeface="Georgia"/>
                <a:cs typeface="Georgia"/>
              </a:defRPr>
            </a:pPr>
            <a:r>
              <a:rPr sz="2700" b="1" i="0">
                <a:solidFill>
                  <a:srgbClr val="063E4D"/>
                </a:solidFill>
                <a:latin typeface="Georgia"/>
                <a:ea typeface="Georgia"/>
                <a:cs typeface="Georgia"/>
              </a:rPr>
              <a:t>CHANGE</a:t>
            </a:r>
          </a:p>
        </p:txBody>
      </p:sp>
      <p:sp>
        <p:nvSpPr>
          <p:cNvPr id="8" name="">
            <a:extLst xmlns:a="http://schemas.openxmlformats.org/drawingml/2006/main">
              <a:ext uri="{FF2B5EF4-FFF2-40B4-BE49-F238E27FC236}">
                <a16:creationId xmlns:a16="http://schemas.microsoft.com/office/drawing/2014/main" id="{F4A51E89-1AAA-46A9-9B98-9F7590A9CBCF}"/>
              </a:ext>
            </a:extLst>
          </p:cNvPr>
          <p:cNvSpPr>
            <a:spLocks xmlns:a="http://schemas.openxmlformats.org/drawingml/2006/main" noGrp="1"/>
          </p:cNvSpPr>
          <p:nvPr/>
        </p:nvSpPr>
        <p:spPr>
          <a:xfrm xmlns:a="http://schemas.openxmlformats.org/drawingml/2006/main" flipH="0" flipV="0">
            <a:off x="2857500" y="2276475"/>
            <a:ext cx="781050" cy="0"/>
          </a:xfrm>
          <a:prstGeom xmlns:a="http://schemas.openxmlformats.org/drawingml/2006/main" prst="line">
            <a:avLst/>
          </a:prstGeom>
          <a:noFill xmlns:a="http://schemas.openxmlformats.org/drawingml/2006/main"/>
          <a:ln xmlns:a="http://schemas.openxmlformats.org/drawingml/2006/main" w="28575">
            <a:solidFill>
              <a:srgbClr val="89A98F"/>
            </a:solidFill>
            <a:prstDash val="solid"/>
          </a:ln>
        </p:spPr>
      </p:sp>
      <p:sp>
        <p:nvSpPr>
          <p:cNvPr id="9" name="">
            <a:extLst xmlns:a="http://schemas.openxmlformats.org/drawingml/2006/main">
              <a:ext uri="{FF2B5EF4-FFF2-40B4-BE49-F238E27FC236}">
                <a16:creationId xmlns:a16="http://schemas.microsoft.com/office/drawing/2014/main" id="{9573D503-1A53-4B9A-AEFB-735515B0434C}"/>
              </a:ext>
            </a:extLst>
          </p:cNvPr>
          <p:cNvSpPr>
            <a:spLocks xmlns:a="http://schemas.openxmlformats.org/drawingml/2006/main" noGrp="1"/>
          </p:cNvSpPr>
          <p:nvPr/>
        </p:nvSpPr>
        <p:spPr>
          <a:xfrm xmlns:a="http://schemas.openxmlformats.org/drawingml/2006/main">
            <a:off x="3857625" y="205740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i="0">
                <a:solidFill>
                  <a:srgbClr val="16363B"/>
                </a:solidFill>
                <a:latin typeface="Aptos"/>
                <a:ea typeface="Aptos"/>
                <a:cs typeface="Aptos"/>
              </a:defRPr>
            </a:pPr>
            <a:r>
              <a:rPr sz="1650" b="0" i="0">
                <a:solidFill>
                  <a:srgbClr val="16363B"/>
                </a:solidFill>
                <a:latin typeface="Aptos"/>
                <a:ea typeface="Aptos"/>
                <a:cs typeface="Aptos"/>
              </a:rPr>
              <a:t>Preserve specified behavior + remove obsolete branches</a:t>
            </a:r>
          </a:p>
        </p:txBody>
      </p:sp>
      <p:sp>
        <p:nvSpPr>
          <p:cNvPr id="10" name="">
            <a:extLst xmlns:a="http://schemas.openxmlformats.org/drawingml/2006/main">
              <a:ext uri="{FF2B5EF4-FFF2-40B4-BE49-F238E27FC236}">
                <a16:creationId xmlns:a16="http://schemas.microsoft.com/office/drawing/2014/main" id="{109A118B-FCE1-410B-942A-E36A093652CE}"/>
              </a:ext>
            </a:extLst>
          </p:cNvPr>
          <p:cNvSpPr>
            <a:spLocks xmlns:a="http://schemas.openxmlformats.org/drawingml/2006/main" noGrp="1"/>
          </p:cNvSpPr>
          <p:nvPr/>
        </p:nvSpPr>
        <p:spPr>
          <a:xfrm xmlns:a="http://schemas.openxmlformats.org/drawingml/2006/main">
            <a:off x="762000" y="2800350"/>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700" b="1" i="0">
                <a:solidFill>
                  <a:srgbClr val="063E4D"/>
                </a:solidFill>
                <a:latin typeface="Georgia"/>
                <a:ea typeface="Georgia"/>
                <a:cs typeface="Georgia"/>
              </a:defRPr>
            </a:pPr>
            <a:r>
              <a:rPr sz="2700" b="1" i="0">
                <a:solidFill>
                  <a:srgbClr val="063E4D"/>
                </a:solidFill>
                <a:latin typeface="Georgia"/>
                <a:ea typeface="Georgia"/>
                <a:cs typeface="Georgia"/>
              </a:rPr>
              <a:t>REMOVE</a:t>
            </a:r>
          </a:p>
        </p:txBody>
      </p:sp>
      <p:sp>
        <p:nvSpPr>
          <p:cNvPr id="11" name="">
            <a:extLst xmlns:a="http://schemas.openxmlformats.org/drawingml/2006/main">
              <a:ext uri="{FF2B5EF4-FFF2-40B4-BE49-F238E27FC236}">
                <a16:creationId xmlns:a16="http://schemas.microsoft.com/office/drawing/2014/main" id="{961D6C6D-529F-4A23-8D38-498BD735D568}"/>
              </a:ext>
            </a:extLst>
          </p:cNvPr>
          <p:cNvSpPr>
            <a:spLocks xmlns:a="http://schemas.openxmlformats.org/drawingml/2006/main" noGrp="1"/>
          </p:cNvSpPr>
          <p:nvPr/>
        </p:nvSpPr>
        <p:spPr>
          <a:xfrm xmlns:a="http://schemas.openxmlformats.org/drawingml/2006/main" flipH="0" flipV="0">
            <a:off x="2857500" y="3067050"/>
            <a:ext cx="781050" cy="0"/>
          </a:xfrm>
          <a:prstGeom xmlns:a="http://schemas.openxmlformats.org/drawingml/2006/main" prst="line">
            <a:avLst/>
          </a:prstGeom>
          <a:noFill xmlns:a="http://schemas.openxmlformats.org/drawingml/2006/main"/>
          <a:ln xmlns:a="http://schemas.openxmlformats.org/drawingml/2006/main" w="28575">
            <a:solidFill>
              <a:srgbClr val="89A98F"/>
            </a:solidFill>
            <a:prstDash val="solid"/>
          </a:ln>
        </p:spPr>
      </p:sp>
      <p:sp>
        <p:nvSpPr>
          <p:cNvPr id="12" name="">
            <a:extLst xmlns:a="http://schemas.openxmlformats.org/drawingml/2006/main">
              <a:ext uri="{FF2B5EF4-FFF2-40B4-BE49-F238E27FC236}">
                <a16:creationId xmlns:a16="http://schemas.microsoft.com/office/drawing/2014/main" id="{A5E33547-756D-416E-A886-442836026955}"/>
              </a:ext>
            </a:extLst>
          </p:cNvPr>
          <p:cNvSpPr>
            <a:spLocks xmlns:a="http://schemas.openxmlformats.org/drawingml/2006/main" noGrp="1"/>
          </p:cNvSpPr>
          <p:nvPr/>
        </p:nvSpPr>
        <p:spPr>
          <a:xfrm xmlns:a="http://schemas.openxmlformats.org/drawingml/2006/main">
            <a:off x="3857625" y="2847975"/>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i="0">
                <a:solidFill>
                  <a:srgbClr val="16363B"/>
                </a:solidFill>
                <a:latin typeface="Aptos"/>
                <a:ea typeface="Aptos"/>
                <a:cs typeface="Aptos"/>
              </a:defRPr>
            </a:pPr>
            <a:r>
              <a:rPr sz="1650" b="0" i="0">
                <a:solidFill>
                  <a:srgbClr val="16363B"/>
                </a:solidFill>
                <a:latin typeface="Aptos"/>
                <a:ea typeface="Aptos"/>
                <a:cs typeface="Aptos"/>
              </a:rPr>
              <a:t>Delete logic, state, UI, imports + stale documentation</a:t>
            </a:r>
          </a:p>
        </p:txBody>
      </p:sp>
      <p:sp>
        <p:nvSpPr>
          <p:cNvPr id="13" name="">
            <a:extLst xmlns:a="http://schemas.openxmlformats.org/drawingml/2006/main">
              <a:ext uri="{FF2B5EF4-FFF2-40B4-BE49-F238E27FC236}">
                <a16:creationId xmlns:a16="http://schemas.microsoft.com/office/drawing/2014/main" id="{5BC0250C-CDC5-4558-87A7-63F40B02176C}"/>
              </a:ext>
            </a:extLst>
          </p:cNvPr>
          <p:cNvSpPr>
            <a:spLocks xmlns:a="http://schemas.openxmlformats.org/drawingml/2006/main" noGrp="1"/>
          </p:cNvSpPr>
          <p:nvPr/>
        </p:nvSpPr>
        <p:spPr>
          <a:xfrm xmlns:a="http://schemas.openxmlformats.org/drawingml/2006/main">
            <a:off x="762000" y="3590925"/>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3150" b="1" i="0">
                <a:solidFill>
                  <a:srgbClr val="E7C48D"/>
                </a:solidFill>
                <a:latin typeface="Georgia"/>
                <a:ea typeface="Georgia"/>
                <a:cs typeface="Georgia"/>
              </a:defRPr>
            </a:pPr>
            <a:r>
              <a:rPr sz="3150" b="1" i="0">
                <a:solidFill>
                  <a:srgbClr val="E7C48D"/>
                </a:solidFill>
                <a:latin typeface="Georgia"/>
                <a:ea typeface="Georgia"/>
                <a:cs typeface="Georgia"/>
              </a:rPr>
              <a:t>FIX</a:t>
            </a:r>
          </a:p>
        </p:txBody>
      </p:sp>
      <p:sp>
        <p:nvSpPr>
          <p:cNvPr id="14" name="">
            <a:extLst xmlns:a="http://schemas.openxmlformats.org/drawingml/2006/main">
              <a:ext uri="{FF2B5EF4-FFF2-40B4-BE49-F238E27FC236}">
                <a16:creationId xmlns:a16="http://schemas.microsoft.com/office/drawing/2014/main" id="{314E6EC2-7081-416C-8640-D01A146E408F}"/>
              </a:ext>
            </a:extLst>
          </p:cNvPr>
          <p:cNvSpPr>
            <a:spLocks xmlns:a="http://schemas.openxmlformats.org/drawingml/2006/main" noGrp="1"/>
          </p:cNvSpPr>
          <p:nvPr/>
        </p:nvSpPr>
        <p:spPr>
          <a:xfrm xmlns:a="http://schemas.openxmlformats.org/drawingml/2006/main" flipH="0" flipV="0">
            <a:off x="2857500" y="3857625"/>
            <a:ext cx="781050" cy="0"/>
          </a:xfrm>
          <a:prstGeom xmlns:a="http://schemas.openxmlformats.org/drawingml/2006/main" prst="line">
            <a:avLst/>
          </a:prstGeom>
          <a:noFill xmlns:a="http://schemas.openxmlformats.org/drawingml/2006/main"/>
          <a:ln xmlns:a="http://schemas.openxmlformats.org/drawingml/2006/main" w="28575">
            <a:solidFill>
              <a:srgbClr val="E7C48D"/>
            </a:solidFill>
            <a:prstDash val="solid"/>
          </a:ln>
        </p:spPr>
      </p:sp>
      <p:sp>
        <p:nvSpPr>
          <p:cNvPr id="15" name="">
            <a:extLst xmlns:a="http://schemas.openxmlformats.org/drawingml/2006/main">
              <a:ext uri="{FF2B5EF4-FFF2-40B4-BE49-F238E27FC236}">
                <a16:creationId xmlns:a16="http://schemas.microsoft.com/office/drawing/2014/main" id="{9EDBE9DE-C049-4AEE-B6D1-0011AD44CB5C}"/>
              </a:ext>
            </a:extLst>
          </p:cNvPr>
          <p:cNvSpPr>
            <a:spLocks xmlns:a="http://schemas.openxmlformats.org/drawingml/2006/main" noGrp="1"/>
          </p:cNvSpPr>
          <p:nvPr/>
        </p:nvSpPr>
        <p:spPr>
          <a:xfrm xmlns:a="http://schemas.openxmlformats.org/drawingml/2006/main">
            <a:off x="3857625" y="363855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i="0">
                <a:solidFill>
                  <a:srgbClr val="16363B"/>
                </a:solidFill>
                <a:latin typeface="Aptos"/>
                <a:ea typeface="Aptos"/>
                <a:cs typeface="Aptos"/>
              </a:defRPr>
            </a:pPr>
            <a:r>
              <a:rPr sz="1650" b="0" i="0">
                <a:solidFill>
                  <a:srgbClr val="16363B"/>
                </a:solidFill>
                <a:latin typeface="Aptos"/>
                <a:ea typeface="Aptos"/>
                <a:cs typeface="Aptos"/>
              </a:rPr>
              <a:t>Reproduce -&gt; root cause -&gt; focused regression check</a:t>
            </a:r>
          </a:p>
        </p:txBody>
      </p:sp>
      <p:sp>
        <p:nvSpPr>
          <p:cNvPr id="16" name="">
            <a:extLst xmlns:a="http://schemas.openxmlformats.org/drawingml/2006/main">
              <a:ext uri="{FF2B5EF4-FFF2-40B4-BE49-F238E27FC236}">
                <a16:creationId xmlns:a16="http://schemas.microsoft.com/office/drawing/2014/main" id="{D949D8EA-2B45-4469-8283-8BC66145A5FA}"/>
              </a:ext>
            </a:extLst>
          </p:cNvPr>
          <p:cNvSpPr>
            <a:spLocks xmlns:a="http://schemas.openxmlformats.org/drawingml/2006/main" noGrp="1"/>
          </p:cNvSpPr>
          <p:nvPr/>
        </p:nvSpPr>
        <p:spPr>
          <a:xfrm xmlns:a="http://schemas.openxmlformats.org/drawingml/2006/main">
            <a:off x="762000" y="4381500"/>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700" b="1" i="0">
                <a:solidFill>
                  <a:srgbClr val="063E4D"/>
                </a:solidFill>
                <a:latin typeface="Georgia"/>
                <a:ea typeface="Georgia"/>
                <a:cs typeface="Georgia"/>
              </a:defRPr>
            </a:pPr>
            <a:r>
              <a:rPr sz="2700" b="1" i="0">
                <a:solidFill>
                  <a:srgbClr val="063E4D"/>
                </a:solidFill>
                <a:latin typeface="Georgia"/>
                <a:ea typeface="Georgia"/>
                <a:cs typeface="Georgia"/>
              </a:rPr>
              <a:t>REFACTOR</a:t>
            </a:r>
          </a:p>
        </p:txBody>
      </p:sp>
      <p:sp>
        <p:nvSpPr>
          <p:cNvPr id="17" name="">
            <a:extLst xmlns:a="http://schemas.openxmlformats.org/drawingml/2006/main">
              <a:ext uri="{FF2B5EF4-FFF2-40B4-BE49-F238E27FC236}">
                <a16:creationId xmlns:a16="http://schemas.microsoft.com/office/drawing/2014/main" id="{90CCF786-3EBC-4C41-A50A-2F895F695B59}"/>
              </a:ext>
            </a:extLst>
          </p:cNvPr>
          <p:cNvSpPr>
            <a:spLocks xmlns:a="http://schemas.openxmlformats.org/drawingml/2006/main" noGrp="1"/>
          </p:cNvSpPr>
          <p:nvPr/>
        </p:nvSpPr>
        <p:spPr>
          <a:xfrm xmlns:a="http://schemas.openxmlformats.org/drawingml/2006/main" flipH="0" flipV="0">
            <a:off x="2857500" y="4648200"/>
            <a:ext cx="781050" cy="0"/>
          </a:xfrm>
          <a:prstGeom xmlns:a="http://schemas.openxmlformats.org/drawingml/2006/main" prst="line">
            <a:avLst/>
          </a:prstGeom>
          <a:noFill xmlns:a="http://schemas.openxmlformats.org/drawingml/2006/main"/>
          <a:ln xmlns:a="http://schemas.openxmlformats.org/drawingml/2006/main" w="28575">
            <a:solidFill>
              <a:srgbClr val="89A98F"/>
            </a:solidFill>
            <a:prstDash val="solid"/>
          </a:ln>
        </p:spPr>
      </p:sp>
      <p:sp>
        <p:nvSpPr>
          <p:cNvPr id="18" name="">
            <a:extLst xmlns:a="http://schemas.openxmlformats.org/drawingml/2006/main">
              <a:ext uri="{FF2B5EF4-FFF2-40B4-BE49-F238E27FC236}">
                <a16:creationId xmlns:a16="http://schemas.microsoft.com/office/drawing/2014/main" id="{2462A25B-D6FA-4793-9EBB-16A7EC1DAF12}"/>
              </a:ext>
            </a:extLst>
          </p:cNvPr>
          <p:cNvSpPr>
            <a:spLocks xmlns:a="http://schemas.openxmlformats.org/drawingml/2006/main" noGrp="1"/>
          </p:cNvSpPr>
          <p:nvPr/>
        </p:nvSpPr>
        <p:spPr>
          <a:xfrm xmlns:a="http://schemas.openxmlformats.org/drawingml/2006/main">
            <a:off x="3857625" y="4429125"/>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650" b="0" i="0">
                <a:solidFill>
                  <a:srgbClr val="16363B"/>
                </a:solidFill>
                <a:latin typeface="Aptos"/>
                <a:ea typeface="Aptos"/>
                <a:cs typeface="Aptos"/>
              </a:defRPr>
            </a:pPr>
            <a:r>
              <a:rPr sz="1650" b="0" i="0">
                <a:solidFill>
                  <a:srgbClr val="16363B"/>
                </a:solidFill>
                <a:latin typeface="Aptos"/>
                <a:ea typeface="Aptos"/>
                <a:cs typeface="Aptos"/>
              </a:rPr>
              <a:t>Preserve public behavior + separate incrementally</a:t>
            </a:r>
          </a:p>
        </p:txBody>
      </p:sp>
      <p:sp>
        <p:nvSpPr>
          <p:cNvPr id="19" name="">
            <a:extLst xmlns:a="http://schemas.openxmlformats.org/drawingml/2006/main">
              <a:ext uri="{FF2B5EF4-FFF2-40B4-BE49-F238E27FC236}">
                <a16:creationId xmlns:a16="http://schemas.microsoft.com/office/drawing/2014/main" id="{74331C8B-EB8B-4EDF-8EC7-5B9B41A2EEF9}"/>
              </a:ext>
            </a:extLst>
          </p:cNvPr>
          <p:cNvSpPr>
            <a:spLocks xmlns:a="http://schemas.openxmlformats.org/drawingml/2006/main" noGrp="1"/>
          </p:cNvSpPr>
          <p:nvPr/>
        </p:nvSpPr>
        <p:spPr>
          <a:xfrm xmlns:a="http://schemas.openxmlformats.org/drawingml/2006/main">
            <a:off x="6572250" y="5181600"/>
            <a:ext cx="4762500" cy="1066800"/>
          </a:xfrm>
          <a:prstGeom xmlns:a="http://schemas.openxmlformats.org/drawingml/2006/main" prst="roundRect">
            <a:avLst>
              <a:gd name="adj" fmla="val 14286"/>
            </a:avLst>
          </a:prstGeom>
          <a:solidFill xmlns:a="http://schemas.openxmlformats.org/drawingml/2006/main">
            <a:srgbClr val="063E4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F4946D2-1898-41E3-8941-23F01F04F043}"/>
              </a:ext>
            </a:extLst>
          </p:cNvPr>
          <p:cNvSpPr>
            <a:spLocks xmlns:a="http://schemas.openxmlformats.org/drawingml/2006/main" noGrp="1"/>
          </p:cNvSpPr>
          <p:nvPr/>
        </p:nvSpPr>
        <p:spPr>
          <a:xfrm xmlns:a="http://schemas.openxmlformats.org/drawingml/2006/main">
            <a:off x="6819900" y="5353050"/>
            <a:ext cx="428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777"/>
          </a:bodyPr>
          <a:lstStyle xmlns:a="http://schemas.openxmlformats.org/drawingml/2006/main"/>
          <a:p xmlns:a="http://schemas.openxmlformats.org/drawingml/2006/main">
            <a:pPr algn="l">
              <a:lnSpc>
                <a:spcPct val="108000"/>
              </a:lnSpc>
              <a:buNone/>
              <a:defRPr sz="1275" b="0" i="0">
                <a:solidFill>
                  <a:srgbClr val="F7F5F2"/>
                </a:solidFill>
                <a:latin typeface="Aptos"/>
                <a:ea typeface="Aptos"/>
                <a:cs typeface="Aptos"/>
              </a:defRPr>
            </a:pPr>
            <a:r>
              <a:rPr sz="1275" b="0" i="0">
                <a:solidFill>
                  <a:srgbClr val="F7F5F2"/>
                </a:solidFill>
                <a:latin typeface="Aptos"/>
                <a:ea typeface="Aptos"/>
                <a:cs typeface="Aptos"/>
              </a:rPr>
              <a:t>Observed behavior: ...</a:t>
            </a:r>
          </a:p>
          <a:p xmlns:a="http://schemas.openxmlformats.org/drawingml/2006/main">
            <a:pPr algn="l">
              <a:lnSpc>
                <a:spcPct val="108000"/>
              </a:lnSpc>
              <a:buNone/>
              <a:defRPr sz="1275" b="0" i="0">
                <a:solidFill>
                  <a:srgbClr val="F7F5F2"/>
                </a:solidFill>
                <a:latin typeface="Aptos"/>
                <a:ea typeface="Aptos"/>
                <a:cs typeface="Aptos"/>
              </a:defRPr>
            </a:pPr>
            <a:r>
              <a:rPr sz="1275" b="0" i="0">
                <a:solidFill>
                  <a:srgbClr val="F7F5F2"/>
                </a:solidFill>
                <a:latin typeface="Aptos"/>
                <a:ea typeface="Aptos"/>
                <a:cs typeface="Aptos"/>
              </a:rPr>
              <a:t>Expected behavior: ...</a:t>
            </a:r>
          </a:p>
          <a:p xmlns:a="http://schemas.openxmlformats.org/drawingml/2006/main">
            <a:pPr algn="l">
              <a:lnSpc>
                <a:spcPct val="108000"/>
              </a:lnSpc>
              <a:buNone/>
              <a:defRPr sz="1275" b="0" i="0">
                <a:solidFill>
                  <a:srgbClr val="F7F5F2"/>
                </a:solidFill>
                <a:latin typeface="Aptos"/>
                <a:ea typeface="Aptos"/>
                <a:cs typeface="Aptos"/>
              </a:defRPr>
            </a:pPr>
            <a:r>
              <a:rPr sz="1275" b="0" i="0">
                <a:solidFill>
                  <a:srgbClr val="F7F5F2"/>
                </a:solidFill>
                <a:latin typeface="Aptos"/>
                <a:ea typeface="Aptos"/>
                <a:cs typeface="Aptos"/>
              </a:rPr>
              <a:t>How to reproduce: ...</a:t>
            </a:r>
          </a:p>
          <a:p xmlns:a="http://schemas.openxmlformats.org/drawingml/2006/main">
            <a:pPr algn="l">
              <a:lnSpc>
                <a:spcPct val="108000"/>
              </a:lnSpc>
              <a:buNone/>
              <a:defRPr sz="1275" b="0" i="0">
                <a:solidFill>
                  <a:srgbClr val="F7F5F2"/>
                </a:solidFill>
                <a:latin typeface="Aptos"/>
                <a:ea typeface="Aptos"/>
                <a:cs typeface="Aptos"/>
              </a:defRPr>
            </a:pPr>
            <a:r>
              <a:rPr sz="1275" b="0" i="0">
                <a:solidFill>
                  <a:srgbClr val="F7F5F2"/>
                </a:solidFill>
                <a:latin typeface="Aptos"/>
                <a:ea typeface="Aptos"/>
                <a:cs typeface="Aptos"/>
              </a:rPr>
              <a:t>Identify the root cause before editing.</a:t>
            </a:r>
          </a:p>
        </p:txBody>
      </p:sp>
      <p:sp>
        <p:nvSpPr>
          <p:cNvPr id="21" name="">
            <a:extLst xmlns:a="http://schemas.openxmlformats.org/drawingml/2006/main">
              <a:ext uri="{FF2B5EF4-FFF2-40B4-BE49-F238E27FC236}">
                <a16:creationId xmlns:a16="http://schemas.microsoft.com/office/drawing/2014/main" id="{554AAA7A-C485-4D75-8353-22FE54F3DEBE}"/>
              </a:ext>
            </a:extLst>
          </p:cNvPr>
          <p:cNvSpPr>
            <a:spLocks xmlns:a="http://schemas.openxmlformats.org/drawingml/2006/main" noGrp="1"/>
          </p:cNvSpPr>
          <p:nvPr/>
        </p:nvSpPr>
        <p:spPr>
          <a:xfrm xmlns:a="http://schemas.openxmlformats.org/drawingml/2006/main">
            <a:off x="781050" y="55626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350" b="1" i="0">
                <a:solidFill>
                  <a:srgbClr val="E7C48D"/>
                </a:solidFill>
                <a:latin typeface="Aptos"/>
                <a:ea typeface="Aptos"/>
                <a:cs typeface="Aptos"/>
              </a:defRPr>
            </a:pPr>
            <a:r>
              <a:rPr sz="1350" b="1" i="0">
                <a:solidFill>
                  <a:srgbClr val="E7C48D"/>
                </a:solidFill>
                <a:latin typeface="Aptos"/>
                <a:ea typeface="Aptos"/>
                <a:cs typeface="Aptos"/>
              </a:rPr>
              <a:t>KEEP UNCHANGED</a:t>
            </a:r>
          </a:p>
        </p:txBody>
      </p:sp>
      <p:sp>
        <p:nvSpPr>
          <p:cNvPr id="22" name="">
            <a:extLst xmlns:a="http://schemas.openxmlformats.org/drawingml/2006/main">
              <a:ext uri="{FF2B5EF4-FFF2-40B4-BE49-F238E27FC236}">
                <a16:creationId xmlns:a16="http://schemas.microsoft.com/office/drawing/2014/main" id="{B8383213-CFF7-4AE3-B42C-5BD84CCF9E52}"/>
              </a:ext>
            </a:extLst>
          </p:cNvPr>
          <p:cNvSpPr>
            <a:spLocks xmlns:a="http://schemas.openxmlformats.org/drawingml/2006/main" noGrp="1"/>
          </p:cNvSpPr>
          <p:nvPr/>
        </p:nvSpPr>
        <p:spPr>
          <a:xfrm xmlns:a="http://schemas.openxmlformats.org/drawingml/2006/main">
            <a:off x="781050" y="5905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350" b="1" i="0">
                <a:solidFill>
                  <a:srgbClr val="E7C48D"/>
                </a:solidFill>
                <a:latin typeface="Aptos"/>
                <a:ea typeface="Aptos"/>
                <a:cs typeface="Aptos"/>
              </a:defRPr>
            </a:pPr>
            <a:r>
              <a:rPr sz="1350" b="1" i="0">
                <a:solidFill>
                  <a:srgbClr val="E7C48D"/>
                </a:solidFill>
                <a:latin typeface="Aptos"/>
                <a:ea typeface="Aptos"/>
                <a:cs typeface="Aptos"/>
              </a:rPr>
              <a:t>VERIFICATION</a:t>
            </a:r>
          </a:p>
        </p:txBody>
      </p:sp>
      <p:sp>
        <p:nvSpPr>
          <p:cNvPr id="23" name="">
            <a:extLst xmlns:a="http://schemas.openxmlformats.org/drawingml/2006/main">
              <a:ext uri="{FF2B5EF4-FFF2-40B4-BE49-F238E27FC236}">
                <a16:creationId xmlns:a16="http://schemas.microsoft.com/office/drawing/2014/main" id="{87470097-2B0B-4B2C-9AAE-C919CF7CF2DF}"/>
              </a:ext>
            </a:extLst>
          </p:cNvPr>
          <p:cNvSpPr>
            <a:spLocks xmlns:a="http://schemas.openxmlformats.org/drawingml/2006/main" noGrp="1"/>
          </p:cNvSpPr>
          <p:nvPr/>
        </p:nvSpPr>
        <p:spPr>
          <a:xfrm xmlns:a="http://schemas.openxmlformats.org/drawingml/2006/main">
            <a:off x="552450" y="65341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825" b="1" i="0">
                <a:solidFill>
                  <a:srgbClr val="6A7C7F"/>
                </a:solidFill>
                <a:latin typeface="Aptos"/>
                <a:ea typeface="Aptos"/>
                <a:cs typeface="Aptos"/>
              </a:defRPr>
            </a:pPr>
            <a:r>
              <a:rPr sz="825" b="1" i="0">
                <a:solidFill>
                  <a:srgbClr val="6A7C7F"/>
                </a:solidFill>
                <a:latin typeface="Aptos"/>
                <a:ea typeface="Aptos"/>
                <a:cs typeface="Aptos"/>
              </a:rPr>
              <a:t>JAMAA NEXT DOOR</a:t>
            </a:r>
          </a:p>
        </p:txBody>
      </p:sp>
      <p:sp>
        <p:nvSpPr>
          <p:cNvPr id="24" name="">
            <a:extLst xmlns:a="http://schemas.openxmlformats.org/drawingml/2006/main">
              <a:ext uri="{FF2B5EF4-FFF2-40B4-BE49-F238E27FC236}">
                <a16:creationId xmlns:a16="http://schemas.microsoft.com/office/drawing/2014/main" id="{B223C22D-FF54-4ECB-8A18-92FA9C672EF1}"/>
              </a:ext>
            </a:extLst>
          </p:cNvPr>
          <p:cNvSpPr>
            <a:spLocks xmlns:a="http://schemas.openxmlformats.org/drawingml/2006/main" noGrp="1"/>
          </p:cNvSpPr>
          <p:nvPr/>
        </p:nvSpPr>
        <p:spPr>
          <a:xfrm xmlns:a="http://schemas.openxmlformats.org/drawingml/2006/main">
            <a:off x="1125855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900" b="1" i="0">
                <a:solidFill>
                  <a:srgbClr val="E7C48D"/>
                </a:solidFill>
                <a:latin typeface="Aptos"/>
                <a:ea typeface="Aptos"/>
                <a:cs typeface="Aptos"/>
              </a:defRPr>
            </a:pPr>
            <a:r>
              <a:rPr sz="900" b="1" i="0">
                <a:solidFill>
                  <a:srgbClr val="E7C48D"/>
                </a:solidFill>
                <a:latin typeface="Aptos"/>
                <a:ea typeface="Aptos"/>
                <a:cs typeface="Aptos"/>
              </a:rPr>
              <a:t>10</a:t>
            </a:r>
          </a:p>
        </p:txBody>
      </p:sp>
    </p:spTree>
    <p:extLst>
      <p:ext uri="{BB962C8B-B14F-4D97-AF65-F5344CB8AC3E}">
        <p14:creationId xmlns:p14="http://schemas.microsoft.com/office/powerpoint/2010/main" val="685892706"/>
      </p:ext>
    </p:extLst>
  </p:cSld>
</p:sld>
</file>

<file path=ppt/slides/slide11.xml><?xml version="1.0" encoding="utf-8"?>
<p:sld xmlns:p="http://schemas.openxmlformats.org/presentationml/2006/main">
  <p:cSld>
    <p:bg>
      <p:bgPr>
        <a:solidFill xmlns:a="http://schemas.openxmlformats.org/drawingml/2006/main">
          <a:srgbClr val="102F33"/>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2214465-41F2-4464-AAF8-7B49C169FF94}"/>
              </a:ext>
            </a:extLst>
          </p:cNvPr>
          <p:cNvSpPr>
            <a:spLocks xmlns:a="http://schemas.openxmlformats.org/drawingml/2006/main" noGrp="1"/>
          </p:cNvSpPr>
          <p:nvPr/>
        </p:nvSpPr>
        <p:spPr>
          <a:xfrm xmlns:a="http://schemas.openxmlformats.org/drawingml/2006/main">
            <a:off x="552450" y="3238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E7C48D"/>
                </a:solidFill>
                <a:latin typeface="Aptos"/>
                <a:ea typeface="Aptos"/>
                <a:cs typeface="Aptos"/>
              </a:defRPr>
            </a:pPr>
            <a:r>
              <a:rPr sz="1275" b="1" i="0">
                <a:solidFill>
                  <a:srgbClr val="E7C48D"/>
                </a:solidFill>
                <a:latin typeface="Aptos"/>
                <a:ea typeface="Aptos"/>
                <a:cs typeface="Aptos"/>
              </a:rPr>
              <a:t>11</a:t>
            </a:r>
          </a:p>
        </p:txBody>
      </p:sp>
      <p:sp>
        <p:nvSpPr>
          <p:cNvPr id="2" name="">
            <a:extLst xmlns:a="http://schemas.openxmlformats.org/drawingml/2006/main">
              <a:ext uri="{FF2B5EF4-FFF2-40B4-BE49-F238E27FC236}">
                <a16:creationId xmlns:a16="http://schemas.microsoft.com/office/drawing/2014/main" id="{BAFE8249-C058-4A00-922C-7148C5A2A018}"/>
              </a:ext>
            </a:extLst>
          </p:cNvPr>
          <p:cNvSpPr>
            <a:spLocks xmlns:a="http://schemas.openxmlformats.org/drawingml/2006/main" noGrp="1"/>
          </p:cNvSpPr>
          <p:nvPr/>
        </p:nvSpPr>
        <p:spPr>
          <a:xfrm xmlns:a="http://schemas.openxmlformats.org/drawingml/2006/main" flipH="0" flipV="0">
            <a:off x="1104900" y="447675"/>
            <a:ext cx="514350" cy="0"/>
          </a:xfrm>
          <a:prstGeom xmlns:a="http://schemas.openxmlformats.org/drawingml/2006/main" prst="line">
            <a:avLst/>
          </a:prstGeom>
          <a:noFill xmlns:a="http://schemas.openxmlformats.org/drawingml/2006/main"/>
          <a:ln xmlns:a="http://schemas.openxmlformats.org/drawingml/2006/main" w="19050">
            <a:solidFill>
              <a:srgbClr val="89A98F"/>
            </a:solidFill>
            <a:prstDash val="solid"/>
          </a:ln>
        </p:spPr>
      </p:sp>
      <p:sp>
        <p:nvSpPr>
          <p:cNvPr id="3" name="">
            <a:extLst xmlns:a="http://schemas.openxmlformats.org/drawingml/2006/main">
              <a:ext uri="{FF2B5EF4-FFF2-40B4-BE49-F238E27FC236}">
                <a16:creationId xmlns:a16="http://schemas.microsoft.com/office/drawing/2014/main" id="{A53AAF14-573D-4010-BA9D-EFD45E18187A}"/>
              </a:ext>
            </a:extLst>
          </p:cNvPr>
          <p:cNvSpPr>
            <a:spLocks xmlns:a="http://schemas.openxmlformats.org/drawingml/2006/main" noGrp="1"/>
          </p:cNvSpPr>
          <p:nvPr/>
        </p:nvSpPr>
        <p:spPr>
          <a:xfrm xmlns:a="http://schemas.openxmlformats.org/drawingml/2006/main">
            <a:off x="1790700" y="247650"/>
            <a:ext cx="9848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2625" b="1" i="0">
                <a:solidFill>
                  <a:srgbClr val="F7F5F2"/>
                </a:solidFill>
                <a:latin typeface="Georgia"/>
                <a:ea typeface="Georgia"/>
                <a:cs typeface="Georgia"/>
              </a:defRPr>
            </a:pPr>
            <a:r>
              <a:rPr sz="2625" b="1" i="0">
                <a:solidFill>
                  <a:srgbClr val="F7F5F2"/>
                </a:solidFill>
                <a:latin typeface="Georgia"/>
                <a:ea typeface="Georgia"/>
                <a:cs typeface="Georgia"/>
              </a:rPr>
              <a:t>Direct access shortened the feedback loop</a:t>
            </a:r>
          </a:p>
        </p:txBody>
      </p:sp>
      <p:sp>
        <p:nvSpPr>
          <p:cNvPr id="4" name="">
            <a:extLst xmlns:a="http://schemas.openxmlformats.org/drawingml/2006/main">
              <a:ext uri="{FF2B5EF4-FFF2-40B4-BE49-F238E27FC236}">
                <a16:creationId xmlns:a16="http://schemas.microsoft.com/office/drawing/2014/main" id="{6A0A0CD3-0171-45BC-A442-3FC62E4AC1A8}"/>
              </a:ext>
            </a:extLst>
          </p:cNvPr>
          <p:cNvSpPr>
            <a:spLocks xmlns:a="http://schemas.openxmlformats.org/drawingml/2006/main" noGrp="1"/>
          </p:cNvSpPr>
          <p:nvPr/>
        </p:nvSpPr>
        <p:spPr>
          <a:xfrm xmlns:a="http://schemas.openxmlformats.org/drawingml/2006/main">
            <a:off x="914400" y="4838700"/>
            <a:ext cx="266700" cy="266700"/>
          </a:xfrm>
          <a:prstGeom xmlns:a="http://schemas.openxmlformats.org/drawingml/2006/main" prst="ellipse">
            <a:avLst/>
          </a:prstGeom>
          <a:solidFill xmlns:a="http://schemas.openxmlformats.org/drawingml/2006/main">
            <a:srgbClr val="E7C48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045A760-0D40-4425-B3B2-5B30DA06B515}"/>
              </a:ext>
            </a:extLst>
          </p:cNvPr>
          <p:cNvSpPr>
            <a:spLocks xmlns:a="http://schemas.openxmlformats.org/drawingml/2006/main" noGrp="1"/>
          </p:cNvSpPr>
          <p:nvPr/>
        </p:nvSpPr>
        <p:spPr>
          <a:xfrm xmlns:a="http://schemas.openxmlformats.org/drawingml/2006/main">
            <a:off x="885825" y="48768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825" b="1" i="0">
                <a:solidFill>
                  <a:srgbClr val="102F33"/>
                </a:solidFill>
                <a:latin typeface="Aptos"/>
                <a:ea typeface="Aptos"/>
                <a:cs typeface="Aptos"/>
              </a:defRPr>
            </a:pPr>
            <a:r>
              <a:rPr sz="825" b="1" i="0">
                <a:solidFill>
                  <a:srgbClr val="102F33"/>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C334CF39-2346-4481-A77C-F9E9B382AA39}"/>
              </a:ext>
            </a:extLst>
          </p:cNvPr>
          <p:cNvSpPr>
            <a:spLocks xmlns:a="http://schemas.openxmlformats.org/drawingml/2006/main" noGrp="1"/>
          </p:cNvSpPr>
          <p:nvPr/>
        </p:nvSpPr>
        <p:spPr>
          <a:xfrm xmlns:a="http://schemas.openxmlformats.org/drawingml/2006/main">
            <a:off x="285750" y="5200650"/>
            <a:ext cx="152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200" b="1" i="0">
                <a:solidFill>
                  <a:srgbClr val="F7F5F2"/>
                </a:solidFill>
                <a:latin typeface="Aptos"/>
                <a:ea typeface="Aptos"/>
                <a:cs typeface="Aptos"/>
              </a:defRPr>
            </a:pPr>
            <a:r>
              <a:rPr sz="1200" b="1" i="0">
                <a:solidFill>
                  <a:srgbClr val="F7F5F2"/>
                </a:solidFill>
                <a:latin typeface="Aptos"/>
                <a:ea typeface="Aptos"/>
                <a:cs typeface="Aptos"/>
              </a:rPr>
              <a:t>Screenshots + written reports</a:t>
            </a:r>
          </a:p>
        </p:txBody>
      </p:sp>
      <p:sp>
        <p:nvSpPr>
          <p:cNvPr id="7" name="">
            <a:extLst xmlns:a="http://schemas.openxmlformats.org/drawingml/2006/main">
              <a:ext uri="{FF2B5EF4-FFF2-40B4-BE49-F238E27FC236}">
                <a16:creationId xmlns:a16="http://schemas.microsoft.com/office/drawing/2014/main" id="{30FC1940-1C4B-4E79-B78A-ABD786A76067}"/>
              </a:ext>
            </a:extLst>
          </p:cNvPr>
          <p:cNvSpPr>
            <a:spLocks xmlns:a="http://schemas.openxmlformats.org/drawingml/2006/main" noGrp="1"/>
          </p:cNvSpPr>
          <p:nvPr/>
        </p:nvSpPr>
        <p:spPr>
          <a:xfrm xmlns:a="http://schemas.openxmlformats.org/drawingml/2006/main">
            <a:off x="2724150" y="4210050"/>
            <a:ext cx="266700" cy="266700"/>
          </a:xfrm>
          <a:prstGeom xmlns:a="http://schemas.openxmlformats.org/drawingml/2006/main" prst="ellipse">
            <a:avLst/>
          </a:prstGeom>
          <a:solidFill xmlns:a="http://schemas.openxmlformats.org/drawingml/2006/main">
            <a:srgbClr val="E7C48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2765A30-C948-49E8-B373-02EB19741143}"/>
              </a:ext>
            </a:extLst>
          </p:cNvPr>
          <p:cNvSpPr>
            <a:spLocks xmlns:a="http://schemas.openxmlformats.org/drawingml/2006/main" noGrp="1"/>
          </p:cNvSpPr>
          <p:nvPr/>
        </p:nvSpPr>
        <p:spPr>
          <a:xfrm xmlns:a="http://schemas.openxmlformats.org/drawingml/2006/main">
            <a:off x="2695575" y="42481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825" b="1" i="0">
                <a:solidFill>
                  <a:srgbClr val="102F33"/>
                </a:solidFill>
                <a:latin typeface="Aptos"/>
                <a:ea typeface="Aptos"/>
                <a:cs typeface="Aptos"/>
              </a:defRPr>
            </a:pPr>
            <a:r>
              <a:rPr sz="825" b="1" i="0">
                <a:solidFill>
                  <a:srgbClr val="102F33"/>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D728F2BF-AA6C-4615-8FBE-3FF3136EEC6A}"/>
              </a:ext>
            </a:extLst>
          </p:cNvPr>
          <p:cNvSpPr>
            <a:spLocks xmlns:a="http://schemas.openxmlformats.org/drawingml/2006/main" noGrp="1"/>
          </p:cNvSpPr>
          <p:nvPr/>
        </p:nvSpPr>
        <p:spPr>
          <a:xfrm xmlns:a="http://schemas.openxmlformats.org/drawingml/2006/main">
            <a:off x="2095500" y="4572000"/>
            <a:ext cx="152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200" b="1" i="0">
                <a:solidFill>
                  <a:srgbClr val="F7F5F2"/>
                </a:solidFill>
                <a:latin typeface="Aptos"/>
                <a:ea typeface="Aptos"/>
                <a:cs typeface="Aptos"/>
              </a:defRPr>
            </a:pPr>
            <a:r>
              <a:rPr sz="1200" b="1" i="0">
                <a:solidFill>
                  <a:srgbClr val="F7F5F2"/>
                </a:solidFill>
                <a:latin typeface="Aptos"/>
                <a:ea typeface="Aptos"/>
                <a:cs typeface="Aptos"/>
              </a:rPr>
              <a:t>USB debugging + ADB</a:t>
            </a:r>
          </a:p>
        </p:txBody>
      </p:sp>
      <p:sp>
        <p:nvSpPr>
          <p:cNvPr id="10" name="">
            <a:extLst xmlns:a="http://schemas.openxmlformats.org/drawingml/2006/main">
              <a:ext uri="{FF2B5EF4-FFF2-40B4-BE49-F238E27FC236}">
                <a16:creationId xmlns:a16="http://schemas.microsoft.com/office/drawing/2014/main" id="{94482038-D93C-495B-B248-449A07878CE7}"/>
              </a:ext>
            </a:extLst>
          </p:cNvPr>
          <p:cNvSpPr>
            <a:spLocks xmlns:a="http://schemas.openxmlformats.org/drawingml/2006/main" noGrp="1"/>
          </p:cNvSpPr>
          <p:nvPr/>
        </p:nvSpPr>
        <p:spPr>
          <a:xfrm xmlns:a="http://schemas.openxmlformats.org/drawingml/2006/main">
            <a:off x="4552950" y="3581400"/>
            <a:ext cx="266700" cy="266700"/>
          </a:xfrm>
          <a:prstGeom xmlns:a="http://schemas.openxmlformats.org/drawingml/2006/main" prst="ellipse">
            <a:avLst/>
          </a:prstGeom>
          <a:solidFill xmlns:a="http://schemas.openxmlformats.org/drawingml/2006/main">
            <a:srgbClr val="E7C48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CDA2233-46E1-464C-A744-B7F2E59BC86B}"/>
              </a:ext>
            </a:extLst>
          </p:cNvPr>
          <p:cNvSpPr>
            <a:spLocks xmlns:a="http://schemas.openxmlformats.org/drawingml/2006/main" noGrp="1"/>
          </p:cNvSpPr>
          <p:nvPr/>
        </p:nvSpPr>
        <p:spPr>
          <a:xfrm xmlns:a="http://schemas.openxmlformats.org/drawingml/2006/main">
            <a:off x="4524375" y="36195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825" b="1" i="0">
                <a:solidFill>
                  <a:srgbClr val="102F33"/>
                </a:solidFill>
                <a:latin typeface="Aptos"/>
                <a:ea typeface="Aptos"/>
                <a:cs typeface="Aptos"/>
              </a:defRPr>
            </a:pPr>
            <a:r>
              <a:rPr sz="825" b="1" i="0">
                <a:solidFill>
                  <a:srgbClr val="102F33"/>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3521448B-F2E1-4CCC-98AC-9F1AD7B86B8C}"/>
              </a:ext>
            </a:extLst>
          </p:cNvPr>
          <p:cNvSpPr>
            <a:spLocks xmlns:a="http://schemas.openxmlformats.org/drawingml/2006/main" noGrp="1"/>
          </p:cNvSpPr>
          <p:nvPr/>
        </p:nvSpPr>
        <p:spPr>
          <a:xfrm xmlns:a="http://schemas.openxmlformats.org/drawingml/2006/main">
            <a:off x="3924300" y="3943350"/>
            <a:ext cx="152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200" b="1" i="0">
                <a:solidFill>
                  <a:srgbClr val="F7F5F2"/>
                </a:solidFill>
                <a:latin typeface="Aptos"/>
                <a:ea typeface="Aptos"/>
                <a:cs typeface="Aptos"/>
              </a:defRPr>
            </a:pPr>
            <a:r>
              <a:rPr sz="1200" b="1" i="0">
                <a:solidFill>
                  <a:srgbClr val="F7F5F2"/>
                </a:solidFill>
                <a:latin typeface="Aptos"/>
                <a:ea typeface="Aptos"/>
                <a:cs typeface="Aptos"/>
              </a:rPr>
              <a:t>Direct APK installation</a:t>
            </a:r>
          </a:p>
        </p:txBody>
      </p:sp>
      <p:sp>
        <p:nvSpPr>
          <p:cNvPr id="13" name="">
            <a:extLst xmlns:a="http://schemas.openxmlformats.org/drawingml/2006/main">
              <a:ext uri="{FF2B5EF4-FFF2-40B4-BE49-F238E27FC236}">
                <a16:creationId xmlns:a16="http://schemas.microsoft.com/office/drawing/2014/main" id="{5813A074-B39C-4D60-B804-0296945F4E2E}"/>
              </a:ext>
            </a:extLst>
          </p:cNvPr>
          <p:cNvSpPr>
            <a:spLocks xmlns:a="http://schemas.openxmlformats.org/drawingml/2006/main" noGrp="1"/>
          </p:cNvSpPr>
          <p:nvPr/>
        </p:nvSpPr>
        <p:spPr>
          <a:xfrm xmlns:a="http://schemas.openxmlformats.org/drawingml/2006/main">
            <a:off x="6381750" y="2952750"/>
            <a:ext cx="266700" cy="266700"/>
          </a:xfrm>
          <a:prstGeom xmlns:a="http://schemas.openxmlformats.org/drawingml/2006/main" prst="ellipse">
            <a:avLst/>
          </a:prstGeom>
          <a:solidFill xmlns:a="http://schemas.openxmlformats.org/drawingml/2006/main">
            <a:srgbClr val="E7C48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DC8B9D6-85AD-4958-B64E-42593D8FE4EF}"/>
              </a:ext>
            </a:extLst>
          </p:cNvPr>
          <p:cNvSpPr>
            <a:spLocks xmlns:a="http://schemas.openxmlformats.org/drawingml/2006/main" noGrp="1"/>
          </p:cNvSpPr>
          <p:nvPr/>
        </p:nvSpPr>
        <p:spPr>
          <a:xfrm xmlns:a="http://schemas.openxmlformats.org/drawingml/2006/main">
            <a:off x="6353175" y="29908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825" b="1" i="0">
                <a:solidFill>
                  <a:srgbClr val="102F33"/>
                </a:solidFill>
                <a:latin typeface="Aptos"/>
                <a:ea typeface="Aptos"/>
                <a:cs typeface="Aptos"/>
              </a:defRPr>
            </a:pPr>
            <a:r>
              <a:rPr sz="825" b="1" i="0">
                <a:solidFill>
                  <a:srgbClr val="102F33"/>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75FCE50F-0DB3-4181-9DB3-54E86A7C977B}"/>
              </a:ext>
            </a:extLst>
          </p:cNvPr>
          <p:cNvSpPr>
            <a:spLocks xmlns:a="http://schemas.openxmlformats.org/drawingml/2006/main" noGrp="1"/>
          </p:cNvSpPr>
          <p:nvPr/>
        </p:nvSpPr>
        <p:spPr>
          <a:xfrm xmlns:a="http://schemas.openxmlformats.org/drawingml/2006/main">
            <a:off x="5753100" y="3314700"/>
            <a:ext cx="152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200" b="1" i="0">
                <a:solidFill>
                  <a:srgbClr val="F7F5F2"/>
                </a:solidFill>
                <a:latin typeface="Aptos"/>
                <a:ea typeface="Aptos"/>
                <a:cs typeface="Aptos"/>
              </a:defRPr>
            </a:pPr>
            <a:r>
              <a:rPr sz="1200" b="1" i="0">
                <a:solidFill>
                  <a:srgbClr val="F7F5F2"/>
                </a:solidFill>
                <a:latin typeface="Aptos"/>
                <a:ea typeface="Aptos"/>
                <a:cs typeface="Aptos"/>
              </a:rPr>
              <a:t>Device logs + reproduction</a:t>
            </a:r>
          </a:p>
        </p:txBody>
      </p:sp>
      <p:sp>
        <p:nvSpPr>
          <p:cNvPr id="16" name="">
            <a:extLst xmlns:a="http://schemas.openxmlformats.org/drawingml/2006/main">
              <a:ext uri="{FF2B5EF4-FFF2-40B4-BE49-F238E27FC236}">
                <a16:creationId xmlns:a16="http://schemas.microsoft.com/office/drawing/2014/main" id="{E90E92C1-F046-4BCF-AA47-B02E6A823803}"/>
              </a:ext>
            </a:extLst>
          </p:cNvPr>
          <p:cNvSpPr>
            <a:spLocks xmlns:a="http://schemas.openxmlformats.org/drawingml/2006/main" noGrp="1"/>
          </p:cNvSpPr>
          <p:nvPr/>
        </p:nvSpPr>
        <p:spPr>
          <a:xfrm xmlns:a="http://schemas.openxmlformats.org/drawingml/2006/main">
            <a:off x="8210550" y="2324100"/>
            <a:ext cx="266700" cy="266700"/>
          </a:xfrm>
          <a:prstGeom xmlns:a="http://schemas.openxmlformats.org/drawingml/2006/main" prst="ellipse">
            <a:avLst/>
          </a:prstGeom>
          <a:solidFill xmlns:a="http://schemas.openxmlformats.org/drawingml/2006/main">
            <a:srgbClr val="E7C48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7A1ED99-DB9C-47EC-8D5B-A486E38B6282}"/>
              </a:ext>
            </a:extLst>
          </p:cNvPr>
          <p:cNvSpPr>
            <a:spLocks xmlns:a="http://schemas.openxmlformats.org/drawingml/2006/main" noGrp="1"/>
          </p:cNvSpPr>
          <p:nvPr/>
        </p:nvSpPr>
        <p:spPr>
          <a:xfrm xmlns:a="http://schemas.openxmlformats.org/drawingml/2006/main">
            <a:off x="8181975" y="23622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825" b="1" i="0">
                <a:solidFill>
                  <a:srgbClr val="102F33"/>
                </a:solidFill>
                <a:latin typeface="Aptos"/>
                <a:ea typeface="Aptos"/>
                <a:cs typeface="Aptos"/>
              </a:defRPr>
            </a:pPr>
            <a:r>
              <a:rPr sz="825" b="1" i="0">
                <a:solidFill>
                  <a:srgbClr val="102F33"/>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4974391B-EA66-48E1-8B40-6A58153C35B8}"/>
              </a:ext>
            </a:extLst>
          </p:cNvPr>
          <p:cNvSpPr>
            <a:spLocks xmlns:a="http://schemas.openxmlformats.org/drawingml/2006/main" noGrp="1"/>
          </p:cNvSpPr>
          <p:nvPr/>
        </p:nvSpPr>
        <p:spPr>
          <a:xfrm xmlns:a="http://schemas.openxmlformats.org/drawingml/2006/main">
            <a:off x="7581900" y="2686050"/>
            <a:ext cx="152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200" b="1" i="0">
                <a:solidFill>
                  <a:srgbClr val="F7F5F2"/>
                </a:solidFill>
                <a:latin typeface="Aptos"/>
                <a:ea typeface="Aptos"/>
                <a:cs typeface="Aptos"/>
              </a:defRPr>
            </a:pPr>
            <a:r>
              <a:rPr sz="1200" b="1" i="0">
                <a:solidFill>
                  <a:srgbClr val="F7F5F2"/>
                </a:solidFill>
                <a:latin typeface="Aptos"/>
                <a:ea typeface="Aptos"/>
                <a:cs typeface="Aptos"/>
              </a:rPr>
              <a:t>Browser-assisted setup</a:t>
            </a:r>
          </a:p>
        </p:txBody>
      </p:sp>
      <p:sp>
        <p:nvSpPr>
          <p:cNvPr id="19" name="">
            <a:extLst xmlns:a="http://schemas.openxmlformats.org/drawingml/2006/main">
              <a:ext uri="{FF2B5EF4-FFF2-40B4-BE49-F238E27FC236}">
                <a16:creationId xmlns:a16="http://schemas.microsoft.com/office/drawing/2014/main" id="{751CDBD5-FC74-47E6-A2E6-EA6896400AC4}"/>
              </a:ext>
            </a:extLst>
          </p:cNvPr>
          <p:cNvSpPr>
            <a:spLocks xmlns:a="http://schemas.openxmlformats.org/drawingml/2006/main" noGrp="1"/>
          </p:cNvSpPr>
          <p:nvPr/>
        </p:nvSpPr>
        <p:spPr>
          <a:xfrm xmlns:a="http://schemas.openxmlformats.org/drawingml/2006/main">
            <a:off x="9963150" y="1695450"/>
            <a:ext cx="266700" cy="266700"/>
          </a:xfrm>
          <a:prstGeom xmlns:a="http://schemas.openxmlformats.org/drawingml/2006/main" prst="ellipse">
            <a:avLst/>
          </a:prstGeom>
          <a:solidFill xmlns:a="http://schemas.openxmlformats.org/drawingml/2006/main">
            <a:srgbClr val="E7C48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AD377D2-C001-44C0-B9A4-4DCC147D0BDA}"/>
              </a:ext>
            </a:extLst>
          </p:cNvPr>
          <p:cNvSpPr>
            <a:spLocks xmlns:a="http://schemas.openxmlformats.org/drawingml/2006/main" noGrp="1"/>
          </p:cNvSpPr>
          <p:nvPr/>
        </p:nvSpPr>
        <p:spPr>
          <a:xfrm xmlns:a="http://schemas.openxmlformats.org/drawingml/2006/main">
            <a:off x="9934575" y="17335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825" b="1" i="0">
                <a:solidFill>
                  <a:srgbClr val="102F33"/>
                </a:solidFill>
                <a:latin typeface="Aptos"/>
                <a:ea typeface="Aptos"/>
                <a:cs typeface="Aptos"/>
              </a:defRPr>
            </a:pPr>
            <a:r>
              <a:rPr sz="825" b="1" i="0">
                <a:solidFill>
                  <a:srgbClr val="102F33"/>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00A83165-C324-43AD-B4BC-6EDA74155828}"/>
              </a:ext>
            </a:extLst>
          </p:cNvPr>
          <p:cNvSpPr>
            <a:spLocks xmlns:a="http://schemas.openxmlformats.org/drawingml/2006/main" noGrp="1"/>
          </p:cNvSpPr>
          <p:nvPr/>
        </p:nvSpPr>
        <p:spPr>
          <a:xfrm xmlns:a="http://schemas.openxmlformats.org/drawingml/2006/main">
            <a:off x="9334500" y="2057400"/>
            <a:ext cx="152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200" b="1" i="0">
                <a:solidFill>
                  <a:srgbClr val="F7F5F2"/>
                </a:solidFill>
                <a:latin typeface="Aptos"/>
                <a:ea typeface="Aptos"/>
                <a:cs typeface="Aptos"/>
              </a:defRPr>
            </a:pPr>
            <a:r>
              <a:rPr sz="1200" b="1" i="0">
                <a:solidFill>
                  <a:srgbClr val="F7F5F2"/>
                </a:solidFill>
                <a:latin typeface="Aptos"/>
                <a:ea typeface="Aptos"/>
                <a:cs typeface="Aptos"/>
              </a:rPr>
              <a:t>Rebuild -&gt; install -&gt; verify</a:t>
            </a:r>
          </a:p>
        </p:txBody>
      </p:sp>
      <p:sp>
        <p:nvSpPr>
          <p:cNvPr id="22" name="">
            <a:extLst xmlns:a="http://schemas.openxmlformats.org/drawingml/2006/main">
              <a:ext uri="{FF2B5EF4-FFF2-40B4-BE49-F238E27FC236}">
                <a16:creationId xmlns:a16="http://schemas.microsoft.com/office/drawing/2014/main" id="{67720153-1BFF-4828-99D8-497C73BBD231}"/>
              </a:ext>
            </a:extLst>
          </p:cNvPr>
          <p:cNvSpPr>
            <a:spLocks xmlns:a="http://schemas.openxmlformats.org/drawingml/2006/main" noGrp="1"/>
          </p:cNvSpPr>
          <p:nvPr/>
        </p:nvSpPr>
        <p:spPr>
          <a:xfrm xmlns:a="http://schemas.openxmlformats.org/drawingml/2006/main">
            <a:off x="723900" y="1238250"/>
            <a:ext cx="4095750" cy="2133600"/>
          </a:xfrm>
          <a:prstGeom xmlns:a="http://schemas.openxmlformats.org/drawingml/2006/main" prst="roundRect">
            <a:avLst>
              <a:gd name="adj" fmla="val 8036"/>
            </a:avLst>
          </a:prstGeom>
          <a:solidFill xmlns:a="http://schemas.openxmlformats.org/drawingml/2006/main">
            <a:srgbClr val="071D21"/>
          </a:solidFill>
          <a:ln xmlns:a="http://schemas.openxmlformats.org/drawingml/2006/main" w="9525">
            <a:solidFill>
              <a:srgbClr val="FFFFFF">
                <a:alpha val="12000"/>
              </a:srgbClr>
            </a:solidFill>
            <a:prstDash val="solid"/>
          </a:ln>
        </p:spPr>
      </p:sp>
      <p:sp>
        <p:nvSpPr>
          <p:cNvPr id="23" name="">
            <a:extLst xmlns:a="http://schemas.openxmlformats.org/drawingml/2006/main">
              <a:ext uri="{FF2B5EF4-FFF2-40B4-BE49-F238E27FC236}">
                <a16:creationId xmlns:a16="http://schemas.microsoft.com/office/drawing/2014/main" id="{66A4C344-16E3-4C2B-A9FE-94F827D85496}"/>
              </a:ext>
            </a:extLst>
          </p:cNvPr>
          <p:cNvSpPr>
            <a:spLocks xmlns:a="http://schemas.openxmlformats.org/drawingml/2006/main" noGrp="1"/>
          </p:cNvSpPr>
          <p:nvPr/>
        </p:nvSpPr>
        <p:spPr>
          <a:xfrm xmlns:a="http://schemas.openxmlformats.org/drawingml/2006/main">
            <a:off x="952500" y="14382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89A98F"/>
                </a:solidFill>
                <a:latin typeface="Aptos"/>
                <a:ea typeface="Aptos"/>
                <a:cs typeface="Aptos"/>
              </a:defRPr>
            </a:pPr>
            <a:r>
              <a:rPr sz="1050" b="1" i="0">
                <a:solidFill>
                  <a:srgbClr val="89A98F"/>
                </a:solidFill>
                <a:latin typeface="Aptos"/>
                <a:ea typeface="Aptos"/>
                <a:cs typeface="Aptos"/>
              </a:rPr>
              <a:t>DEVICE EVIDENCE</a:t>
            </a:r>
          </a:p>
        </p:txBody>
      </p:sp>
      <p:sp>
        <p:nvSpPr>
          <p:cNvPr id="24" name="">
            <a:extLst xmlns:a="http://schemas.openxmlformats.org/drawingml/2006/main">
              <a:ext uri="{FF2B5EF4-FFF2-40B4-BE49-F238E27FC236}">
                <a16:creationId xmlns:a16="http://schemas.microsoft.com/office/drawing/2014/main" id="{DF198395-1E6B-471C-8ACA-341DFA66A4CD}"/>
              </a:ext>
            </a:extLst>
          </p:cNvPr>
          <p:cNvSpPr>
            <a:spLocks xmlns:a="http://schemas.openxmlformats.org/drawingml/2006/main" noGrp="1"/>
          </p:cNvSpPr>
          <p:nvPr/>
        </p:nvSpPr>
        <p:spPr>
          <a:xfrm xmlns:a="http://schemas.openxmlformats.org/drawingml/2006/main">
            <a:off x="952500" y="1781175"/>
            <a:ext cx="35433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67"/>
          </a:bodyPr>
          <a:lstStyle xmlns:a="http://schemas.openxmlformats.org/drawingml/2006/main"/>
          <a:p xmlns:a="http://schemas.openxmlformats.org/drawingml/2006/main">
            <a:pPr algn="l">
              <a:lnSpc>
                <a:spcPct val="108000"/>
              </a:lnSpc>
              <a:buNone/>
              <a:defRPr sz="1275" b="0" i="0">
                <a:solidFill>
                  <a:srgbClr val="F7F5F2"/>
                </a:solidFill>
                <a:latin typeface="Consolas"/>
                <a:ea typeface="Consolas"/>
                <a:cs typeface="Consolas"/>
              </a:defRPr>
            </a:pPr>
            <a:r>
              <a:rPr sz="1275" b="0" i="0">
                <a:solidFill>
                  <a:srgbClr val="F7F5F2"/>
                </a:solidFill>
                <a:latin typeface="Consolas"/>
                <a:ea typeface="Consolas"/>
                <a:cs typeface="Consolas"/>
              </a:rPr>
              <a:t>&gt; adb devices</a:t>
            </a:r>
          </a:p>
          <a:p xmlns:a="http://schemas.openxmlformats.org/drawingml/2006/main">
            <a:pPr algn="l">
              <a:lnSpc>
                <a:spcPct val="108000"/>
              </a:lnSpc>
              <a:buNone/>
              <a:defRPr sz="1275" b="0" i="0">
                <a:solidFill>
                  <a:srgbClr val="F7F5F2"/>
                </a:solidFill>
                <a:latin typeface="Consolas"/>
                <a:ea typeface="Consolas"/>
                <a:cs typeface="Consolas"/>
              </a:defRPr>
            </a:pPr>
            <a:r>
              <a:rPr sz="1275" b="0" i="0">
                <a:solidFill>
                  <a:srgbClr val="F7F5F2"/>
                </a:solidFill>
                <a:latin typeface="Consolas"/>
                <a:ea typeface="Consolas"/>
                <a:cs typeface="Consolas"/>
              </a:rPr>
              <a:t>&gt; adb install -r jamaa-next-door.apk</a:t>
            </a:r>
          </a:p>
          <a:p xmlns:a="http://schemas.openxmlformats.org/drawingml/2006/main">
            <a:pPr algn="l">
              <a:lnSpc>
                <a:spcPct val="108000"/>
              </a:lnSpc>
              <a:buNone/>
              <a:defRPr sz="1275" b="0" i="0">
                <a:solidFill>
                  <a:srgbClr val="F7F5F2"/>
                </a:solidFill>
                <a:latin typeface="Consolas"/>
                <a:ea typeface="Consolas"/>
                <a:cs typeface="Consolas"/>
              </a:defRPr>
            </a:pPr>
            <a:r>
              <a:rPr sz="1275" b="0" i="0">
                <a:solidFill>
                  <a:srgbClr val="F7F5F2"/>
                </a:solidFill>
                <a:latin typeface="Consolas"/>
                <a:ea typeface="Consolas"/>
                <a:cs typeface="Consolas"/>
              </a:rPr>
              <a:t>&gt; adb logcat | findstr AuthSession</a:t>
            </a:r>
          </a:p>
          <a:p xmlns:a="http://schemas.openxmlformats.org/drawingml/2006/main">
            <a:r>
              <a:t/>
            </a:r>
          </a:p>
          <a:p xmlns:a="http://schemas.openxmlformats.org/drawingml/2006/main">
            <a:pPr algn="l">
              <a:lnSpc>
                <a:spcPct val="108000"/>
              </a:lnSpc>
              <a:buNone/>
              <a:defRPr sz="1275" b="0" i="0">
                <a:solidFill>
                  <a:srgbClr val="F7F5F2"/>
                </a:solidFill>
                <a:latin typeface="Consolas"/>
                <a:ea typeface="Consolas"/>
                <a:cs typeface="Consolas"/>
              </a:defRPr>
            </a:pPr>
            <a:r>
              <a:rPr sz="1275" b="0" i="0">
                <a:solidFill>
                  <a:srgbClr val="F7F5F2"/>
                </a:solidFill>
                <a:latin typeface="Consolas"/>
                <a:ea typeface="Consolas"/>
                <a:cs typeface="Consolas"/>
              </a:rPr>
              <a:t>Magic-link callback</a:t>
            </a:r>
          </a:p>
          <a:p xmlns:a="http://schemas.openxmlformats.org/drawingml/2006/main">
            <a:pPr algn="l">
              <a:lnSpc>
                <a:spcPct val="108000"/>
              </a:lnSpc>
              <a:buNone/>
              <a:defRPr sz="1275" b="0" i="0">
                <a:solidFill>
                  <a:srgbClr val="F7F5F2"/>
                </a:solidFill>
                <a:latin typeface="Consolas"/>
                <a:ea typeface="Consolas"/>
                <a:cs typeface="Consolas"/>
              </a:defRPr>
            </a:pPr>
            <a:r>
              <a:rPr sz="1275" b="0" i="0">
                <a:solidFill>
                  <a:srgbClr val="F7F5F2"/>
                </a:solidFill>
                <a:latin typeface="Consolas"/>
                <a:ea typeface="Consolas"/>
                <a:cs typeface="Consolas"/>
              </a:rPr>
              <a:t>Crypto compatibility</a:t>
            </a:r>
          </a:p>
          <a:p xmlns:a="http://schemas.openxmlformats.org/drawingml/2006/main">
            <a:pPr algn="l">
              <a:lnSpc>
                <a:spcPct val="108000"/>
              </a:lnSpc>
              <a:buNone/>
              <a:defRPr sz="1275" b="0" i="0">
                <a:solidFill>
                  <a:srgbClr val="F7F5F2"/>
                </a:solidFill>
                <a:latin typeface="Consolas"/>
                <a:ea typeface="Consolas"/>
                <a:cs typeface="Consolas"/>
              </a:defRPr>
            </a:pPr>
            <a:r>
              <a:rPr sz="1275" b="0" i="0">
                <a:solidFill>
                  <a:srgbClr val="F7F5F2"/>
                </a:solidFill>
                <a:latin typeface="Consolas"/>
                <a:ea typeface="Consolas"/>
                <a:cs typeface="Consolas"/>
              </a:rPr>
              <a:t>Blank details route</a:t>
            </a:r>
          </a:p>
        </p:txBody>
      </p:sp>
      <p:sp>
        <p:nvSpPr>
          <p:cNvPr id="25" name="">
            <a:extLst xmlns:a="http://schemas.openxmlformats.org/drawingml/2006/main">
              <a:ext uri="{FF2B5EF4-FFF2-40B4-BE49-F238E27FC236}">
                <a16:creationId xmlns:a16="http://schemas.microsoft.com/office/drawing/2014/main" id="{9DC2B5DB-BF0A-4EC7-9DCD-7AFD16E2F2D8}"/>
              </a:ext>
            </a:extLst>
          </p:cNvPr>
          <p:cNvSpPr>
            <a:spLocks xmlns:a="http://schemas.openxmlformats.org/drawingml/2006/main" noGrp="1"/>
          </p:cNvSpPr>
          <p:nvPr/>
        </p:nvSpPr>
        <p:spPr>
          <a:xfrm xmlns:a="http://schemas.openxmlformats.org/drawingml/2006/main">
            <a:off x="6953250" y="4457700"/>
            <a:ext cx="4324350" cy="1371600"/>
          </a:xfrm>
          <a:prstGeom xmlns:a="http://schemas.openxmlformats.org/drawingml/2006/main" prst="roundRect">
            <a:avLst>
              <a:gd name="adj" fmla="val 12500"/>
            </a:avLst>
          </a:prstGeom>
          <a:solidFill xmlns:a="http://schemas.openxmlformats.org/drawingml/2006/main">
            <a:srgbClr val="0B4B58"/>
          </a:solidFill>
          <a:ln xmlns:a="http://schemas.openxmlformats.org/drawingml/2006/main" w="9525">
            <a:solidFill>
              <a:srgbClr val="FFFFFF">
                <a:alpha val="12000"/>
              </a:srgbClr>
            </a:solidFill>
            <a:prstDash val="solid"/>
          </a:ln>
        </p:spPr>
      </p:sp>
      <p:sp>
        <p:nvSpPr>
          <p:cNvPr id="26" name="">
            <a:extLst xmlns:a="http://schemas.openxmlformats.org/drawingml/2006/main">
              <a:ext uri="{FF2B5EF4-FFF2-40B4-BE49-F238E27FC236}">
                <a16:creationId xmlns:a16="http://schemas.microsoft.com/office/drawing/2014/main" id="{DCEF87A6-D0A3-442E-90C2-473A51BBE007}"/>
              </a:ext>
            </a:extLst>
          </p:cNvPr>
          <p:cNvSpPr>
            <a:spLocks xmlns:a="http://schemas.openxmlformats.org/drawingml/2006/main" noGrp="1"/>
          </p:cNvSpPr>
          <p:nvPr/>
        </p:nvSpPr>
        <p:spPr>
          <a:xfrm xmlns:a="http://schemas.openxmlformats.org/drawingml/2006/main">
            <a:off x="7191375" y="4667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125" b="1" i="0">
                <a:solidFill>
                  <a:srgbClr val="E7C48D"/>
                </a:solidFill>
                <a:latin typeface="Aptos"/>
                <a:ea typeface="Aptos"/>
                <a:cs typeface="Aptos"/>
              </a:defRPr>
            </a:pPr>
            <a:r>
              <a:rPr sz="1125" b="1" i="0">
                <a:solidFill>
                  <a:srgbClr val="E7C48D"/>
                </a:solidFill>
                <a:latin typeface="Aptos"/>
                <a:ea typeface="Aptos"/>
                <a:cs typeface="Aptos"/>
              </a:rPr>
              <a:t>BROWSER-ASSISTED CONFIGURATION</a:t>
            </a:r>
          </a:p>
        </p:txBody>
      </p:sp>
      <p:sp>
        <p:nvSpPr>
          <p:cNvPr id="27" name="">
            <a:extLst xmlns:a="http://schemas.openxmlformats.org/drawingml/2006/main">
              <a:ext uri="{FF2B5EF4-FFF2-40B4-BE49-F238E27FC236}">
                <a16:creationId xmlns:a16="http://schemas.microsoft.com/office/drawing/2014/main" id="{E8DB99E0-E38A-4F33-9C15-3BFCC6B40927}"/>
              </a:ext>
            </a:extLst>
          </p:cNvPr>
          <p:cNvSpPr>
            <a:spLocks xmlns:a="http://schemas.openxmlformats.org/drawingml/2006/main" noGrp="1"/>
          </p:cNvSpPr>
          <p:nvPr/>
        </p:nvSpPr>
        <p:spPr>
          <a:xfrm xmlns:a="http://schemas.openxmlformats.org/drawingml/2006/main">
            <a:off x="7191375" y="5048250"/>
            <a:ext cx="381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1350" b="0" i="0">
                <a:solidFill>
                  <a:srgbClr val="F7F5F2"/>
                </a:solidFill>
                <a:latin typeface="Aptos"/>
                <a:ea typeface="Aptos"/>
                <a:cs typeface="Aptos"/>
              </a:defRPr>
            </a:pPr>
            <a:r>
              <a:rPr sz="1350" b="0" i="0">
                <a:solidFill>
                  <a:srgbClr val="F7F5F2"/>
                </a:solidFill>
                <a:latin typeface="Aptos"/>
                <a:ea typeface="Aptos"/>
                <a:cs typeface="Aptos"/>
              </a:rPr>
              <a:t>NAMECHEAP   -&gt;   RESEND   -&gt;   SUPABASE</a:t>
            </a:r>
          </a:p>
          <a:p xmlns:a="http://schemas.openxmlformats.org/drawingml/2006/main">
            <a:pPr algn="ctr">
              <a:lnSpc>
                <a:spcPct val="112000"/>
              </a:lnSpc>
              <a:buNone/>
              <a:defRPr sz="1350" b="0" i="0">
                <a:solidFill>
                  <a:srgbClr val="F7F5F2"/>
                </a:solidFill>
                <a:latin typeface="Aptos"/>
                <a:ea typeface="Aptos"/>
                <a:cs typeface="Aptos"/>
              </a:defRPr>
            </a:pPr>
            <a:r>
              <a:rPr sz="1350" b="0" i="0">
                <a:solidFill>
                  <a:srgbClr val="F7F5F2"/>
                </a:solidFill>
                <a:latin typeface="Aptos"/>
                <a:ea typeface="Aptos"/>
                <a:cs typeface="Aptos"/>
              </a:rPr>
              <a:t>DNS records      SMTP domain      Auth redirects</a:t>
            </a:r>
          </a:p>
        </p:txBody>
      </p:sp>
      <p:sp>
        <p:nvSpPr>
          <p:cNvPr id="28" name="">
            <a:extLst xmlns:a="http://schemas.openxmlformats.org/drawingml/2006/main">
              <a:ext uri="{FF2B5EF4-FFF2-40B4-BE49-F238E27FC236}">
                <a16:creationId xmlns:a16="http://schemas.microsoft.com/office/drawing/2014/main" id="{D8C9B5C0-2F32-4E53-A070-65D7351774B0}"/>
              </a:ext>
            </a:extLst>
          </p:cNvPr>
          <p:cNvSpPr>
            <a:spLocks xmlns:a="http://schemas.openxmlformats.org/drawingml/2006/main" noGrp="1"/>
          </p:cNvSpPr>
          <p:nvPr/>
        </p:nvSpPr>
        <p:spPr>
          <a:xfrm xmlns:a="http://schemas.openxmlformats.org/drawingml/2006/main">
            <a:off x="552450" y="65341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825" b="1" i="0">
                <a:solidFill>
                  <a:srgbClr val="AEB7B8"/>
                </a:solidFill>
                <a:latin typeface="Aptos"/>
                <a:ea typeface="Aptos"/>
                <a:cs typeface="Aptos"/>
              </a:defRPr>
            </a:pPr>
            <a:r>
              <a:rPr sz="825" b="1" i="0">
                <a:solidFill>
                  <a:srgbClr val="AEB7B8"/>
                </a:solidFill>
                <a:latin typeface="Aptos"/>
                <a:ea typeface="Aptos"/>
                <a:cs typeface="Aptos"/>
              </a:rPr>
              <a:t>JAMAA NEXT DOOR</a:t>
            </a:r>
          </a:p>
        </p:txBody>
      </p:sp>
      <p:sp>
        <p:nvSpPr>
          <p:cNvPr id="29" name="">
            <a:extLst xmlns:a="http://schemas.openxmlformats.org/drawingml/2006/main">
              <a:ext uri="{FF2B5EF4-FFF2-40B4-BE49-F238E27FC236}">
                <a16:creationId xmlns:a16="http://schemas.microsoft.com/office/drawing/2014/main" id="{C0FB1CEF-2CD7-4431-949A-B2242F282D58}"/>
              </a:ext>
            </a:extLst>
          </p:cNvPr>
          <p:cNvSpPr>
            <a:spLocks xmlns:a="http://schemas.openxmlformats.org/drawingml/2006/main" noGrp="1"/>
          </p:cNvSpPr>
          <p:nvPr/>
        </p:nvSpPr>
        <p:spPr>
          <a:xfrm xmlns:a="http://schemas.openxmlformats.org/drawingml/2006/main">
            <a:off x="1125855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900" b="1" i="0">
                <a:solidFill>
                  <a:srgbClr val="E7C48D"/>
                </a:solidFill>
                <a:latin typeface="Aptos"/>
                <a:ea typeface="Aptos"/>
                <a:cs typeface="Aptos"/>
              </a:defRPr>
            </a:pPr>
            <a:r>
              <a:rPr sz="900" b="1" i="0">
                <a:solidFill>
                  <a:srgbClr val="E7C48D"/>
                </a:solidFill>
                <a:latin typeface="Aptos"/>
                <a:ea typeface="Aptos"/>
                <a:cs typeface="Aptos"/>
              </a:rPr>
              <a:t>11</a:t>
            </a:r>
          </a:p>
        </p:txBody>
      </p:sp>
    </p:spTree>
    <p:extLst>
      <p:ext uri="{BB962C8B-B14F-4D97-AF65-F5344CB8AC3E}">
        <p14:creationId xmlns:p14="http://schemas.microsoft.com/office/powerpoint/2010/main" val="664893551"/>
      </p:ext>
    </p:extLst>
  </p:cSld>
</p:sld>
</file>

<file path=ppt/slides/slide12.xml><?xml version="1.0" encoding="utf-8"?>
<p:sld xmlns:p="http://schemas.openxmlformats.org/presentationml/2006/main">
  <p:cSld>
    <p:bg>
      <p:bgPr>
        <a:solidFill xmlns:a="http://schemas.openxmlformats.org/drawingml/2006/main">
          <a:srgbClr val="F7F5F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BF8BD9B-8720-4CF4-AA8A-E05B93A7E00A}"/>
              </a:ext>
            </a:extLst>
          </p:cNvPr>
          <p:cNvSpPr>
            <a:spLocks xmlns:a="http://schemas.openxmlformats.org/drawingml/2006/main" noGrp="1"/>
          </p:cNvSpPr>
          <p:nvPr/>
        </p:nvSpPr>
        <p:spPr>
          <a:xfrm xmlns:a="http://schemas.openxmlformats.org/drawingml/2006/main">
            <a:off x="552450" y="3238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E7C48D"/>
                </a:solidFill>
                <a:latin typeface="Aptos"/>
                <a:ea typeface="Aptos"/>
                <a:cs typeface="Aptos"/>
              </a:defRPr>
            </a:pPr>
            <a:r>
              <a:rPr sz="1275" b="1" i="0">
                <a:solidFill>
                  <a:srgbClr val="E7C48D"/>
                </a:solidFill>
                <a:latin typeface="Aptos"/>
                <a:ea typeface="Aptos"/>
                <a:cs typeface="Aptos"/>
              </a:rPr>
              <a:t>12</a:t>
            </a:r>
          </a:p>
        </p:txBody>
      </p:sp>
      <p:sp>
        <p:nvSpPr>
          <p:cNvPr id="2" name="">
            <a:extLst xmlns:a="http://schemas.openxmlformats.org/drawingml/2006/main">
              <a:ext uri="{FF2B5EF4-FFF2-40B4-BE49-F238E27FC236}">
                <a16:creationId xmlns:a16="http://schemas.microsoft.com/office/drawing/2014/main" id="{F419041F-5099-4A87-BE63-E9B36E1E3612}"/>
              </a:ext>
            </a:extLst>
          </p:cNvPr>
          <p:cNvSpPr>
            <a:spLocks xmlns:a="http://schemas.openxmlformats.org/drawingml/2006/main" noGrp="1"/>
          </p:cNvSpPr>
          <p:nvPr/>
        </p:nvSpPr>
        <p:spPr>
          <a:xfrm xmlns:a="http://schemas.openxmlformats.org/drawingml/2006/main" flipH="0" flipV="0">
            <a:off x="1104900" y="447675"/>
            <a:ext cx="514350" cy="0"/>
          </a:xfrm>
          <a:prstGeom xmlns:a="http://schemas.openxmlformats.org/drawingml/2006/main" prst="line">
            <a:avLst/>
          </a:prstGeom>
          <a:noFill xmlns:a="http://schemas.openxmlformats.org/drawingml/2006/main"/>
          <a:ln xmlns:a="http://schemas.openxmlformats.org/drawingml/2006/main" w="19050">
            <a:solidFill>
              <a:srgbClr val="E7C48D"/>
            </a:solidFill>
            <a:prstDash val="solid"/>
          </a:ln>
        </p:spPr>
      </p:sp>
      <p:sp>
        <p:nvSpPr>
          <p:cNvPr id="3" name="">
            <a:extLst xmlns:a="http://schemas.openxmlformats.org/drawingml/2006/main">
              <a:ext uri="{FF2B5EF4-FFF2-40B4-BE49-F238E27FC236}">
                <a16:creationId xmlns:a16="http://schemas.microsoft.com/office/drawing/2014/main" id="{F74C6A2B-65EA-4231-867D-36BB3BCDD6DF}"/>
              </a:ext>
            </a:extLst>
          </p:cNvPr>
          <p:cNvSpPr>
            <a:spLocks xmlns:a="http://schemas.openxmlformats.org/drawingml/2006/main" noGrp="1"/>
          </p:cNvSpPr>
          <p:nvPr/>
        </p:nvSpPr>
        <p:spPr>
          <a:xfrm xmlns:a="http://schemas.openxmlformats.org/drawingml/2006/main">
            <a:off x="1790700" y="247650"/>
            <a:ext cx="9848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3000" b="1" i="0">
                <a:solidFill>
                  <a:srgbClr val="16363B"/>
                </a:solidFill>
                <a:latin typeface="Georgia"/>
                <a:ea typeface="Georgia"/>
                <a:cs typeface="Georgia"/>
              </a:defRPr>
            </a:pPr>
            <a:r>
              <a:rPr sz="3000" b="1" i="0">
                <a:solidFill>
                  <a:srgbClr val="16363B"/>
                </a:solidFill>
                <a:latin typeface="Georgia"/>
                <a:ea typeface="Georgia"/>
                <a:cs typeface="Georgia"/>
              </a:rPr>
              <a:t>The working prototype proves the central journey</a:t>
            </a:r>
          </a:p>
        </p:txBody>
      </p:sp>
      <p:sp>
        <p:nvSpPr>
          <p:cNvPr id="4" name="">
            <a:extLst xmlns:a="http://schemas.openxmlformats.org/drawingml/2006/main">
              <a:ext uri="{FF2B5EF4-FFF2-40B4-BE49-F238E27FC236}">
                <a16:creationId xmlns:a16="http://schemas.microsoft.com/office/drawing/2014/main" id="{AA424F6E-CEEC-4204-A50B-750501506706}"/>
              </a:ext>
            </a:extLst>
          </p:cNvPr>
          <p:cNvSpPr>
            <a:spLocks xmlns:a="http://schemas.openxmlformats.org/drawingml/2006/main" noGrp="1"/>
          </p:cNvSpPr>
          <p:nvPr/>
        </p:nvSpPr>
        <p:spPr>
          <a:xfrm xmlns:a="http://schemas.openxmlformats.org/drawingml/2006/main">
            <a:off x="762000" y="201930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725" b="1" i="0">
                <a:solidFill>
                  <a:srgbClr val="063E4D"/>
                </a:solidFill>
                <a:latin typeface="Aptos"/>
                <a:ea typeface="Aptos"/>
                <a:cs typeface="Aptos"/>
              </a:defRPr>
            </a:pPr>
            <a:r>
              <a:rPr sz="1725" b="1" i="0">
                <a:solidFill>
                  <a:srgbClr val="063E4D"/>
                </a:solidFill>
                <a:latin typeface="Aptos"/>
                <a:ea typeface="Aptos"/>
                <a:cs typeface="Aptos"/>
              </a:rPr>
              <a:t>Create and confirm</a:t>
            </a:r>
          </a:p>
        </p:txBody>
      </p:sp>
      <p:sp>
        <p:nvSpPr>
          <p:cNvPr id="5" name="">
            <a:extLst xmlns:a="http://schemas.openxmlformats.org/drawingml/2006/main">
              <a:ext uri="{FF2B5EF4-FFF2-40B4-BE49-F238E27FC236}">
                <a16:creationId xmlns:a16="http://schemas.microsoft.com/office/drawing/2014/main" id="{1991A52C-0596-4E80-AF3D-78EC0CA3F7E5}"/>
              </a:ext>
            </a:extLst>
          </p:cNvPr>
          <p:cNvSpPr>
            <a:spLocks xmlns:a="http://schemas.openxmlformats.org/drawingml/2006/main" noGrp="1"/>
          </p:cNvSpPr>
          <p:nvPr/>
        </p:nvSpPr>
        <p:spPr>
          <a:xfrm xmlns:a="http://schemas.openxmlformats.org/drawingml/2006/main">
            <a:off x="762000" y="310515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725" b="1" i="0">
                <a:solidFill>
                  <a:srgbClr val="063E4D"/>
                </a:solidFill>
                <a:latin typeface="Aptos"/>
                <a:ea typeface="Aptos"/>
                <a:cs typeface="Aptos"/>
              </a:defRPr>
            </a:pPr>
            <a:r>
              <a:rPr sz="1725" b="1" i="0">
                <a:solidFill>
                  <a:srgbClr val="063E4D"/>
                </a:solidFill>
                <a:latin typeface="Aptos"/>
                <a:ea typeface="Aptos"/>
                <a:cs typeface="Aptos"/>
              </a:rPr>
              <a:t>Return to the</a:t>
            </a:r>
          </a:p>
          <a:p xmlns:a="http://schemas.openxmlformats.org/drawingml/2006/main">
            <a:pPr algn="r">
              <a:lnSpc>
                <a:spcPct val="102000"/>
              </a:lnSpc>
              <a:buNone/>
              <a:defRPr sz="1725" b="1" i="0">
                <a:solidFill>
                  <a:srgbClr val="063E4D"/>
                </a:solidFill>
                <a:latin typeface="Aptos"/>
                <a:ea typeface="Aptos"/>
                <a:cs typeface="Aptos"/>
              </a:defRPr>
            </a:pPr>
            <a:r>
              <a:rPr sz="1725" b="1" i="0">
                <a:solidFill>
                  <a:srgbClr val="063E4D"/>
                </a:solidFill>
                <a:latin typeface="Aptos"/>
                <a:ea typeface="Aptos"/>
                <a:cs typeface="Aptos"/>
              </a:rPr>
              <a:t>time-sorted home</a:t>
            </a:r>
          </a:p>
        </p:txBody>
      </p:sp>
      <p:sp>
        <p:nvSpPr>
          <p:cNvPr id="6" name="">
            <a:extLst xmlns:a="http://schemas.openxmlformats.org/drawingml/2006/main">
              <a:ext uri="{FF2B5EF4-FFF2-40B4-BE49-F238E27FC236}">
                <a16:creationId xmlns:a16="http://schemas.microsoft.com/office/drawing/2014/main" id="{83CC6AF6-2590-40AC-BC5B-813974E37DCE}"/>
              </a:ext>
            </a:extLst>
          </p:cNvPr>
          <p:cNvSpPr>
            <a:spLocks xmlns:a="http://schemas.openxmlformats.org/drawingml/2006/main" noGrp="1"/>
          </p:cNvSpPr>
          <p:nvPr/>
        </p:nvSpPr>
        <p:spPr>
          <a:xfrm xmlns:a="http://schemas.openxmlformats.org/drawingml/2006/main">
            <a:off x="762000" y="432435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1725" b="1" i="0">
                <a:solidFill>
                  <a:srgbClr val="063E4D"/>
                </a:solidFill>
                <a:latin typeface="Aptos"/>
                <a:ea typeface="Aptos"/>
                <a:cs typeface="Aptos"/>
              </a:defRPr>
            </a:pPr>
            <a:r>
              <a:rPr sz="1725" b="1" i="0">
                <a:solidFill>
                  <a:srgbClr val="063E4D"/>
                </a:solidFill>
                <a:latin typeface="Aptos"/>
                <a:ea typeface="Aptos"/>
                <a:cs typeface="Aptos"/>
              </a:rPr>
              <a:t>Open details and</a:t>
            </a:r>
          </a:p>
          <a:p xmlns:a="http://schemas.openxmlformats.org/drawingml/2006/main">
            <a:pPr algn="r">
              <a:lnSpc>
                <a:spcPct val="102000"/>
              </a:lnSpc>
              <a:buNone/>
              <a:defRPr sz="1725" b="1" i="0">
                <a:solidFill>
                  <a:srgbClr val="063E4D"/>
                </a:solidFill>
                <a:latin typeface="Aptos"/>
                <a:ea typeface="Aptos"/>
                <a:cs typeface="Aptos"/>
              </a:defRPr>
            </a:pPr>
            <a:r>
              <a:rPr sz="1725" b="1" i="0">
                <a:solidFill>
                  <a:srgbClr val="063E4D"/>
                </a:solidFill>
                <a:latin typeface="Aptos"/>
                <a:ea typeface="Aptos"/>
                <a:cs typeface="Aptos"/>
              </a:rPr>
              <a:t>participation actions</a:t>
            </a:r>
          </a:p>
        </p:txBody>
      </p:sp>
      <p:sp>
        <p:nvSpPr>
          <p:cNvPr id="7" name="">
            <a:extLst xmlns:a="http://schemas.openxmlformats.org/drawingml/2006/main">
              <a:ext uri="{FF2B5EF4-FFF2-40B4-BE49-F238E27FC236}">
                <a16:creationId xmlns:a16="http://schemas.microsoft.com/office/drawing/2014/main" id="{EF5FC767-0EC4-4614-81F6-DE627A6FA5DD}"/>
              </a:ext>
            </a:extLst>
          </p:cNvPr>
          <p:cNvSpPr>
            <a:spLocks xmlns:a="http://schemas.openxmlformats.org/drawingml/2006/main" noGrp="1"/>
          </p:cNvSpPr>
          <p:nvPr/>
        </p:nvSpPr>
        <p:spPr>
          <a:xfrm xmlns:a="http://schemas.openxmlformats.org/drawingml/2006/main" flipH="0" flipV="0">
            <a:off x="3562350" y="2247900"/>
            <a:ext cx="914400" cy="0"/>
          </a:xfrm>
          <a:prstGeom xmlns:a="http://schemas.openxmlformats.org/drawingml/2006/main" prst="line">
            <a:avLst/>
          </a:prstGeom>
          <a:noFill xmlns:a="http://schemas.openxmlformats.org/drawingml/2006/main"/>
          <a:ln xmlns:a="http://schemas.openxmlformats.org/drawingml/2006/main" w="19050">
            <a:solidFill>
              <a:srgbClr val="E7C48D"/>
            </a:solidFill>
            <a:prstDash val="solid"/>
          </a:ln>
        </p:spPr>
      </p:sp>
      <p:sp>
        <p:nvSpPr>
          <p:cNvPr id="8" name="">
            <a:extLst xmlns:a="http://schemas.openxmlformats.org/drawingml/2006/main">
              <a:ext uri="{FF2B5EF4-FFF2-40B4-BE49-F238E27FC236}">
                <a16:creationId xmlns:a16="http://schemas.microsoft.com/office/drawing/2014/main" id="{E497A333-6395-49A9-AAA6-1ACABD0404DE}"/>
              </a:ext>
            </a:extLst>
          </p:cNvPr>
          <p:cNvSpPr>
            <a:spLocks xmlns:a="http://schemas.openxmlformats.org/drawingml/2006/main" noGrp="1"/>
          </p:cNvSpPr>
          <p:nvPr/>
        </p:nvSpPr>
        <p:spPr>
          <a:xfrm xmlns:a="http://schemas.openxmlformats.org/drawingml/2006/main" flipH="0" flipV="0">
            <a:off x="3562350" y="3390900"/>
            <a:ext cx="914400" cy="0"/>
          </a:xfrm>
          <a:prstGeom xmlns:a="http://schemas.openxmlformats.org/drawingml/2006/main" prst="line">
            <a:avLst/>
          </a:prstGeom>
          <a:noFill xmlns:a="http://schemas.openxmlformats.org/drawingml/2006/main"/>
          <a:ln xmlns:a="http://schemas.openxmlformats.org/drawingml/2006/main" w="19050">
            <a:solidFill>
              <a:srgbClr val="E7C48D"/>
            </a:solidFill>
            <a:prstDash val="solid"/>
          </a:ln>
        </p:spPr>
      </p:sp>
      <p:sp>
        <p:nvSpPr>
          <p:cNvPr id="9" name="">
            <a:extLst xmlns:a="http://schemas.openxmlformats.org/drawingml/2006/main">
              <a:ext uri="{FF2B5EF4-FFF2-40B4-BE49-F238E27FC236}">
                <a16:creationId xmlns:a16="http://schemas.microsoft.com/office/drawing/2014/main" id="{D2A53D8E-E162-4706-B1C4-D5E526E0960D}"/>
              </a:ext>
            </a:extLst>
          </p:cNvPr>
          <p:cNvSpPr>
            <a:spLocks xmlns:a="http://schemas.openxmlformats.org/drawingml/2006/main" noGrp="1"/>
          </p:cNvSpPr>
          <p:nvPr/>
        </p:nvSpPr>
        <p:spPr>
          <a:xfrm xmlns:a="http://schemas.openxmlformats.org/drawingml/2006/main" flipH="0" flipV="0">
            <a:off x="3562350" y="4610100"/>
            <a:ext cx="914400" cy="0"/>
          </a:xfrm>
          <a:prstGeom xmlns:a="http://schemas.openxmlformats.org/drawingml/2006/main" prst="line">
            <a:avLst/>
          </a:prstGeom>
          <a:noFill xmlns:a="http://schemas.openxmlformats.org/drawingml/2006/main"/>
          <a:ln xmlns:a="http://schemas.openxmlformats.org/drawingml/2006/main" w="19050">
            <a:solidFill>
              <a:srgbClr val="E7C48D"/>
            </a:solidFill>
            <a:prstDash val="solid"/>
          </a:ln>
        </p:spPr>
      </p:sp>
      <p:sp>
        <p:nvSpPr>
          <p:cNvPr id="10" name="">
            <a:extLst xmlns:a="http://schemas.openxmlformats.org/drawingml/2006/main">
              <a:ext uri="{FF2B5EF4-FFF2-40B4-BE49-F238E27FC236}">
                <a16:creationId xmlns:a16="http://schemas.microsoft.com/office/drawing/2014/main" id="{FE565141-81AA-4008-B9A9-F3BF929AF855}"/>
              </a:ext>
            </a:extLst>
          </p:cNvPr>
          <p:cNvSpPr>
            <a:spLocks xmlns:a="http://schemas.openxmlformats.org/drawingml/2006/main" noGrp="1"/>
          </p:cNvSpPr>
          <p:nvPr/>
        </p:nvSpPr>
        <p:spPr>
          <a:xfrm xmlns:a="http://schemas.openxmlformats.org/drawingml/2006/main">
            <a:off x="4667250" y="1181100"/>
            <a:ext cx="2628900" cy="4857750"/>
          </a:xfrm>
          <a:prstGeom xmlns:a="http://schemas.openxmlformats.org/drawingml/2006/main" prst="roundRect">
            <a:avLst>
              <a:gd name="adj" fmla="val 10870"/>
            </a:avLst>
          </a:prstGeom>
          <a:solidFill xmlns:a="http://schemas.openxmlformats.org/drawingml/2006/main">
            <a:srgbClr val="102F33"/>
          </a:solidFill>
          <a:ln xmlns:a="http://schemas.openxmlformats.org/drawingml/2006/main" w="19050">
            <a:solidFill>
              <a:srgbClr val="E7C48D"/>
            </a:solidFill>
            <a:prstDash val="solid"/>
          </a:ln>
        </p:spPr>
      </p:sp>
      <p:sp>
        <p:nvSpPr>
          <p:cNvPr id="11" name="">
            <a:extLst xmlns:a="http://schemas.openxmlformats.org/drawingml/2006/main">
              <a:ext uri="{FF2B5EF4-FFF2-40B4-BE49-F238E27FC236}">
                <a16:creationId xmlns:a16="http://schemas.microsoft.com/office/drawing/2014/main" id="{DBA1F489-790B-4596-992C-CFB53E86E768}"/>
              </a:ext>
            </a:extLst>
          </p:cNvPr>
          <p:cNvSpPr>
            <a:spLocks xmlns:a="http://schemas.openxmlformats.org/drawingml/2006/main" noGrp="1"/>
          </p:cNvSpPr>
          <p:nvPr/>
        </p:nvSpPr>
        <p:spPr>
          <a:xfrm xmlns:a="http://schemas.openxmlformats.org/drawingml/2006/main">
            <a:off x="4762500" y="1295400"/>
            <a:ext cx="2438400" cy="4629150"/>
          </a:xfrm>
          <a:prstGeom xmlns:a="http://schemas.openxmlformats.org/drawingml/2006/main" prst="roundRect">
            <a:avLst>
              <a:gd name="adj" fmla="val 8984"/>
            </a:avLst>
          </a:prstGeom>
          <a:solidFill xmlns:a="http://schemas.openxmlformats.org/drawingml/2006/main">
            <a:srgbClr val="063E4D"/>
          </a:solidFill>
          <a:ln xmlns:a="http://schemas.openxmlformats.org/drawingml/2006/main" w="9525">
            <a:solidFill>
              <a:srgbClr val="FFFFFF">
                <a:alpha val="16000"/>
              </a:srgbClr>
            </a:solidFill>
            <a:prstDash val="solid"/>
          </a:ln>
        </p:spPr>
      </p:sp>
      <p:sp>
        <p:nvSpPr>
          <p:cNvPr id="12" name="">
            <a:extLst xmlns:a="http://schemas.openxmlformats.org/drawingml/2006/main">
              <a:ext uri="{FF2B5EF4-FFF2-40B4-BE49-F238E27FC236}">
                <a16:creationId xmlns:a16="http://schemas.microsoft.com/office/drawing/2014/main" id="{AAE2265B-8E12-4E3F-87B8-5593CBBAEB13}"/>
              </a:ext>
            </a:extLst>
          </p:cNvPr>
          <p:cNvSpPr>
            <a:spLocks xmlns:a="http://schemas.openxmlformats.org/drawingml/2006/main" noGrp="1"/>
          </p:cNvSpPr>
          <p:nvPr/>
        </p:nvSpPr>
        <p:spPr>
          <a:xfrm xmlns:a="http://schemas.openxmlformats.org/drawingml/2006/main">
            <a:off x="5613654" y="1257300"/>
            <a:ext cx="736092" cy="66675"/>
          </a:xfrm>
          <a:prstGeom xmlns:a="http://schemas.openxmlformats.org/drawingml/2006/main" prst="roundRect">
            <a:avLst>
              <a:gd name="adj" fmla="val 50000"/>
            </a:avLst>
          </a:prstGeom>
          <a:solidFill xmlns:a="http://schemas.openxmlformats.org/drawingml/2006/main">
            <a:srgbClr val="102F3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C3125C1-7C18-46A2-AB25-735C41F8841E}"/>
              </a:ext>
            </a:extLst>
          </p:cNvPr>
          <p:cNvSpPr>
            <a:spLocks xmlns:a="http://schemas.openxmlformats.org/drawingml/2006/main" noGrp="1"/>
          </p:cNvSpPr>
          <p:nvPr/>
        </p:nvSpPr>
        <p:spPr>
          <a:xfrm xmlns:a="http://schemas.openxmlformats.org/drawingml/2006/main">
            <a:off x="4933950" y="15621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75" b="1" i="0">
                <a:solidFill>
                  <a:srgbClr val="F7F5F2"/>
                </a:solidFill>
                <a:latin typeface="Aptos"/>
                <a:ea typeface="Aptos"/>
                <a:cs typeface="Aptos"/>
              </a:defRPr>
            </a:pPr>
            <a:r>
              <a:rPr sz="1575" b="1" i="0">
                <a:solidFill>
                  <a:srgbClr val="F7F5F2"/>
                </a:solidFill>
                <a:latin typeface="Aptos"/>
                <a:ea typeface="Aptos"/>
                <a:cs typeface="Aptos"/>
              </a:rPr>
              <a:t>Review Jama'ah</a:t>
            </a:r>
          </a:p>
        </p:txBody>
      </p:sp>
      <p:sp>
        <p:nvSpPr>
          <p:cNvPr id="14" name="">
            <a:extLst xmlns:a="http://schemas.openxmlformats.org/drawingml/2006/main">
              <a:ext uri="{FF2B5EF4-FFF2-40B4-BE49-F238E27FC236}">
                <a16:creationId xmlns:a16="http://schemas.microsoft.com/office/drawing/2014/main" id="{5EFC82CE-C3CA-4A62-8799-8A6DD4F16E8D}"/>
              </a:ext>
            </a:extLst>
          </p:cNvPr>
          <p:cNvSpPr>
            <a:spLocks xmlns:a="http://schemas.openxmlformats.org/drawingml/2006/main" noGrp="1"/>
          </p:cNvSpPr>
          <p:nvPr/>
        </p:nvSpPr>
        <p:spPr>
          <a:xfrm xmlns:a="http://schemas.openxmlformats.org/drawingml/2006/main">
            <a:off x="4914900" y="1981200"/>
            <a:ext cx="2133600" cy="2266950"/>
          </a:xfrm>
          <a:prstGeom xmlns:a="http://schemas.openxmlformats.org/drawingml/2006/main" prst="roundRect">
            <a:avLst>
              <a:gd name="adj" fmla="val 8036"/>
            </a:avLst>
          </a:prstGeom>
          <a:solidFill xmlns:a="http://schemas.openxmlformats.org/drawingml/2006/main">
            <a:srgbClr val="FFFFFF">
              <a:alpha val="8000"/>
            </a:srgbClr>
          </a:solidFill>
          <a:ln xmlns:a="http://schemas.openxmlformats.org/drawingml/2006/main" w="9525">
            <a:solidFill>
              <a:srgbClr val="FFFFFF">
                <a:alpha val="16000"/>
              </a:srgbClr>
            </a:solidFill>
            <a:prstDash val="solid"/>
          </a:ln>
        </p:spPr>
      </p:sp>
      <p:sp>
        <p:nvSpPr>
          <p:cNvPr id="15" name="">
            <a:extLst xmlns:a="http://schemas.openxmlformats.org/drawingml/2006/main">
              <a:ext uri="{FF2B5EF4-FFF2-40B4-BE49-F238E27FC236}">
                <a16:creationId xmlns:a16="http://schemas.microsoft.com/office/drawing/2014/main" id="{DDA8F7C5-906D-4F0C-A8D3-B82C84A6EC28}"/>
              </a:ext>
            </a:extLst>
          </p:cNvPr>
          <p:cNvSpPr>
            <a:spLocks xmlns:a="http://schemas.openxmlformats.org/drawingml/2006/main" noGrp="1"/>
          </p:cNvSpPr>
          <p:nvPr/>
        </p:nvSpPr>
        <p:spPr>
          <a:xfrm xmlns:a="http://schemas.openxmlformats.org/drawingml/2006/main">
            <a:off x="5086350" y="2133600"/>
            <a:ext cx="179070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767"/>
          </a:bodyPr>
          <a:lstStyle xmlns:a="http://schemas.openxmlformats.org/drawingml/2006/main"/>
          <a:p xmlns:a="http://schemas.openxmlformats.org/drawingml/2006/main">
            <a:pPr algn="l">
              <a:lnSpc>
                <a:spcPct val="108000"/>
              </a:lnSpc>
              <a:buNone/>
              <a:defRPr sz="900" b="0" i="0">
                <a:solidFill>
                  <a:srgbClr val="F7F5F2"/>
                </a:solidFill>
                <a:latin typeface="Aptos"/>
                <a:ea typeface="Aptos"/>
                <a:cs typeface="Aptos"/>
              </a:defRPr>
            </a:pPr>
            <a:r>
              <a:rPr sz="900" b="0" i="0">
                <a:solidFill>
                  <a:srgbClr val="F7F5F2"/>
                </a:solidFill>
                <a:latin typeface="Aptos"/>
                <a:ea typeface="Aptos"/>
                <a:cs typeface="Aptos"/>
              </a:rPr>
              <a:t>PRAYER</a:t>
            </a:r>
          </a:p>
          <a:p xmlns:a="http://schemas.openxmlformats.org/drawingml/2006/main">
            <a:pPr algn="l">
              <a:lnSpc>
                <a:spcPct val="108000"/>
              </a:lnSpc>
              <a:buNone/>
              <a:defRPr sz="900" b="0" i="0">
                <a:solidFill>
                  <a:srgbClr val="F7F5F2"/>
                </a:solidFill>
                <a:latin typeface="Aptos"/>
                <a:ea typeface="Aptos"/>
                <a:cs typeface="Aptos"/>
              </a:defRPr>
            </a:pPr>
            <a:r>
              <a:rPr sz="900" b="0" i="0">
                <a:solidFill>
                  <a:srgbClr val="F7F5F2"/>
                </a:solidFill>
                <a:latin typeface="Aptos"/>
                <a:ea typeface="Aptos"/>
                <a:cs typeface="Aptos"/>
              </a:rPr>
              <a:t>Dhuhr</a:t>
            </a:r>
          </a:p>
          <a:p xmlns:a="http://schemas.openxmlformats.org/drawingml/2006/main">
            <a:r>
              <a:t/>
            </a:r>
          </a:p>
          <a:p xmlns:a="http://schemas.openxmlformats.org/drawingml/2006/main">
            <a:pPr algn="l">
              <a:lnSpc>
                <a:spcPct val="108000"/>
              </a:lnSpc>
              <a:buNone/>
              <a:defRPr sz="900" b="0" i="0">
                <a:solidFill>
                  <a:srgbClr val="F7F5F2"/>
                </a:solidFill>
                <a:latin typeface="Aptos"/>
                <a:ea typeface="Aptos"/>
                <a:cs typeface="Aptos"/>
              </a:defRPr>
            </a:pPr>
            <a:r>
              <a:rPr sz="900" b="0" i="0">
                <a:solidFill>
                  <a:srgbClr val="F7F5F2"/>
                </a:solidFill>
                <a:latin typeface="Aptos"/>
                <a:ea typeface="Aptos"/>
                <a:cs typeface="Aptos"/>
              </a:rPr>
              <a:t>STARTS</a:t>
            </a:r>
          </a:p>
          <a:p xmlns:a="http://schemas.openxmlformats.org/drawingml/2006/main">
            <a:pPr algn="l">
              <a:lnSpc>
                <a:spcPct val="108000"/>
              </a:lnSpc>
              <a:buNone/>
              <a:defRPr sz="900" b="0" i="0">
                <a:solidFill>
                  <a:srgbClr val="F7F5F2"/>
                </a:solidFill>
                <a:latin typeface="Aptos"/>
                <a:ea typeface="Aptos"/>
                <a:cs typeface="Aptos"/>
              </a:defRPr>
            </a:pPr>
            <a:r>
              <a:rPr sz="900" b="0" i="0">
                <a:solidFill>
                  <a:srgbClr val="F7F5F2"/>
                </a:solidFill>
                <a:latin typeface="Aptos"/>
                <a:ea typeface="Aptos"/>
                <a:cs typeface="Aptos"/>
              </a:rPr>
              <a:t>12:45 today</a:t>
            </a:r>
          </a:p>
          <a:p xmlns:a="http://schemas.openxmlformats.org/drawingml/2006/main">
            <a:r>
              <a:t/>
            </a:r>
          </a:p>
          <a:p xmlns:a="http://schemas.openxmlformats.org/drawingml/2006/main">
            <a:pPr algn="l">
              <a:lnSpc>
                <a:spcPct val="108000"/>
              </a:lnSpc>
              <a:buNone/>
              <a:defRPr sz="900" b="0" i="0">
                <a:solidFill>
                  <a:srgbClr val="F7F5F2"/>
                </a:solidFill>
                <a:latin typeface="Aptos"/>
                <a:ea typeface="Aptos"/>
                <a:cs typeface="Aptos"/>
              </a:defRPr>
            </a:pPr>
            <a:r>
              <a:rPr sz="900" b="0" i="0">
                <a:solidFill>
                  <a:srgbClr val="F7F5F2"/>
                </a:solidFill>
                <a:latin typeface="Aptos"/>
                <a:ea typeface="Aptos"/>
                <a:cs typeface="Aptos"/>
              </a:rPr>
              <a:t>LOCATION</a:t>
            </a:r>
          </a:p>
          <a:p xmlns:a="http://schemas.openxmlformats.org/drawingml/2006/main">
            <a:pPr algn="l">
              <a:lnSpc>
                <a:spcPct val="108000"/>
              </a:lnSpc>
              <a:buNone/>
              <a:defRPr sz="900" b="0" i="0">
                <a:solidFill>
                  <a:srgbClr val="F7F5F2"/>
                </a:solidFill>
                <a:latin typeface="Aptos"/>
                <a:ea typeface="Aptos"/>
                <a:cs typeface="Aptos"/>
              </a:defRPr>
            </a:pPr>
            <a:r>
              <a:rPr sz="900" b="0" i="0">
                <a:solidFill>
                  <a:srgbClr val="F7F5F2"/>
                </a:solidFill>
                <a:latin typeface="Aptos"/>
                <a:ea typeface="Aptos"/>
                <a:cs typeface="Aptos"/>
              </a:rPr>
              <a:t>Frankfurt-Bockenheim</a:t>
            </a:r>
          </a:p>
          <a:p xmlns:a="http://schemas.openxmlformats.org/drawingml/2006/main">
            <a:r>
              <a:t/>
            </a:r>
          </a:p>
          <a:p xmlns:a="http://schemas.openxmlformats.org/drawingml/2006/main">
            <a:pPr algn="l">
              <a:lnSpc>
                <a:spcPct val="108000"/>
              </a:lnSpc>
              <a:buNone/>
              <a:defRPr sz="900" b="0" i="0">
                <a:solidFill>
                  <a:srgbClr val="F7F5F2"/>
                </a:solidFill>
                <a:latin typeface="Aptos"/>
                <a:ea typeface="Aptos"/>
                <a:cs typeface="Aptos"/>
              </a:defRPr>
            </a:pPr>
            <a:r>
              <a:rPr sz="900" b="0" i="0">
                <a:solidFill>
                  <a:srgbClr val="F7F5F2"/>
                </a:solidFill>
                <a:latin typeface="Aptos"/>
                <a:ea typeface="Aptos"/>
                <a:cs typeface="Aptos"/>
              </a:rPr>
              <a:t>PHOTO</a:t>
            </a:r>
          </a:p>
          <a:p xmlns:a="http://schemas.openxmlformats.org/drawingml/2006/main">
            <a:pPr algn="l">
              <a:lnSpc>
                <a:spcPct val="108000"/>
              </a:lnSpc>
              <a:buNone/>
              <a:defRPr sz="900" b="0" i="0">
                <a:solidFill>
                  <a:srgbClr val="F7F5F2"/>
                </a:solidFill>
                <a:latin typeface="Aptos"/>
                <a:ea typeface="Aptos"/>
                <a:cs typeface="Aptos"/>
              </a:defRPr>
            </a:pPr>
            <a:r>
              <a:rPr sz="900" b="0" i="0">
                <a:solidFill>
                  <a:srgbClr val="F7F5F2"/>
                </a:solidFill>
                <a:latin typeface="Aptos"/>
                <a:ea typeface="Aptos"/>
                <a:cs typeface="Aptos"/>
              </a:rPr>
              <a:t>Location image attached</a:t>
            </a:r>
          </a:p>
        </p:txBody>
      </p:sp>
      <p:sp>
        <p:nvSpPr>
          <p:cNvPr id="16" name="">
            <a:extLst xmlns:a="http://schemas.openxmlformats.org/drawingml/2006/main">
              <a:ext uri="{FF2B5EF4-FFF2-40B4-BE49-F238E27FC236}">
                <a16:creationId xmlns:a16="http://schemas.microsoft.com/office/drawing/2014/main" id="{9BE1C6DB-D23D-432E-ACA7-2A5637DC4B8E}"/>
              </a:ext>
            </a:extLst>
          </p:cNvPr>
          <p:cNvSpPr>
            <a:spLocks xmlns:a="http://schemas.openxmlformats.org/drawingml/2006/main" noGrp="1"/>
          </p:cNvSpPr>
          <p:nvPr/>
        </p:nvSpPr>
        <p:spPr>
          <a:xfrm xmlns:a="http://schemas.openxmlformats.org/drawingml/2006/main">
            <a:off x="4991100" y="4895850"/>
            <a:ext cx="1981200" cy="400050"/>
          </a:xfrm>
          <a:prstGeom xmlns:a="http://schemas.openxmlformats.org/drawingml/2006/main" prst="roundRect">
            <a:avLst>
              <a:gd name="adj" fmla="val 30952"/>
            </a:avLst>
          </a:prstGeom>
          <a:solidFill xmlns:a="http://schemas.openxmlformats.org/drawingml/2006/main">
            <a:srgbClr val="E7C48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B7B5A28-9E84-4CD2-B8C4-D35D0DBA4274}"/>
              </a:ext>
            </a:extLst>
          </p:cNvPr>
          <p:cNvSpPr>
            <a:spLocks xmlns:a="http://schemas.openxmlformats.org/drawingml/2006/main" noGrp="1"/>
          </p:cNvSpPr>
          <p:nvPr/>
        </p:nvSpPr>
        <p:spPr>
          <a:xfrm xmlns:a="http://schemas.openxmlformats.org/drawingml/2006/main">
            <a:off x="5086350" y="5000625"/>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1050" b="1" i="0">
                <a:solidFill>
                  <a:srgbClr val="102F33"/>
                </a:solidFill>
                <a:latin typeface="Aptos"/>
                <a:ea typeface="Aptos"/>
                <a:cs typeface="Aptos"/>
              </a:defRPr>
            </a:pPr>
            <a:r>
              <a:rPr sz="1050" b="1" i="0">
                <a:solidFill>
                  <a:srgbClr val="102F33"/>
                </a:solidFill>
                <a:latin typeface="Aptos"/>
                <a:ea typeface="Aptos"/>
                <a:cs typeface="Aptos"/>
              </a:rPr>
              <a:t>Confirm Jama'ah</a:t>
            </a:r>
          </a:p>
        </p:txBody>
      </p:sp>
      <p:sp>
        <p:nvSpPr>
          <p:cNvPr id="18" name="">
            <a:extLst xmlns:a="http://schemas.openxmlformats.org/drawingml/2006/main">
              <a:ext uri="{FF2B5EF4-FFF2-40B4-BE49-F238E27FC236}">
                <a16:creationId xmlns:a16="http://schemas.microsoft.com/office/drawing/2014/main" id="{7893CBEE-2337-4707-A9AE-4727ED05BCFF}"/>
              </a:ext>
            </a:extLst>
          </p:cNvPr>
          <p:cNvSpPr>
            <a:spLocks xmlns:a="http://schemas.openxmlformats.org/drawingml/2006/main" noGrp="1"/>
          </p:cNvSpPr>
          <p:nvPr/>
        </p:nvSpPr>
        <p:spPr>
          <a:xfrm xmlns:a="http://schemas.openxmlformats.org/drawingml/2006/main">
            <a:off x="4991100" y="5410200"/>
            <a:ext cx="1981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825" b="1" i="0">
                <a:solidFill>
                  <a:srgbClr val="F7F5F2"/>
                </a:solidFill>
                <a:latin typeface="Aptos"/>
                <a:ea typeface="Aptos"/>
                <a:cs typeface="Aptos"/>
              </a:defRPr>
            </a:pPr>
            <a:r>
              <a:rPr sz="825" b="1" i="0">
                <a:solidFill>
                  <a:srgbClr val="F7F5F2"/>
                </a:solidFill>
                <a:latin typeface="Aptos"/>
                <a:ea typeface="Aptos"/>
                <a:cs typeface="Aptos"/>
              </a:rPr>
              <a:t>Edit</a:t>
            </a:r>
          </a:p>
        </p:txBody>
      </p:sp>
      <p:sp>
        <p:nvSpPr>
          <p:cNvPr id="19" name="">
            <a:extLst xmlns:a="http://schemas.openxmlformats.org/drawingml/2006/main">
              <a:ext uri="{FF2B5EF4-FFF2-40B4-BE49-F238E27FC236}">
                <a16:creationId xmlns:a16="http://schemas.microsoft.com/office/drawing/2014/main" id="{6D3E2A33-37A9-46FC-A544-F510FAB48956}"/>
              </a:ext>
            </a:extLst>
          </p:cNvPr>
          <p:cNvSpPr>
            <a:spLocks xmlns:a="http://schemas.openxmlformats.org/drawingml/2006/main" noGrp="1"/>
          </p:cNvSpPr>
          <p:nvPr/>
        </p:nvSpPr>
        <p:spPr>
          <a:xfrm xmlns:a="http://schemas.openxmlformats.org/drawingml/2006/main">
            <a:off x="5495925" y="2990850"/>
            <a:ext cx="971550" cy="971550"/>
          </a:xfrm>
          <a:prstGeom xmlns:a="http://schemas.openxmlformats.org/drawingml/2006/main" prst="ellipse">
            <a:avLst/>
          </a:prstGeom>
          <a:solidFill xmlns:a="http://schemas.openxmlformats.org/drawingml/2006/main">
            <a:srgbClr val="000000"/>
          </a:solidFill>
          <a:ln xmlns:a="http://schemas.openxmlformats.org/drawingml/2006/main" w="19050">
            <a:solidFill>
              <a:srgbClr val="F7F5F2"/>
            </a:solidFill>
            <a:prstDash val="solid"/>
          </a:ln>
        </p:spPr>
      </p:sp>
      <p:sp>
        <p:nvSpPr>
          <p:cNvPr id="20" name="">
            <a:extLst xmlns:a="http://schemas.openxmlformats.org/drawingml/2006/main">
              <a:ext uri="{FF2B5EF4-FFF2-40B4-BE49-F238E27FC236}">
                <a16:creationId xmlns:a16="http://schemas.microsoft.com/office/drawing/2014/main" id="{713154B6-BE11-424F-A5C6-19D096869539}"/>
              </a:ext>
            </a:extLst>
          </p:cNvPr>
          <p:cNvSpPr>
            <a:spLocks xmlns:a="http://schemas.openxmlformats.org/drawingml/2006/main" noGrp="1"/>
          </p:cNvSpPr>
          <p:nvPr/>
        </p:nvSpPr>
        <p:spPr>
          <a:xfrm xmlns:a="http://schemas.openxmlformats.org/drawingml/2006/main">
            <a:off x="5857875" y="3267075"/>
            <a:ext cx="342900" cy="419100"/>
          </a:xfrm>
          <a:prstGeom xmlns:a="http://schemas.openxmlformats.org/drawingml/2006/main" prst="triangle">
            <a:avLst/>
          </a:prstGeom>
          <a:solidFill xmlns:a="http://schemas.openxmlformats.org/drawingml/2006/main">
            <a:srgbClr val="102F3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9940E7F-1657-4D42-AB2E-02D7387CE519}"/>
              </a:ext>
            </a:extLst>
          </p:cNvPr>
          <p:cNvSpPr>
            <a:spLocks xmlns:a="http://schemas.openxmlformats.org/drawingml/2006/main" noGrp="1"/>
          </p:cNvSpPr>
          <p:nvPr/>
        </p:nvSpPr>
        <p:spPr>
          <a:xfrm xmlns:a="http://schemas.openxmlformats.org/drawingml/2006/main">
            <a:off x="8020050" y="21526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350" b="1" i="0">
                <a:solidFill>
                  <a:srgbClr val="E7C48D"/>
                </a:solidFill>
                <a:latin typeface="Aptos"/>
                <a:ea typeface="Aptos"/>
                <a:cs typeface="Aptos"/>
              </a:defRPr>
            </a:pPr>
            <a:r>
              <a:rPr sz="1350" b="1" i="0">
                <a:solidFill>
                  <a:srgbClr val="E7C48D"/>
                </a:solidFill>
                <a:latin typeface="Aptos"/>
                <a:ea typeface="Aptos"/>
                <a:cs typeface="Aptos"/>
              </a:rPr>
              <a:t>APPLICATION WALKTHROUGH</a:t>
            </a:r>
          </a:p>
        </p:txBody>
      </p:sp>
      <p:sp>
        <p:nvSpPr>
          <p:cNvPr id="22" name="">
            <a:extLst xmlns:a="http://schemas.openxmlformats.org/drawingml/2006/main">
              <a:ext uri="{FF2B5EF4-FFF2-40B4-BE49-F238E27FC236}">
                <a16:creationId xmlns:a16="http://schemas.microsoft.com/office/drawing/2014/main" id="{5D0F5364-DE05-47A6-BFBE-290BBF843E7D}"/>
              </a:ext>
            </a:extLst>
          </p:cNvPr>
          <p:cNvSpPr>
            <a:spLocks xmlns:a="http://schemas.openxmlformats.org/drawingml/2006/main" noGrp="1"/>
          </p:cNvSpPr>
          <p:nvPr/>
        </p:nvSpPr>
        <p:spPr>
          <a:xfrm xmlns:a="http://schemas.openxmlformats.org/drawingml/2006/main">
            <a:off x="8020050" y="2686050"/>
            <a:ext cx="2952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15"/>
          </a:bodyPr>
          <a:lstStyle xmlns:a="http://schemas.openxmlformats.org/drawingml/2006/main"/>
          <a:p xmlns:a="http://schemas.openxmlformats.org/drawingml/2006/main">
            <a:pPr algn="l">
              <a:lnSpc>
                <a:spcPct val="112000"/>
              </a:lnSpc>
              <a:buNone/>
              <a:defRPr sz="1800" b="0" i="0">
                <a:solidFill>
                  <a:srgbClr val="16363B"/>
                </a:solidFill>
                <a:latin typeface="Georgia"/>
                <a:ea typeface="Georgia"/>
                <a:cs typeface="Georgia"/>
              </a:defRPr>
            </a:pPr>
            <a:r>
              <a:rPr sz="1800" b="0" i="0">
                <a:solidFill>
                  <a:srgbClr val="16363B"/>
                </a:solidFill>
                <a:latin typeface="Georgia"/>
                <a:ea typeface="Georgia"/>
                <a:cs typeface="Georgia"/>
              </a:rPr>
              <a:t>60-90 seconds</a:t>
            </a:r>
          </a:p>
          <a:p xmlns:a="http://schemas.openxmlformats.org/drawingml/2006/main">
            <a:pPr algn="l">
              <a:lnSpc>
                <a:spcPct val="112000"/>
              </a:lnSpc>
              <a:buNone/>
              <a:defRPr sz="1800" b="0" i="0">
                <a:solidFill>
                  <a:srgbClr val="16363B"/>
                </a:solidFill>
                <a:latin typeface="Georgia"/>
                <a:ea typeface="Georgia"/>
                <a:cs typeface="Georgia"/>
              </a:defRPr>
            </a:pPr>
            <a:r>
              <a:rPr sz="1800" b="0" i="0">
                <a:solidFill>
                  <a:srgbClr val="16363B"/>
                </a:solidFill>
                <a:latin typeface="Georgia"/>
                <a:ea typeface="Georgia"/>
                <a:cs typeface="Georgia"/>
              </a:rPr>
              <a:t>Portrait H.264 MP4</a:t>
            </a:r>
          </a:p>
          <a:p xmlns:a="http://schemas.openxmlformats.org/drawingml/2006/main">
            <a:pPr algn="l">
              <a:lnSpc>
                <a:spcPct val="112000"/>
              </a:lnSpc>
              <a:buNone/>
              <a:defRPr sz="1800" b="0" i="0">
                <a:solidFill>
                  <a:srgbClr val="16363B"/>
                </a:solidFill>
                <a:latin typeface="Georgia"/>
                <a:ea typeface="Georgia"/>
                <a:cs typeface="Georgia"/>
              </a:defRPr>
            </a:pPr>
            <a:r>
              <a:rPr sz="1800" b="0" i="0">
                <a:solidFill>
                  <a:srgbClr val="16363B"/>
                </a:solidFill>
                <a:latin typeface="Georgia"/>
                <a:ea typeface="Georgia"/>
                <a:cs typeface="Georgia"/>
              </a:rPr>
              <a:t>Embedded for offline playback</a:t>
            </a:r>
          </a:p>
        </p:txBody>
      </p:sp>
      <p:sp>
        <p:nvSpPr>
          <p:cNvPr id="23" name="">
            <a:extLst xmlns:a="http://schemas.openxmlformats.org/drawingml/2006/main">
              <a:ext uri="{FF2B5EF4-FFF2-40B4-BE49-F238E27FC236}">
                <a16:creationId xmlns:a16="http://schemas.microsoft.com/office/drawing/2014/main" id="{F35C58C5-1F0E-40B3-9B08-A2A39EE7C035}"/>
              </a:ext>
            </a:extLst>
          </p:cNvPr>
          <p:cNvSpPr>
            <a:spLocks xmlns:a="http://schemas.openxmlformats.org/drawingml/2006/main" noGrp="1"/>
          </p:cNvSpPr>
          <p:nvPr/>
        </p:nvSpPr>
        <p:spPr>
          <a:xfrm xmlns:a="http://schemas.openxmlformats.org/drawingml/2006/main">
            <a:off x="8020050" y="424815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350" b="0" i="0">
                <a:solidFill>
                  <a:srgbClr val="667C80"/>
                </a:solidFill>
                <a:latin typeface="Aptos"/>
                <a:ea typeface="Aptos"/>
                <a:cs typeface="Aptos"/>
              </a:defRPr>
            </a:pPr>
            <a:r>
              <a:rPr sz="1350" b="0" i="0">
                <a:solidFill>
                  <a:srgbClr val="667C80"/>
                </a:solidFill>
                <a:latin typeface="Aptos"/>
                <a:ea typeface="Aptos"/>
                <a:cs typeface="Aptos"/>
              </a:rPr>
              <a:t>A poster frame remains visible if playback is unavailable.</a:t>
            </a:r>
          </a:p>
        </p:txBody>
      </p:sp>
      <p:sp>
        <p:nvSpPr>
          <p:cNvPr id="24" name="">
            <a:extLst xmlns:a="http://schemas.openxmlformats.org/drawingml/2006/main">
              <a:ext uri="{FF2B5EF4-FFF2-40B4-BE49-F238E27FC236}">
                <a16:creationId xmlns:a16="http://schemas.microsoft.com/office/drawing/2014/main" id="{01F7B6EC-C5E2-4F77-9871-4F88821E2D47}"/>
              </a:ext>
            </a:extLst>
          </p:cNvPr>
          <p:cNvSpPr>
            <a:spLocks xmlns:a="http://schemas.openxmlformats.org/drawingml/2006/main" noGrp="1"/>
          </p:cNvSpPr>
          <p:nvPr/>
        </p:nvSpPr>
        <p:spPr>
          <a:xfrm xmlns:a="http://schemas.openxmlformats.org/drawingml/2006/main">
            <a:off x="552450" y="65341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825" b="1" i="0">
                <a:solidFill>
                  <a:srgbClr val="6A7C7F"/>
                </a:solidFill>
                <a:latin typeface="Aptos"/>
                <a:ea typeface="Aptos"/>
                <a:cs typeface="Aptos"/>
              </a:defRPr>
            </a:pPr>
            <a:r>
              <a:rPr sz="825" b="1" i="0">
                <a:solidFill>
                  <a:srgbClr val="6A7C7F"/>
                </a:solidFill>
                <a:latin typeface="Aptos"/>
                <a:ea typeface="Aptos"/>
                <a:cs typeface="Aptos"/>
              </a:rPr>
              <a:t>JAMAA NEXT DOOR</a:t>
            </a:r>
          </a:p>
        </p:txBody>
      </p:sp>
      <p:sp>
        <p:nvSpPr>
          <p:cNvPr id="25" name="">
            <a:extLst xmlns:a="http://schemas.openxmlformats.org/drawingml/2006/main">
              <a:ext uri="{FF2B5EF4-FFF2-40B4-BE49-F238E27FC236}">
                <a16:creationId xmlns:a16="http://schemas.microsoft.com/office/drawing/2014/main" id="{9C03F77E-6C35-4FA2-A9CD-F465A607D59A}"/>
              </a:ext>
            </a:extLst>
          </p:cNvPr>
          <p:cNvSpPr>
            <a:spLocks xmlns:a="http://schemas.openxmlformats.org/drawingml/2006/main" noGrp="1"/>
          </p:cNvSpPr>
          <p:nvPr/>
        </p:nvSpPr>
        <p:spPr>
          <a:xfrm xmlns:a="http://schemas.openxmlformats.org/drawingml/2006/main">
            <a:off x="1125855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900" b="1" i="0">
                <a:solidFill>
                  <a:srgbClr val="E7C48D"/>
                </a:solidFill>
                <a:latin typeface="Aptos"/>
                <a:ea typeface="Aptos"/>
                <a:cs typeface="Aptos"/>
              </a:defRPr>
            </a:pPr>
            <a:r>
              <a:rPr sz="900" b="1" i="0">
                <a:solidFill>
                  <a:srgbClr val="E7C48D"/>
                </a:solidFill>
                <a:latin typeface="Aptos"/>
                <a:ea typeface="Aptos"/>
                <a:cs typeface="Aptos"/>
              </a:rPr>
              <a:t>12</a:t>
            </a:r>
          </a:p>
        </p:txBody>
      </p:sp>
    </p:spTree>
    <p:extLst>
      <p:ext uri="{BB962C8B-B14F-4D97-AF65-F5344CB8AC3E}">
        <p14:creationId xmlns:p14="http://schemas.microsoft.com/office/powerpoint/2010/main" val="1931139575"/>
      </p:ext>
    </p:extLst>
  </p:cSld>
</p:sld>
</file>

<file path=ppt/slides/slide13.xml><?xml version="1.0" encoding="utf-8"?>
<p:sld xmlns:p="http://schemas.openxmlformats.org/presentationml/2006/main">
  <p:cSld>
    <p:bg>
      <p:bgPr>
        <a:solidFill xmlns:a="http://schemas.openxmlformats.org/drawingml/2006/main">
          <a:srgbClr val="063E4D"/>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4AD2D295-1B42-4572-98F1-D9F67E04074F}"/>
              </a:ext>
            </a:extLst>
          </p:cNvPr>
          <p:cNvSpPr>
            <a:spLocks xmlns:a="http://schemas.openxmlformats.org/drawingml/2006/main" noGrp="1"/>
          </p:cNvSpPr>
          <p:nvPr/>
        </p:nvSpPr>
        <p:spPr>
          <a:xfrm xmlns:a="http://schemas.openxmlformats.org/drawingml/2006/main">
            <a:off x="552450" y="3238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E7C48D"/>
                </a:solidFill>
                <a:latin typeface="Aptos"/>
                <a:ea typeface="Aptos"/>
                <a:cs typeface="Aptos"/>
              </a:defRPr>
            </a:pPr>
            <a:r>
              <a:rPr sz="1275" b="1" i="0">
                <a:solidFill>
                  <a:srgbClr val="E7C48D"/>
                </a:solidFill>
                <a:latin typeface="Aptos"/>
                <a:ea typeface="Aptos"/>
                <a:cs typeface="Aptos"/>
              </a:rPr>
              <a:t>13</a:t>
            </a:r>
          </a:p>
        </p:txBody>
      </p:sp>
      <p:sp>
        <p:nvSpPr>
          <p:cNvPr id="2" name="">
            <a:extLst xmlns:a="http://schemas.openxmlformats.org/drawingml/2006/main">
              <a:ext uri="{FF2B5EF4-FFF2-40B4-BE49-F238E27FC236}">
                <a16:creationId xmlns:a16="http://schemas.microsoft.com/office/drawing/2014/main" id="{C2F17E1F-202E-4FE4-946D-28BA9BF405F3}"/>
              </a:ext>
            </a:extLst>
          </p:cNvPr>
          <p:cNvSpPr>
            <a:spLocks xmlns:a="http://schemas.openxmlformats.org/drawingml/2006/main" noGrp="1"/>
          </p:cNvSpPr>
          <p:nvPr/>
        </p:nvSpPr>
        <p:spPr>
          <a:xfrm xmlns:a="http://schemas.openxmlformats.org/drawingml/2006/main" flipH="0" flipV="0">
            <a:off x="1104900" y="447675"/>
            <a:ext cx="514350" cy="0"/>
          </a:xfrm>
          <a:prstGeom xmlns:a="http://schemas.openxmlformats.org/drawingml/2006/main" prst="line">
            <a:avLst/>
          </a:prstGeom>
          <a:noFill xmlns:a="http://schemas.openxmlformats.org/drawingml/2006/main"/>
          <a:ln xmlns:a="http://schemas.openxmlformats.org/drawingml/2006/main" w="19050">
            <a:solidFill>
              <a:srgbClr val="89A98F"/>
            </a:solidFill>
            <a:prstDash val="solid"/>
          </a:ln>
        </p:spPr>
      </p:sp>
      <p:sp>
        <p:nvSpPr>
          <p:cNvPr id="3" name="">
            <a:extLst xmlns:a="http://schemas.openxmlformats.org/drawingml/2006/main">
              <a:ext uri="{FF2B5EF4-FFF2-40B4-BE49-F238E27FC236}">
                <a16:creationId xmlns:a16="http://schemas.microsoft.com/office/drawing/2014/main" id="{BB66DC47-7674-48C8-BD93-B12F7B22799C}"/>
              </a:ext>
            </a:extLst>
          </p:cNvPr>
          <p:cNvSpPr>
            <a:spLocks xmlns:a="http://schemas.openxmlformats.org/drawingml/2006/main" noGrp="1"/>
          </p:cNvSpPr>
          <p:nvPr/>
        </p:nvSpPr>
        <p:spPr>
          <a:xfrm xmlns:a="http://schemas.openxmlformats.org/drawingml/2006/main">
            <a:off x="1790700" y="247650"/>
            <a:ext cx="9848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944"/>
          </a:bodyPr>
          <a:lstStyle xmlns:a="http://schemas.openxmlformats.org/drawingml/2006/main"/>
          <a:p xmlns:a="http://schemas.openxmlformats.org/drawingml/2006/main">
            <a:pPr algn="l">
              <a:lnSpc>
                <a:spcPct val="102000"/>
              </a:lnSpc>
              <a:buNone/>
              <a:defRPr sz="2625" b="1" i="0">
                <a:solidFill>
                  <a:srgbClr val="F7F5F2"/>
                </a:solidFill>
                <a:latin typeface="Georgia"/>
                <a:ea typeface="Georgia"/>
                <a:cs typeface="Georgia"/>
              </a:defRPr>
            </a:pPr>
            <a:r>
              <a:rPr sz="2625" b="1" i="0">
                <a:solidFill>
                  <a:srgbClr val="F7F5F2"/>
                </a:solidFill>
                <a:latin typeface="Georgia"/>
                <a:ea typeface="Georgia"/>
                <a:cs typeface="Georgia"/>
              </a:rPr>
              <a:t>The prototype works; trust still requires real-world validation</a:t>
            </a:r>
          </a:p>
        </p:txBody>
      </p:sp>
      <p:sp>
        <p:nvSpPr>
          <p:cNvPr id="4" name="">
            <a:extLst xmlns:a="http://schemas.openxmlformats.org/drawingml/2006/main">
              <a:ext uri="{FF2B5EF4-FFF2-40B4-BE49-F238E27FC236}">
                <a16:creationId xmlns:a16="http://schemas.microsoft.com/office/drawing/2014/main" id="{28C6E177-BA29-483E-A34D-654E2EBE9FEA}"/>
              </a:ext>
            </a:extLst>
          </p:cNvPr>
          <p:cNvSpPr>
            <a:spLocks xmlns:a="http://schemas.openxmlformats.org/drawingml/2006/main" noGrp="1"/>
          </p:cNvSpPr>
          <p:nvPr/>
        </p:nvSpPr>
        <p:spPr>
          <a:xfrm xmlns:a="http://schemas.openxmlformats.org/drawingml/2006/main">
            <a:off x="742950" y="12192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1" i="0">
                <a:solidFill>
                  <a:srgbClr val="E7C48D"/>
                </a:solidFill>
                <a:latin typeface="Aptos"/>
                <a:ea typeface="Aptos"/>
                <a:cs typeface="Aptos"/>
              </a:defRPr>
            </a:pPr>
            <a:r>
              <a:rPr sz="1500" b="1" i="0">
                <a:solidFill>
                  <a:srgbClr val="E7C48D"/>
                </a:solidFill>
                <a:latin typeface="Aptos"/>
                <a:ea typeface="Aptos"/>
                <a:cs typeface="Aptos"/>
              </a:rPr>
              <a:t>WORKING</a:t>
            </a:r>
          </a:p>
        </p:txBody>
      </p:sp>
      <p:sp>
        <p:nvSpPr>
          <p:cNvPr id="5" name="">
            <a:extLst xmlns:a="http://schemas.openxmlformats.org/drawingml/2006/main">
              <a:ext uri="{FF2B5EF4-FFF2-40B4-BE49-F238E27FC236}">
                <a16:creationId xmlns:a16="http://schemas.microsoft.com/office/drawing/2014/main" id="{A73891ED-2793-4A15-A97B-EFC096D597E3}"/>
              </a:ext>
            </a:extLst>
          </p:cNvPr>
          <p:cNvSpPr>
            <a:spLocks xmlns:a="http://schemas.openxmlformats.org/drawingml/2006/main" noGrp="1"/>
          </p:cNvSpPr>
          <p:nvPr/>
        </p:nvSpPr>
        <p:spPr>
          <a:xfrm xmlns:a="http://schemas.openxmlformats.org/drawingml/2006/main" flipH="0" flipV="0">
            <a:off x="885825" y="1724025"/>
            <a:ext cx="190500" cy="0"/>
          </a:xfrm>
          <a:prstGeom xmlns:a="http://schemas.openxmlformats.org/drawingml/2006/main" prst="line">
            <a:avLst/>
          </a:prstGeom>
          <a:noFill xmlns:a="http://schemas.openxmlformats.org/drawingml/2006/main"/>
          <a:ln xmlns:a="http://schemas.openxmlformats.org/drawingml/2006/main" w="28575">
            <a:solidFill>
              <a:srgbClr val="89A98F"/>
            </a:solidFill>
            <a:prstDash val="solid"/>
          </a:ln>
        </p:spPr>
      </p:sp>
      <p:sp>
        <p:nvSpPr>
          <p:cNvPr id="6" name="">
            <a:extLst xmlns:a="http://schemas.openxmlformats.org/drawingml/2006/main">
              <a:ext uri="{FF2B5EF4-FFF2-40B4-BE49-F238E27FC236}">
                <a16:creationId xmlns:a16="http://schemas.microsoft.com/office/drawing/2014/main" id="{89A69DCA-12DF-4B16-B158-6D59E7B72452}"/>
              </a:ext>
            </a:extLst>
          </p:cNvPr>
          <p:cNvSpPr>
            <a:spLocks xmlns:a="http://schemas.openxmlformats.org/drawingml/2006/main" noGrp="1"/>
          </p:cNvSpPr>
          <p:nvPr/>
        </p:nvSpPr>
        <p:spPr>
          <a:xfrm xmlns:a="http://schemas.openxmlformats.org/drawingml/2006/main">
            <a:off x="1219200" y="159067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F7F5F2"/>
                </a:solidFill>
                <a:latin typeface="Aptos"/>
                <a:ea typeface="Aptos"/>
                <a:cs typeface="Aptos"/>
              </a:defRPr>
            </a:pPr>
            <a:r>
              <a:rPr sz="1500" b="0" i="0">
                <a:solidFill>
                  <a:srgbClr val="F7F5F2"/>
                </a:solidFill>
                <a:latin typeface="Aptos"/>
                <a:ea typeface="Aptos"/>
                <a:cs typeface="Aptos"/>
              </a:rPr>
              <a:t>Standalone APK</a:t>
            </a:r>
          </a:p>
        </p:txBody>
      </p:sp>
      <p:sp>
        <p:nvSpPr>
          <p:cNvPr id="7" name="">
            <a:extLst xmlns:a="http://schemas.openxmlformats.org/drawingml/2006/main">
              <a:ext uri="{FF2B5EF4-FFF2-40B4-BE49-F238E27FC236}">
                <a16:creationId xmlns:a16="http://schemas.microsoft.com/office/drawing/2014/main" id="{64255768-F889-4B44-8B9E-CC0FD35DC86D}"/>
              </a:ext>
            </a:extLst>
          </p:cNvPr>
          <p:cNvSpPr>
            <a:spLocks xmlns:a="http://schemas.openxmlformats.org/drawingml/2006/main" noGrp="1"/>
          </p:cNvSpPr>
          <p:nvPr/>
        </p:nvSpPr>
        <p:spPr>
          <a:xfrm xmlns:a="http://schemas.openxmlformats.org/drawingml/2006/main" flipH="0" flipV="0">
            <a:off x="885825" y="2228850"/>
            <a:ext cx="190500" cy="0"/>
          </a:xfrm>
          <a:prstGeom xmlns:a="http://schemas.openxmlformats.org/drawingml/2006/main" prst="line">
            <a:avLst/>
          </a:prstGeom>
          <a:noFill xmlns:a="http://schemas.openxmlformats.org/drawingml/2006/main"/>
          <a:ln xmlns:a="http://schemas.openxmlformats.org/drawingml/2006/main" w="28575">
            <a:solidFill>
              <a:srgbClr val="89A98F"/>
            </a:solidFill>
            <a:prstDash val="solid"/>
          </a:ln>
        </p:spPr>
      </p:sp>
      <p:sp>
        <p:nvSpPr>
          <p:cNvPr id="8" name="">
            <a:extLst xmlns:a="http://schemas.openxmlformats.org/drawingml/2006/main">
              <a:ext uri="{FF2B5EF4-FFF2-40B4-BE49-F238E27FC236}">
                <a16:creationId xmlns:a16="http://schemas.microsoft.com/office/drawing/2014/main" id="{94F1B84A-BBC3-4364-B938-C735C7B8001D}"/>
              </a:ext>
            </a:extLst>
          </p:cNvPr>
          <p:cNvSpPr>
            <a:spLocks xmlns:a="http://schemas.openxmlformats.org/drawingml/2006/main" noGrp="1"/>
          </p:cNvSpPr>
          <p:nvPr/>
        </p:nvSpPr>
        <p:spPr>
          <a:xfrm xmlns:a="http://schemas.openxmlformats.org/drawingml/2006/main">
            <a:off x="1219200" y="20955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F7F5F2"/>
                </a:solidFill>
                <a:latin typeface="Aptos"/>
                <a:ea typeface="Aptos"/>
                <a:cs typeface="Aptos"/>
              </a:defRPr>
            </a:pPr>
            <a:r>
              <a:rPr sz="1500" b="0" i="0">
                <a:solidFill>
                  <a:srgbClr val="F7F5F2"/>
                </a:solidFill>
                <a:latin typeface="Aptos"/>
                <a:ea typeface="Aptos"/>
                <a:cs typeface="Aptos"/>
              </a:rPr>
              <a:t>Magic-link authentication</a:t>
            </a:r>
          </a:p>
        </p:txBody>
      </p:sp>
      <p:sp>
        <p:nvSpPr>
          <p:cNvPr id="9" name="">
            <a:extLst xmlns:a="http://schemas.openxmlformats.org/drawingml/2006/main">
              <a:ext uri="{FF2B5EF4-FFF2-40B4-BE49-F238E27FC236}">
                <a16:creationId xmlns:a16="http://schemas.microsoft.com/office/drawing/2014/main" id="{2C7E2F4D-8510-44C0-A48E-9783638631A2}"/>
              </a:ext>
            </a:extLst>
          </p:cNvPr>
          <p:cNvSpPr>
            <a:spLocks xmlns:a="http://schemas.openxmlformats.org/drawingml/2006/main" noGrp="1"/>
          </p:cNvSpPr>
          <p:nvPr/>
        </p:nvSpPr>
        <p:spPr>
          <a:xfrm xmlns:a="http://schemas.openxmlformats.org/drawingml/2006/main" flipH="0" flipV="0">
            <a:off x="885825" y="2733675"/>
            <a:ext cx="190500" cy="0"/>
          </a:xfrm>
          <a:prstGeom xmlns:a="http://schemas.openxmlformats.org/drawingml/2006/main" prst="line">
            <a:avLst/>
          </a:prstGeom>
          <a:noFill xmlns:a="http://schemas.openxmlformats.org/drawingml/2006/main"/>
          <a:ln xmlns:a="http://schemas.openxmlformats.org/drawingml/2006/main" w="28575">
            <a:solidFill>
              <a:srgbClr val="89A98F"/>
            </a:solidFill>
            <a:prstDash val="solid"/>
          </a:ln>
        </p:spPr>
      </p:sp>
      <p:sp>
        <p:nvSpPr>
          <p:cNvPr id="10" name="">
            <a:extLst xmlns:a="http://schemas.openxmlformats.org/drawingml/2006/main">
              <a:ext uri="{FF2B5EF4-FFF2-40B4-BE49-F238E27FC236}">
                <a16:creationId xmlns:a16="http://schemas.microsoft.com/office/drawing/2014/main" id="{F20A58CF-7D2B-454F-8832-75F02065AE0B}"/>
              </a:ext>
            </a:extLst>
          </p:cNvPr>
          <p:cNvSpPr>
            <a:spLocks xmlns:a="http://schemas.openxmlformats.org/drawingml/2006/main" noGrp="1"/>
          </p:cNvSpPr>
          <p:nvPr/>
        </p:nvSpPr>
        <p:spPr>
          <a:xfrm xmlns:a="http://schemas.openxmlformats.org/drawingml/2006/main">
            <a:off x="1219200" y="26003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F7F5F2"/>
                </a:solidFill>
                <a:latin typeface="Aptos"/>
                <a:ea typeface="Aptos"/>
                <a:cs typeface="Aptos"/>
              </a:defRPr>
            </a:pPr>
            <a:r>
              <a:rPr sz="1500" b="0" i="0">
                <a:solidFill>
                  <a:srgbClr val="F7F5F2"/>
                </a:solidFill>
                <a:latin typeface="Aptos"/>
                <a:ea typeface="Aptos"/>
                <a:cs typeface="Aptos"/>
              </a:rPr>
              <a:t>Profile setup</a:t>
            </a:r>
          </a:p>
        </p:txBody>
      </p:sp>
      <p:sp>
        <p:nvSpPr>
          <p:cNvPr id="11" name="">
            <a:extLst xmlns:a="http://schemas.openxmlformats.org/drawingml/2006/main">
              <a:ext uri="{FF2B5EF4-FFF2-40B4-BE49-F238E27FC236}">
                <a16:creationId xmlns:a16="http://schemas.microsoft.com/office/drawing/2014/main" id="{3FD3FAEA-8735-43AF-ACDC-377CB0D9F702}"/>
              </a:ext>
            </a:extLst>
          </p:cNvPr>
          <p:cNvSpPr>
            <a:spLocks xmlns:a="http://schemas.openxmlformats.org/drawingml/2006/main" noGrp="1"/>
          </p:cNvSpPr>
          <p:nvPr/>
        </p:nvSpPr>
        <p:spPr>
          <a:xfrm xmlns:a="http://schemas.openxmlformats.org/drawingml/2006/main" flipH="0" flipV="0">
            <a:off x="885825" y="3238500"/>
            <a:ext cx="190500" cy="0"/>
          </a:xfrm>
          <a:prstGeom xmlns:a="http://schemas.openxmlformats.org/drawingml/2006/main" prst="line">
            <a:avLst/>
          </a:prstGeom>
          <a:noFill xmlns:a="http://schemas.openxmlformats.org/drawingml/2006/main"/>
          <a:ln xmlns:a="http://schemas.openxmlformats.org/drawingml/2006/main" w="28575">
            <a:solidFill>
              <a:srgbClr val="89A98F"/>
            </a:solidFill>
            <a:prstDash val="solid"/>
          </a:ln>
        </p:spPr>
      </p:sp>
      <p:sp>
        <p:nvSpPr>
          <p:cNvPr id="12" name="">
            <a:extLst xmlns:a="http://schemas.openxmlformats.org/drawingml/2006/main">
              <a:ext uri="{FF2B5EF4-FFF2-40B4-BE49-F238E27FC236}">
                <a16:creationId xmlns:a16="http://schemas.microsoft.com/office/drawing/2014/main" id="{B8533FBA-71DC-4FF0-A9FA-3E66A278F5D0}"/>
              </a:ext>
            </a:extLst>
          </p:cNvPr>
          <p:cNvSpPr>
            <a:spLocks xmlns:a="http://schemas.openxmlformats.org/drawingml/2006/main" noGrp="1"/>
          </p:cNvSpPr>
          <p:nvPr/>
        </p:nvSpPr>
        <p:spPr>
          <a:xfrm xmlns:a="http://schemas.openxmlformats.org/drawingml/2006/main">
            <a:off x="1219200" y="31051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F7F5F2"/>
                </a:solidFill>
                <a:latin typeface="Aptos"/>
                <a:ea typeface="Aptos"/>
                <a:cs typeface="Aptos"/>
              </a:defRPr>
            </a:pPr>
            <a:r>
              <a:rPr sz="1500" b="0" i="0">
                <a:solidFill>
                  <a:srgbClr val="F7F5F2"/>
                </a:solidFill>
                <a:latin typeface="Aptos"/>
                <a:ea typeface="Aptos"/>
                <a:cs typeface="Aptos"/>
              </a:rPr>
              <a:t>Create + confirm</a:t>
            </a:r>
          </a:p>
        </p:txBody>
      </p:sp>
      <p:sp>
        <p:nvSpPr>
          <p:cNvPr id="13" name="">
            <a:extLst xmlns:a="http://schemas.openxmlformats.org/drawingml/2006/main">
              <a:ext uri="{FF2B5EF4-FFF2-40B4-BE49-F238E27FC236}">
                <a16:creationId xmlns:a16="http://schemas.microsoft.com/office/drawing/2014/main" id="{579D92F9-E9A8-4C3F-99D6-25954B67E9EC}"/>
              </a:ext>
            </a:extLst>
          </p:cNvPr>
          <p:cNvSpPr>
            <a:spLocks xmlns:a="http://schemas.openxmlformats.org/drawingml/2006/main" noGrp="1"/>
          </p:cNvSpPr>
          <p:nvPr/>
        </p:nvSpPr>
        <p:spPr>
          <a:xfrm xmlns:a="http://schemas.openxmlformats.org/drawingml/2006/main" flipH="0" flipV="0">
            <a:off x="885825" y="3743325"/>
            <a:ext cx="190500" cy="0"/>
          </a:xfrm>
          <a:prstGeom xmlns:a="http://schemas.openxmlformats.org/drawingml/2006/main" prst="line">
            <a:avLst/>
          </a:prstGeom>
          <a:noFill xmlns:a="http://schemas.openxmlformats.org/drawingml/2006/main"/>
          <a:ln xmlns:a="http://schemas.openxmlformats.org/drawingml/2006/main" w="28575">
            <a:solidFill>
              <a:srgbClr val="89A98F"/>
            </a:solidFill>
            <a:prstDash val="solid"/>
          </a:ln>
        </p:spPr>
      </p:sp>
      <p:sp>
        <p:nvSpPr>
          <p:cNvPr id="14" name="">
            <a:extLst xmlns:a="http://schemas.openxmlformats.org/drawingml/2006/main">
              <a:ext uri="{FF2B5EF4-FFF2-40B4-BE49-F238E27FC236}">
                <a16:creationId xmlns:a16="http://schemas.microsoft.com/office/drawing/2014/main" id="{832C48D2-DF2D-4677-849F-337892C49064}"/>
              </a:ext>
            </a:extLst>
          </p:cNvPr>
          <p:cNvSpPr>
            <a:spLocks xmlns:a="http://schemas.openxmlformats.org/drawingml/2006/main" noGrp="1"/>
          </p:cNvSpPr>
          <p:nvPr/>
        </p:nvSpPr>
        <p:spPr>
          <a:xfrm xmlns:a="http://schemas.openxmlformats.org/drawingml/2006/main">
            <a:off x="1219200" y="360997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F7F5F2"/>
                </a:solidFill>
                <a:latin typeface="Aptos"/>
                <a:ea typeface="Aptos"/>
                <a:cs typeface="Aptos"/>
              </a:defRPr>
            </a:pPr>
            <a:r>
              <a:rPr sz="1500" b="0" i="0">
                <a:solidFill>
                  <a:srgbClr val="F7F5F2"/>
                </a:solidFill>
                <a:latin typeface="Aptos"/>
                <a:ea typeface="Aptos"/>
                <a:cs typeface="Aptos"/>
              </a:rPr>
              <a:t>Time-sorted discovery</a:t>
            </a:r>
          </a:p>
        </p:txBody>
      </p:sp>
      <p:sp>
        <p:nvSpPr>
          <p:cNvPr id="15" name="">
            <a:extLst xmlns:a="http://schemas.openxmlformats.org/drawingml/2006/main">
              <a:ext uri="{FF2B5EF4-FFF2-40B4-BE49-F238E27FC236}">
                <a16:creationId xmlns:a16="http://schemas.microsoft.com/office/drawing/2014/main" id="{96B548E8-1BD0-461B-9BBE-4196FFC729D7}"/>
              </a:ext>
            </a:extLst>
          </p:cNvPr>
          <p:cNvSpPr>
            <a:spLocks xmlns:a="http://schemas.openxmlformats.org/drawingml/2006/main" noGrp="1"/>
          </p:cNvSpPr>
          <p:nvPr/>
        </p:nvSpPr>
        <p:spPr>
          <a:xfrm xmlns:a="http://schemas.openxmlformats.org/drawingml/2006/main" flipH="0" flipV="0">
            <a:off x="885825" y="4248150"/>
            <a:ext cx="190500" cy="0"/>
          </a:xfrm>
          <a:prstGeom xmlns:a="http://schemas.openxmlformats.org/drawingml/2006/main" prst="line">
            <a:avLst/>
          </a:prstGeom>
          <a:noFill xmlns:a="http://schemas.openxmlformats.org/drawingml/2006/main"/>
          <a:ln xmlns:a="http://schemas.openxmlformats.org/drawingml/2006/main" w="28575">
            <a:solidFill>
              <a:srgbClr val="89A98F"/>
            </a:solidFill>
            <a:prstDash val="solid"/>
          </a:ln>
        </p:spPr>
      </p:sp>
      <p:sp>
        <p:nvSpPr>
          <p:cNvPr id="16" name="">
            <a:extLst xmlns:a="http://schemas.openxmlformats.org/drawingml/2006/main">
              <a:ext uri="{FF2B5EF4-FFF2-40B4-BE49-F238E27FC236}">
                <a16:creationId xmlns:a16="http://schemas.microsoft.com/office/drawing/2014/main" id="{08E63F33-5B8F-477D-9416-3DF3692AD869}"/>
              </a:ext>
            </a:extLst>
          </p:cNvPr>
          <p:cNvSpPr>
            <a:spLocks xmlns:a="http://schemas.openxmlformats.org/drawingml/2006/main" noGrp="1"/>
          </p:cNvSpPr>
          <p:nvPr/>
        </p:nvSpPr>
        <p:spPr>
          <a:xfrm xmlns:a="http://schemas.openxmlformats.org/drawingml/2006/main">
            <a:off x="1219200" y="41148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F7F5F2"/>
                </a:solidFill>
                <a:latin typeface="Aptos"/>
                <a:ea typeface="Aptos"/>
                <a:cs typeface="Aptos"/>
              </a:defRPr>
            </a:pPr>
            <a:r>
              <a:rPr sz="1500" b="0" i="0">
                <a:solidFill>
                  <a:srgbClr val="F7F5F2"/>
                </a:solidFill>
                <a:latin typeface="Aptos"/>
                <a:ea typeface="Aptos"/>
                <a:cs typeface="Aptos"/>
              </a:rPr>
              <a:t>Details bottom sheet</a:t>
            </a:r>
          </a:p>
        </p:txBody>
      </p:sp>
      <p:sp>
        <p:nvSpPr>
          <p:cNvPr id="17" name="">
            <a:extLst xmlns:a="http://schemas.openxmlformats.org/drawingml/2006/main">
              <a:ext uri="{FF2B5EF4-FFF2-40B4-BE49-F238E27FC236}">
                <a16:creationId xmlns:a16="http://schemas.microsoft.com/office/drawing/2014/main" id="{6B09767F-EBEA-4073-9BC4-5F1106EF1020}"/>
              </a:ext>
            </a:extLst>
          </p:cNvPr>
          <p:cNvSpPr>
            <a:spLocks xmlns:a="http://schemas.openxmlformats.org/drawingml/2006/main" noGrp="1"/>
          </p:cNvSpPr>
          <p:nvPr/>
        </p:nvSpPr>
        <p:spPr>
          <a:xfrm xmlns:a="http://schemas.openxmlformats.org/drawingml/2006/main" flipH="0" flipV="0">
            <a:off x="885825" y="4752975"/>
            <a:ext cx="190500" cy="0"/>
          </a:xfrm>
          <a:prstGeom xmlns:a="http://schemas.openxmlformats.org/drawingml/2006/main" prst="line">
            <a:avLst/>
          </a:prstGeom>
          <a:noFill xmlns:a="http://schemas.openxmlformats.org/drawingml/2006/main"/>
          <a:ln xmlns:a="http://schemas.openxmlformats.org/drawingml/2006/main" w="28575">
            <a:solidFill>
              <a:srgbClr val="89A98F"/>
            </a:solidFill>
            <a:prstDash val="solid"/>
          </a:ln>
        </p:spPr>
      </p:sp>
      <p:sp>
        <p:nvSpPr>
          <p:cNvPr id="18" name="">
            <a:extLst xmlns:a="http://schemas.openxmlformats.org/drawingml/2006/main">
              <a:ext uri="{FF2B5EF4-FFF2-40B4-BE49-F238E27FC236}">
                <a16:creationId xmlns:a16="http://schemas.microsoft.com/office/drawing/2014/main" id="{42656799-BE4A-4D92-A928-E48B2FB534BF}"/>
              </a:ext>
            </a:extLst>
          </p:cNvPr>
          <p:cNvSpPr>
            <a:spLocks xmlns:a="http://schemas.openxmlformats.org/drawingml/2006/main" noGrp="1"/>
          </p:cNvSpPr>
          <p:nvPr/>
        </p:nvSpPr>
        <p:spPr>
          <a:xfrm xmlns:a="http://schemas.openxmlformats.org/drawingml/2006/main">
            <a:off x="1219200" y="46196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F7F5F2"/>
                </a:solidFill>
                <a:latin typeface="Aptos"/>
                <a:ea typeface="Aptos"/>
                <a:cs typeface="Aptos"/>
              </a:defRPr>
            </a:pPr>
            <a:r>
              <a:rPr sz="1500" b="0" i="0">
                <a:solidFill>
                  <a:srgbClr val="F7F5F2"/>
                </a:solidFill>
                <a:latin typeface="Aptos"/>
                <a:ea typeface="Aptos"/>
                <a:cs typeface="Aptos"/>
              </a:rPr>
              <a:t>Participation actions</a:t>
            </a:r>
          </a:p>
        </p:txBody>
      </p:sp>
      <p:sp>
        <p:nvSpPr>
          <p:cNvPr id="19" name="">
            <a:extLst xmlns:a="http://schemas.openxmlformats.org/drawingml/2006/main">
              <a:ext uri="{FF2B5EF4-FFF2-40B4-BE49-F238E27FC236}">
                <a16:creationId xmlns:a16="http://schemas.microsoft.com/office/drawing/2014/main" id="{5E8E51B5-DF12-462E-980B-8A8786868B30}"/>
              </a:ext>
            </a:extLst>
          </p:cNvPr>
          <p:cNvSpPr>
            <a:spLocks xmlns:a="http://schemas.openxmlformats.org/drawingml/2006/main" noGrp="1"/>
          </p:cNvSpPr>
          <p:nvPr/>
        </p:nvSpPr>
        <p:spPr>
          <a:xfrm xmlns:a="http://schemas.openxmlformats.org/drawingml/2006/main" flipH="0" flipV="0">
            <a:off x="885825" y="5257800"/>
            <a:ext cx="190500" cy="0"/>
          </a:xfrm>
          <a:prstGeom xmlns:a="http://schemas.openxmlformats.org/drawingml/2006/main" prst="line">
            <a:avLst/>
          </a:prstGeom>
          <a:noFill xmlns:a="http://schemas.openxmlformats.org/drawingml/2006/main"/>
          <a:ln xmlns:a="http://schemas.openxmlformats.org/drawingml/2006/main" w="28575">
            <a:solidFill>
              <a:srgbClr val="89A98F"/>
            </a:solidFill>
            <a:prstDash val="solid"/>
          </a:ln>
        </p:spPr>
      </p:sp>
      <p:sp>
        <p:nvSpPr>
          <p:cNvPr id="20" name="">
            <a:extLst xmlns:a="http://schemas.openxmlformats.org/drawingml/2006/main">
              <a:ext uri="{FF2B5EF4-FFF2-40B4-BE49-F238E27FC236}">
                <a16:creationId xmlns:a16="http://schemas.microsoft.com/office/drawing/2014/main" id="{E455C64C-6C9E-4970-A2CD-7FF0A93323F2}"/>
              </a:ext>
            </a:extLst>
          </p:cNvPr>
          <p:cNvSpPr>
            <a:spLocks xmlns:a="http://schemas.openxmlformats.org/drawingml/2006/main" noGrp="1"/>
          </p:cNvSpPr>
          <p:nvPr/>
        </p:nvSpPr>
        <p:spPr>
          <a:xfrm xmlns:a="http://schemas.openxmlformats.org/drawingml/2006/main">
            <a:off x="1219200" y="51244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500" b="0" i="0">
                <a:solidFill>
                  <a:srgbClr val="F7F5F2"/>
                </a:solidFill>
                <a:latin typeface="Aptos"/>
                <a:ea typeface="Aptos"/>
                <a:cs typeface="Aptos"/>
              </a:defRPr>
            </a:pPr>
            <a:r>
              <a:rPr sz="1500" b="0" i="0">
                <a:solidFill>
                  <a:srgbClr val="F7F5F2"/>
                </a:solidFill>
                <a:latin typeface="Aptos"/>
                <a:ea typeface="Aptos"/>
                <a:cs typeface="Aptos"/>
              </a:rPr>
              <a:t>Automatic ending</a:t>
            </a:r>
          </a:p>
        </p:txBody>
      </p:sp>
      <p:sp>
        <p:nvSpPr>
          <p:cNvPr id="21" name="">
            <a:extLst xmlns:a="http://schemas.openxmlformats.org/drawingml/2006/main">
              <a:ext uri="{FF2B5EF4-FFF2-40B4-BE49-F238E27FC236}">
                <a16:creationId xmlns:a16="http://schemas.microsoft.com/office/drawing/2014/main" id="{82EA5B07-B6B5-4DDD-A898-8518FA010D95}"/>
              </a:ext>
            </a:extLst>
          </p:cNvPr>
          <p:cNvSpPr>
            <a:spLocks xmlns:a="http://schemas.openxmlformats.org/drawingml/2006/main" noGrp="1"/>
          </p:cNvSpPr>
          <p:nvPr/>
        </p:nvSpPr>
        <p:spPr>
          <a:xfrm xmlns:a="http://schemas.openxmlformats.org/drawingml/2006/main">
            <a:off x="4667250" y="1352550"/>
            <a:ext cx="2057400" cy="4324350"/>
          </a:xfrm>
          <a:prstGeom xmlns:a="http://schemas.openxmlformats.org/drawingml/2006/main" prst="roundRect">
            <a:avLst>
              <a:gd name="adj" fmla="val 13889"/>
            </a:avLst>
          </a:prstGeom>
          <a:solidFill xmlns:a="http://schemas.openxmlformats.org/drawingml/2006/main">
            <a:srgbClr val="102F33"/>
          </a:solidFill>
          <a:ln xmlns:a="http://schemas.openxmlformats.org/drawingml/2006/main" w="19050">
            <a:solidFill>
              <a:srgbClr val="E7C48D"/>
            </a:solidFill>
            <a:prstDash val="solid"/>
          </a:ln>
        </p:spPr>
      </p:sp>
      <p:sp>
        <p:nvSpPr>
          <p:cNvPr id="22" name="">
            <a:extLst xmlns:a="http://schemas.openxmlformats.org/drawingml/2006/main">
              <a:ext uri="{FF2B5EF4-FFF2-40B4-BE49-F238E27FC236}">
                <a16:creationId xmlns:a16="http://schemas.microsoft.com/office/drawing/2014/main" id="{A68227C1-5728-4DB6-B9A7-4011C2C1243F}"/>
              </a:ext>
            </a:extLst>
          </p:cNvPr>
          <p:cNvSpPr>
            <a:spLocks xmlns:a="http://schemas.openxmlformats.org/drawingml/2006/main" noGrp="1"/>
          </p:cNvSpPr>
          <p:nvPr/>
        </p:nvSpPr>
        <p:spPr>
          <a:xfrm xmlns:a="http://schemas.openxmlformats.org/drawingml/2006/main">
            <a:off x="4762500" y="1466850"/>
            <a:ext cx="1866900" cy="4095750"/>
          </a:xfrm>
          <a:prstGeom xmlns:a="http://schemas.openxmlformats.org/drawingml/2006/main" prst="roundRect">
            <a:avLst>
              <a:gd name="adj" fmla="val 11735"/>
            </a:avLst>
          </a:prstGeom>
          <a:solidFill xmlns:a="http://schemas.openxmlformats.org/drawingml/2006/main">
            <a:srgbClr val="063E4D"/>
          </a:solidFill>
          <a:ln xmlns:a="http://schemas.openxmlformats.org/drawingml/2006/main" w="9525">
            <a:solidFill>
              <a:srgbClr val="FFFFFF">
                <a:alpha val="16000"/>
              </a:srgbClr>
            </a:solidFill>
            <a:prstDash val="solid"/>
          </a:ln>
        </p:spPr>
      </p:sp>
      <p:sp>
        <p:nvSpPr>
          <p:cNvPr id="23" name="">
            <a:extLst xmlns:a="http://schemas.openxmlformats.org/drawingml/2006/main">
              <a:ext uri="{FF2B5EF4-FFF2-40B4-BE49-F238E27FC236}">
                <a16:creationId xmlns:a16="http://schemas.microsoft.com/office/drawing/2014/main" id="{24625A2B-4216-4BA0-8DD6-4CE58AD40683}"/>
              </a:ext>
            </a:extLst>
          </p:cNvPr>
          <p:cNvSpPr>
            <a:spLocks xmlns:a="http://schemas.openxmlformats.org/drawingml/2006/main" noGrp="1"/>
          </p:cNvSpPr>
          <p:nvPr/>
        </p:nvSpPr>
        <p:spPr>
          <a:xfrm xmlns:a="http://schemas.openxmlformats.org/drawingml/2006/main">
            <a:off x="5407914" y="1428750"/>
            <a:ext cx="576072" cy="66675"/>
          </a:xfrm>
          <a:prstGeom xmlns:a="http://schemas.openxmlformats.org/drawingml/2006/main" prst="roundRect">
            <a:avLst>
              <a:gd name="adj" fmla="val 50000"/>
            </a:avLst>
          </a:prstGeom>
          <a:solidFill xmlns:a="http://schemas.openxmlformats.org/drawingml/2006/main">
            <a:srgbClr val="102F3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845E541-CBD6-463C-AB38-215448436B92}"/>
              </a:ext>
            </a:extLst>
          </p:cNvPr>
          <p:cNvSpPr>
            <a:spLocks xmlns:a="http://schemas.openxmlformats.org/drawingml/2006/main" noGrp="1"/>
          </p:cNvSpPr>
          <p:nvPr/>
        </p:nvSpPr>
        <p:spPr>
          <a:xfrm xmlns:a="http://schemas.openxmlformats.org/drawingml/2006/main">
            <a:off x="4895850" y="1809750"/>
            <a:ext cx="1600200" cy="1238250"/>
          </a:xfrm>
          <a:prstGeom xmlns:a="http://schemas.openxmlformats.org/drawingml/2006/main" prst="roundRect">
            <a:avLst>
              <a:gd name="adj" fmla="val 13846"/>
            </a:avLst>
          </a:prstGeom>
          <a:solidFill xmlns:a="http://schemas.openxmlformats.org/drawingml/2006/main">
            <a:srgbClr val="FFFFFF">
              <a:alpha val="8000"/>
            </a:srgbClr>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778135F-58CC-4B7E-8838-1F6E945B5BF7}"/>
              </a:ext>
            </a:extLst>
          </p:cNvPr>
          <p:cNvSpPr>
            <a:spLocks xmlns:a="http://schemas.openxmlformats.org/drawingml/2006/main" noGrp="1"/>
          </p:cNvSpPr>
          <p:nvPr/>
        </p:nvSpPr>
        <p:spPr>
          <a:xfrm xmlns:a="http://schemas.openxmlformats.org/drawingml/2006/main">
            <a:off x="4991100" y="1981200"/>
            <a:ext cx="1409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930"/>
          </a:bodyPr>
          <a:lstStyle xmlns:a="http://schemas.openxmlformats.org/drawingml/2006/main"/>
          <a:p xmlns:a="http://schemas.openxmlformats.org/drawingml/2006/main">
            <a:pPr algn="l">
              <a:lnSpc>
                <a:spcPct val="102000"/>
              </a:lnSpc>
              <a:buNone/>
              <a:defRPr sz="1350" b="1" i="0">
                <a:solidFill>
                  <a:srgbClr val="F7F5F2"/>
                </a:solidFill>
                <a:latin typeface="Aptos"/>
                <a:ea typeface="Aptos"/>
                <a:cs typeface="Aptos"/>
              </a:defRPr>
            </a:pPr>
            <a:r>
              <a:rPr sz="1350" b="1" i="0">
                <a:solidFill>
                  <a:srgbClr val="F7F5F2"/>
                </a:solidFill>
                <a:latin typeface="Aptos"/>
                <a:ea typeface="Aptos"/>
                <a:cs typeface="Aptos"/>
              </a:rPr>
              <a:t>Upcoming Jama'ahs</a:t>
            </a:r>
          </a:p>
        </p:txBody>
      </p:sp>
      <p:sp>
        <p:nvSpPr>
          <p:cNvPr id="26" name="">
            <a:extLst xmlns:a="http://schemas.openxmlformats.org/drawingml/2006/main">
              <a:ext uri="{FF2B5EF4-FFF2-40B4-BE49-F238E27FC236}">
                <a16:creationId xmlns:a16="http://schemas.microsoft.com/office/drawing/2014/main" id="{47C0F848-D66D-4B3A-8024-64EA2443FB10}"/>
              </a:ext>
            </a:extLst>
          </p:cNvPr>
          <p:cNvSpPr>
            <a:spLocks xmlns:a="http://schemas.openxmlformats.org/drawingml/2006/main" noGrp="1"/>
          </p:cNvSpPr>
          <p:nvPr/>
        </p:nvSpPr>
        <p:spPr>
          <a:xfrm xmlns:a="http://schemas.openxmlformats.org/drawingml/2006/main">
            <a:off x="4895850" y="2743200"/>
            <a:ext cx="1600200" cy="2667000"/>
          </a:xfrm>
          <a:prstGeom xmlns:a="http://schemas.openxmlformats.org/drawingml/2006/main" prst="roundRect">
            <a:avLst>
              <a:gd name="adj" fmla="val 13095"/>
            </a:avLst>
          </a:prstGeom>
          <a:solidFill xmlns:a="http://schemas.openxmlformats.org/drawingml/2006/main">
            <a:srgbClr val="102F33"/>
          </a:solidFill>
          <a:ln xmlns:a="http://schemas.openxmlformats.org/drawingml/2006/main" w="9525">
            <a:solidFill>
              <a:srgbClr val="FFFFFF">
                <a:alpha val="18000"/>
              </a:srgbClr>
            </a:solidFill>
            <a:prstDash val="solid"/>
          </a:ln>
        </p:spPr>
      </p:sp>
      <p:sp>
        <p:nvSpPr>
          <p:cNvPr id="27" name="">
            <a:extLst xmlns:a="http://schemas.openxmlformats.org/drawingml/2006/main">
              <a:ext uri="{FF2B5EF4-FFF2-40B4-BE49-F238E27FC236}">
                <a16:creationId xmlns:a16="http://schemas.microsoft.com/office/drawing/2014/main" id="{53458F40-250D-459D-9F68-D4BDA7FCA374}"/>
              </a:ext>
            </a:extLst>
          </p:cNvPr>
          <p:cNvSpPr>
            <a:spLocks xmlns:a="http://schemas.openxmlformats.org/drawingml/2006/main" noGrp="1"/>
          </p:cNvSpPr>
          <p:nvPr/>
        </p:nvSpPr>
        <p:spPr>
          <a:xfrm xmlns:a="http://schemas.openxmlformats.org/drawingml/2006/main">
            <a:off x="5467350" y="2838450"/>
            <a:ext cx="457200" cy="38100"/>
          </a:xfrm>
          <a:prstGeom xmlns:a="http://schemas.openxmlformats.org/drawingml/2006/main" prst="roundRect">
            <a:avLst>
              <a:gd name="adj" fmla="val 50000"/>
            </a:avLst>
          </a:prstGeom>
          <a:solidFill xmlns:a="http://schemas.openxmlformats.org/drawingml/2006/main">
            <a:srgbClr val="AEB7B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11AB9B3-3981-4246-9915-2184F85D7396}"/>
              </a:ext>
            </a:extLst>
          </p:cNvPr>
          <p:cNvSpPr>
            <a:spLocks xmlns:a="http://schemas.openxmlformats.org/drawingml/2006/main" noGrp="1"/>
          </p:cNvSpPr>
          <p:nvPr/>
        </p:nvSpPr>
        <p:spPr>
          <a:xfrm xmlns:a="http://schemas.openxmlformats.org/drawingml/2006/main">
            <a:off x="5057775" y="3048000"/>
            <a:ext cx="1276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425" b="1" i="0">
                <a:solidFill>
                  <a:srgbClr val="F7F5F2"/>
                </a:solidFill>
                <a:latin typeface="Aptos"/>
                <a:ea typeface="Aptos"/>
                <a:cs typeface="Aptos"/>
              </a:defRPr>
            </a:pPr>
            <a:r>
              <a:rPr sz="1425" b="1" i="0">
                <a:solidFill>
                  <a:srgbClr val="F7F5F2"/>
                </a:solidFill>
                <a:latin typeface="Aptos"/>
                <a:ea typeface="Aptos"/>
                <a:cs typeface="Aptos"/>
              </a:rPr>
              <a:t>Dhuhr Jama'ah</a:t>
            </a:r>
          </a:p>
        </p:txBody>
      </p:sp>
      <p:sp>
        <p:nvSpPr>
          <p:cNvPr id="29" name="">
            <a:extLst xmlns:a="http://schemas.openxmlformats.org/drawingml/2006/main">
              <a:ext uri="{FF2B5EF4-FFF2-40B4-BE49-F238E27FC236}">
                <a16:creationId xmlns:a16="http://schemas.microsoft.com/office/drawing/2014/main" id="{80B69C7E-3D3D-427D-A21D-EEE5486890B7}"/>
              </a:ext>
            </a:extLst>
          </p:cNvPr>
          <p:cNvSpPr>
            <a:spLocks xmlns:a="http://schemas.openxmlformats.org/drawingml/2006/main" noGrp="1"/>
          </p:cNvSpPr>
          <p:nvPr/>
        </p:nvSpPr>
        <p:spPr>
          <a:xfrm xmlns:a="http://schemas.openxmlformats.org/drawingml/2006/main">
            <a:off x="5057775" y="339090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950" b="1" i="0">
                <a:solidFill>
                  <a:srgbClr val="E7C48D"/>
                </a:solidFill>
                <a:latin typeface="Aptos"/>
                <a:ea typeface="Aptos"/>
                <a:cs typeface="Aptos"/>
              </a:defRPr>
            </a:pPr>
            <a:r>
              <a:rPr sz="1950" b="1" i="0">
                <a:solidFill>
                  <a:srgbClr val="E7C48D"/>
                </a:solidFill>
                <a:latin typeface="Aptos"/>
                <a:ea typeface="Aptos"/>
                <a:cs typeface="Aptos"/>
              </a:rPr>
              <a:t>00:11:42</a:t>
            </a:r>
          </a:p>
        </p:txBody>
      </p:sp>
      <p:sp>
        <p:nvSpPr>
          <p:cNvPr id="30" name="">
            <a:extLst xmlns:a="http://schemas.openxmlformats.org/drawingml/2006/main">
              <a:ext uri="{FF2B5EF4-FFF2-40B4-BE49-F238E27FC236}">
                <a16:creationId xmlns:a16="http://schemas.microsoft.com/office/drawing/2014/main" id="{1B043C10-207F-4E12-84C1-F3746C323C94}"/>
              </a:ext>
            </a:extLst>
          </p:cNvPr>
          <p:cNvSpPr>
            <a:spLocks xmlns:a="http://schemas.openxmlformats.org/drawingml/2006/main" noGrp="1"/>
          </p:cNvSpPr>
          <p:nvPr/>
        </p:nvSpPr>
        <p:spPr>
          <a:xfrm xmlns:a="http://schemas.openxmlformats.org/drawingml/2006/main">
            <a:off x="5057775" y="3829050"/>
            <a:ext cx="12763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825" b="0" i="0">
                <a:solidFill>
                  <a:srgbClr val="F7F5F2"/>
                </a:solidFill>
                <a:latin typeface="Aptos"/>
                <a:ea typeface="Aptos"/>
                <a:cs typeface="Aptos"/>
              </a:defRPr>
            </a:pPr>
            <a:r>
              <a:rPr sz="825" b="0" i="0">
                <a:solidFill>
                  <a:srgbClr val="F7F5F2"/>
                </a:solidFill>
                <a:latin typeface="Aptos"/>
                <a:ea typeface="Aptos"/>
                <a:cs typeface="Aptos"/>
              </a:rPr>
              <a:t>Starts</a:t>
            </a:r>
          </a:p>
          <a:p xmlns:a="http://schemas.openxmlformats.org/drawingml/2006/main">
            <a:pPr algn="l">
              <a:lnSpc>
                <a:spcPct val="112000"/>
              </a:lnSpc>
              <a:buNone/>
              <a:defRPr sz="825" b="0" i="0">
                <a:solidFill>
                  <a:srgbClr val="F7F5F2"/>
                </a:solidFill>
                <a:latin typeface="Aptos"/>
                <a:ea typeface="Aptos"/>
                <a:cs typeface="Aptos"/>
              </a:defRPr>
            </a:pPr>
            <a:r>
              <a:rPr sz="825" b="0" i="0">
                <a:solidFill>
                  <a:srgbClr val="F7F5F2"/>
                </a:solidFill>
                <a:latin typeface="Aptos"/>
                <a:ea typeface="Aptos"/>
                <a:cs typeface="Aptos"/>
              </a:rPr>
              <a:t>12:45 today</a:t>
            </a:r>
          </a:p>
          <a:p xmlns:a="http://schemas.openxmlformats.org/drawingml/2006/main">
            <a:r>
              <a:t/>
            </a:r>
          </a:p>
          <a:p xmlns:a="http://schemas.openxmlformats.org/drawingml/2006/main">
            <a:pPr algn="l">
              <a:lnSpc>
                <a:spcPct val="112000"/>
              </a:lnSpc>
              <a:buNone/>
              <a:defRPr sz="825" b="0" i="0">
                <a:solidFill>
                  <a:srgbClr val="F7F5F2"/>
                </a:solidFill>
                <a:latin typeface="Aptos"/>
                <a:ea typeface="Aptos"/>
                <a:cs typeface="Aptos"/>
              </a:defRPr>
            </a:pPr>
            <a:r>
              <a:rPr sz="825" b="0" i="0">
                <a:solidFill>
                  <a:srgbClr val="F7F5F2"/>
                </a:solidFill>
                <a:latin typeface="Aptos"/>
                <a:ea typeface="Aptos"/>
                <a:cs typeface="Aptos"/>
              </a:rPr>
              <a:t>Approximate area</a:t>
            </a:r>
          </a:p>
          <a:p xmlns:a="http://schemas.openxmlformats.org/drawingml/2006/main">
            <a:pPr algn="l">
              <a:lnSpc>
                <a:spcPct val="112000"/>
              </a:lnSpc>
              <a:buNone/>
              <a:defRPr sz="825" b="0" i="0">
                <a:solidFill>
                  <a:srgbClr val="F7F5F2"/>
                </a:solidFill>
                <a:latin typeface="Aptos"/>
                <a:ea typeface="Aptos"/>
                <a:cs typeface="Aptos"/>
              </a:defRPr>
            </a:pPr>
            <a:r>
              <a:rPr sz="825" b="0" i="0">
                <a:solidFill>
                  <a:srgbClr val="F7F5F2"/>
                </a:solidFill>
                <a:latin typeface="Aptos"/>
                <a:ea typeface="Aptos"/>
                <a:cs typeface="Aptos"/>
              </a:rPr>
              <a:t>Frankfurt-Bockenheim</a:t>
            </a:r>
          </a:p>
          <a:p xmlns:a="http://schemas.openxmlformats.org/drawingml/2006/main">
            <a:r>
              <a:t/>
            </a:r>
          </a:p>
          <a:p xmlns:a="http://schemas.openxmlformats.org/drawingml/2006/main">
            <a:pPr algn="l">
              <a:lnSpc>
                <a:spcPct val="112000"/>
              </a:lnSpc>
              <a:buNone/>
              <a:defRPr sz="825" b="0" i="0">
                <a:solidFill>
                  <a:srgbClr val="F7F5F2"/>
                </a:solidFill>
                <a:latin typeface="Aptos"/>
                <a:ea typeface="Aptos"/>
                <a:cs typeface="Aptos"/>
              </a:defRPr>
            </a:pPr>
            <a:r>
              <a:rPr sz="825" b="0" i="0">
                <a:solidFill>
                  <a:srgbClr val="F7F5F2"/>
                </a:solidFill>
                <a:latin typeface="Aptos"/>
                <a:ea typeface="Aptos"/>
                <a:cs typeface="Aptos"/>
              </a:rPr>
              <a:t>Participants</a:t>
            </a:r>
          </a:p>
          <a:p xmlns:a="http://schemas.openxmlformats.org/drawingml/2006/main">
            <a:pPr algn="l">
              <a:lnSpc>
                <a:spcPct val="112000"/>
              </a:lnSpc>
              <a:buNone/>
              <a:defRPr sz="825" b="0" i="0">
                <a:solidFill>
                  <a:srgbClr val="F7F5F2"/>
                </a:solidFill>
                <a:latin typeface="Aptos"/>
                <a:ea typeface="Aptos"/>
                <a:cs typeface="Aptos"/>
              </a:defRPr>
            </a:pPr>
            <a:r>
              <a:rPr sz="825" b="0" i="0">
                <a:solidFill>
                  <a:srgbClr val="F7F5F2"/>
                </a:solidFill>
                <a:latin typeface="Aptos"/>
                <a:ea typeface="Aptos"/>
                <a:cs typeface="Aptos"/>
              </a:rPr>
              <a:t>3</a:t>
            </a:r>
          </a:p>
        </p:txBody>
      </p:sp>
      <p:sp>
        <p:nvSpPr>
          <p:cNvPr id="31" name="">
            <a:extLst xmlns:a="http://schemas.openxmlformats.org/drawingml/2006/main">
              <a:ext uri="{FF2B5EF4-FFF2-40B4-BE49-F238E27FC236}">
                <a16:creationId xmlns:a16="http://schemas.microsoft.com/office/drawing/2014/main" id="{4FD625C5-2F91-4316-9B03-07862668669D}"/>
              </a:ext>
            </a:extLst>
          </p:cNvPr>
          <p:cNvSpPr>
            <a:spLocks xmlns:a="http://schemas.openxmlformats.org/drawingml/2006/main" noGrp="1"/>
          </p:cNvSpPr>
          <p:nvPr/>
        </p:nvSpPr>
        <p:spPr>
          <a:xfrm xmlns:a="http://schemas.openxmlformats.org/drawingml/2006/main">
            <a:off x="5048250" y="4286250"/>
            <a:ext cx="1295400" cy="266700"/>
          </a:xfrm>
          <a:prstGeom xmlns:a="http://schemas.openxmlformats.org/drawingml/2006/main" prst="roundRect">
            <a:avLst>
              <a:gd name="adj" fmla="val 35714"/>
            </a:avLst>
          </a:prstGeom>
          <a:solidFill xmlns:a="http://schemas.openxmlformats.org/drawingml/2006/main">
            <a:srgbClr val="0B4B58"/>
          </a:solidFill>
          <a:ln xmlns:a="http://schemas.openxmlformats.org/drawingml/2006/main" w="9525">
            <a:solidFill>
              <a:srgbClr val="FFFFFF">
                <a:alpha val="18000"/>
              </a:srgbClr>
            </a:solidFill>
            <a:prstDash val="solid"/>
          </a:ln>
        </p:spPr>
      </p:sp>
      <p:sp>
        <p:nvSpPr>
          <p:cNvPr id="32" name="">
            <a:extLst xmlns:a="http://schemas.openxmlformats.org/drawingml/2006/main">
              <a:ext uri="{FF2B5EF4-FFF2-40B4-BE49-F238E27FC236}">
                <a16:creationId xmlns:a16="http://schemas.microsoft.com/office/drawing/2014/main" id="{5312AC60-8B14-46E2-8494-D4A9ACB31659}"/>
              </a:ext>
            </a:extLst>
          </p:cNvPr>
          <p:cNvSpPr>
            <a:spLocks xmlns:a="http://schemas.openxmlformats.org/drawingml/2006/main" noGrp="1"/>
          </p:cNvSpPr>
          <p:nvPr/>
        </p:nvSpPr>
        <p:spPr>
          <a:xfrm xmlns:a="http://schemas.openxmlformats.org/drawingml/2006/main">
            <a:off x="5105400" y="4333875"/>
            <a:ext cx="1181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750" b="1" i="0">
                <a:solidFill>
                  <a:srgbClr val="F7F5F2"/>
                </a:solidFill>
                <a:latin typeface="Aptos"/>
                <a:ea typeface="Aptos"/>
                <a:cs typeface="Aptos"/>
              </a:defRPr>
            </a:pPr>
            <a:r>
              <a:rPr sz="750" b="1" i="0">
                <a:solidFill>
                  <a:srgbClr val="F7F5F2"/>
                </a:solidFill>
                <a:latin typeface="Aptos"/>
                <a:ea typeface="Aptos"/>
                <a:cs typeface="Aptos"/>
              </a:rPr>
              <a:t>Leave Jama'ah</a:t>
            </a:r>
          </a:p>
        </p:txBody>
      </p:sp>
      <p:sp>
        <p:nvSpPr>
          <p:cNvPr id="33" name="">
            <a:extLst xmlns:a="http://schemas.openxmlformats.org/drawingml/2006/main">
              <a:ext uri="{FF2B5EF4-FFF2-40B4-BE49-F238E27FC236}">
                <a16:creationId xmlns:a16="http://schemas.microsoft.com/office/drawing/2014/main" id="{C19558AF-B725-4310-B343-82E66F59A27B}"/>
              </a:ext>
            </a:extLst>
          </p:cNvPr>
          <p:cNvSpPr>
            <a:spLocks xmlns:a="http://schemas.openxmlformats.org/drawingml/2006/main" noGrp="1"/>
          </p:cNvSpPr>
          <p:nvPr/>
        </p:nvSpPr>
        <p:spPr>
          <a:xfrm xmlns:a="http://schemas.openxmlformats.org/drawingml/2006/main">
            <a:off x="5048250" y="4629150"/>
            <a:ext cx="1295400" cy="266700"/>
          </a:xfrm>
          <a:prstGeom xmlns:a="http://schemas.openxmlformats.org/drawingml/2006/main" prst="roundRect">
            <a:avLst>
              <a:gd name="adj" fmla="val 35714"/>
            </a:avLst>
          </a:prstGeom>
          <a:solidFill xmlns:a="http://schemas.openxmlformats.org/drawingml/2006/main">
            <a:srgbClr val="0B4B58"/>
          </a:solidFill>
          <a:ln xmlns:a="http://schemas.openxmlformats.org/drawingml/2006/main" w="9525">
            <a:solidFill>
              <a:srgbClr val="FFFFFF">
                <a:alpha val="18000"/>
              </a:srgbClr>
            </a:solidFill>
            <a:prstDash val="solid"/>
          </a:ln>
        </p:spPr>
      </p:sp>
      <p:sp>
        <p:nvSpPr>
          <p:cNvPr id="34" name="">
            <a:extLst xmlns:a="http://schemas.openxmlformats.org/drawingml/2006/main">
              <a:ext uri="{FF2B5EF4-FFF2-40B4-BE49-F238E27FC236}">
                <a16:creationId xmlns:a16="http://schemas.microsoft.com/office/drawing/2014/main" id="{4F226EC6-A6BA-4A77-AD70-5E657C71EFFE}"/>
              </a:ext>
            </a:extLst>
          </p:cNvPr>
          <p:cNvSpPr>
            <a:spLocks xmlns:a="http://schemas.openxmlformats.org/drawingml/2006/main" noGrp="1"/>
          </p:cNvSpPr>
          <p:nvPr/>
        </p:nvSpPr>
        <p:spPr>
          <a:xfrm xmlns:a="http://schemas.openxmlformats.org/drawingml/2006/main">
            <a:off x="5105400" y="4676775"/>
            <a:ext cx="1181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750" b="1" i="0">
                <a:solidFill>
                  <a:srgbClr val="F7F5F2"/>
                </a:solidFill>
                <a:latin typeface="Aptos"/>
                <a:ea typeface="Aptos"/>
                <a:cs typeface="Aptos"/>
              </a:defRPr>
            </a:pPr>
            <a:r>
              <a:rPr sz="750" b="1" i="0">
                <a:solidFill>
                  <a:srgbClr val="F7F5F2"/>
                </a:solidFill>
                <a:latin typeface="Aptos"/>
                <a:ea typeface="Aptos"/>
                <a:cs typeface="Aptos"/>
              </a:rPr>
              <a:t>Share Jama'ah</a:t>
            </a:r>
          </a:p>
        </p:txBody>
      </p:sp>
      <p:sp>
        <p:nvSpPr>
          <p:cNvPr id="35" name="">
            <a:extLst xmlns:a="http://schemas.openxmlformats.org/drawingml/2006/main">
              <a:ext uri="{FF2B5EF4-FFF2-40B4-BE49-F238E27FC236}">
                <a16:creationId xmlns:a16="http://schemas.microsoft.com/office/drawing/2014/main" id="{A917F32C-F989-46D9-9B0B-0F20616DB138}"/>
              </a:ext>
            </a:extLst>
          </p:cNvPr>
          <p:cNvSpPr>
            <a:spLocks xmlns:a="http://schemas.openxmlformats.org/drawingml/2006/main" noGrp="1"/>
          </p:cNvSpPr>
          <p:nvPr/>
        </p:nvSpPr>
        <p:spPr>
          <a:xfrm xmlns:a="http://schemas.openxmlformats.org/drawingml/2006/main">
            <a:off x="5048250" y="4972050"/>
            <a:ext cx="1295400" cy="266700"/>
          </a:xfrm>
          <a:prstGeom xmlns:a="http://schemas.openxmlformats.org/drawingml/2006/main" prst="roundRect">
            <a:avLst>
              <a:gd name="adj" fmla="val 35714"/>
            </a:avLst>
          </a:prstGeom>
          <a:solidFill xmlns:a="http://schemas.openxmlformats.org/drawingml/2006/main">
            <a:srgbClr val="0B4B58"/>
          </a:solidFill>
          <a:ln xmlns:a="http://schemas.openxmlformats.org/drawingml/2006/main" w="9525">
            <a:solidFill>
              <a:srgbClr val="FFFFFF">
                <a:alpha val="18000"/>
              </a:srgbClr>
            </a:solidFill>
            <a:prstDash val="solid"/>
          </a:ln>
        </p:spPr>
      </p:sp>
      <p:sp>
        <p:nvSpPr>
          <p:cNvPr id="36" name="">
            <a:extLst xmlns:a="http://schemas.openxmlformats.org/drawingml/2006/main">
              <a:ext uri="{FF2B5EF4-FFF2-40B4-BE49-F238E27FC236}">
                <a16:creationId xmlns:a16="http://schemas.microsoft.com/office/drawing/2014/main" id="{CDC952CD-47DF-4A69-95FC-505D504075BE}"/>
              </a:ext>
            </a:extLst>
          </p:cNvPr>
          <p:cNvSpPr>
            <a:spLocks xmlns:a="http://schemas.openxmlformats.org/drawingml/2006/main" noGrp="1"/>
          </p:cNvSpPr>
          <p:nvPr/>
        </p:nvSpPr>
        <p:spPr>
          <a:xfrm xmlns:a="http://schemas.openxmlformats.org/drawingml/2006/main">
            <a:off x="5105400" y="5019675"/>
            <a:ext cx="1181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750" b="1" i="0">
                <a:solidFill>
                  <a:srgbClr val="F7F5F2"/>
                </a:solidFill>
                <a:latin typeface="Aptos"/>
                <a:ea typeface="Aptos"/>
                <a:cs typeface="Aptos"/>
              </a:defRPr>
            </a:pPr>
            <a:r>
              <a:rPr sz="750" b="1" i="0">
                <a:solidFill>
                  <a:srgbClr val="F7F5F2"/>
                </a:solidFill>
                <a:latin typeface="Aptos"/>
                <a:ea typeface="Aptos"/>
                <a:cs typeface="Aptos"/>
              </a:rPr>
              <a:t>Close</a:t>
            </a:r>
          </a:p>
        </p:txBody>
      </p:sp>
      <p:sp>
        <p:nvSpPr>
          <p:cNvPr id="37" name="">
            <a:extLst xmlns:a="http://schemas.openxmlformats.org/drawingml/2006/main">
              <a:ext uri="{FF2B5EF4-FFF2-40B4-BE49-F238E27FC236}">
                <a16:creationId xmlns:a16="http://schemas.microsoft.com/office/drawing/2014/main" id="{0881AFD7-FEC8-4258-B4A7-3D4AD39C2F49}"/>
              </a:ext>
            </a:extLst>
          </p:cNvPr>
          <p:cNvSpPr>
            <a:spLocks xmlns:a="http://schemas.openxmlformats.org/drawingml/2006/main" noGrp="1"/>
          </p:cNvSpPr>
          <p:nvPr/>
        </p:nvSpPr>
        <p:spPr>
          <a:xfrm xmlns:a="http://schemas.openxmlformats.org/drawingml/2006/main">
            <a:off x="7372350" y="1314450"/>
            <a:ext cx="4095750" cy="4362450"/>
          </a:xfrm>
          <a:prstGeom xmlns:a="http://schemas.openxmlformats.org/drawingml/2006/main" prst="roundRect">
            <a:avLst>
              <a:gd name="adj" fmla="val 5116"/>
            </a:avLst>
          </a:prstGeom>
          <a:solidFill xmlns:a="http://schemas.openxmlformats.org/drawingml/2006/main">
            <a:srgbClr val="102F33"/>
          </a:solidFill>
          <a:ln xmlns:a="http://schemas.openxmlformats.org/drawingml/2006/main" w="9525">
            <a:solidFill>
              <a:srgbClr val="FFFFFF">
                <a:alpha val="16000"/>
              </a:srgbClr>
            </a:solidFill>
            <a:prstDash val="solid"/>
          </a:ln>
        </p:spPr>
      </p:sp>
      <p:sp>
        <p:nvSpPr>
          <p:cNvPr id="38" name="">
            <a:extLst xmlns:a="http://schemas.openxmlformats.org/drawingml/2006/main">
              <a:ext uri="{FF2B5EF4-FFF2-40B4-BE49-F238E27FC236}">
                <a16:creationId xmlns:a16="http://schemas.microsoft.com/office/drawing/2014/main" id="{D02ADA47-4D2B-4104-ADA0-0C4897E8C7BF}"/>
              </a:ext>
            </a:extLst>
          </p:cNvPr>
          <p:cNvSpPr>
            <a:spLocks xmlns:a="http://schemas.openxmlformats.org/drawingml/2006/main" noGrp="1"/>
          </p:cNvSpPr>
          <p:nvPr/>
        </p:nvSpPr>
        <p:spPr>
          <a:xfrm xmlns:a="http://schemas.openxmlformats.org/drawingml/2006/main">
            <a:off x="7696200" y="16573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425" b="1" i="0">
                <a:solidFill>
                  <a:srgbClr val="E7C48D"/>
                </a:solidFill>
                <a:latin typeface="Aptos"/>
                <a:ea typeface="Aptos"/>
                <a:cs typeface="Aptos"/>
              </a:defRPr>
            </a:pPr>
            <a:r>
              <a:rPr sz="1425" b="1" i="0">
                <a:solidFill>
                  <a:srgbClr val="E7C48D"/>
                </a:solidFill>
                <a:latin typeface="Aptos"/>
                <a:ea typeface="Aptos"/>
                <a:cs typeface="Aptos"/>
              </a:rPr>
              <a:t>STILL REQUIRES VALIDATION</a:t>
            </a:r>
          </a:p>
        </p:txBody>
      </p:sp>
      <p:sp>
        <p:nvSpPr>
          <p:cNvPr id="39" name="">
            <a:extLst xmlns:a="http://schemas.openxmlformats.org/drawingml/2006/main">
              <a:ext uri="{FF2B5EF4-FFF2-40B4-BE49-F238E27FC236}">
                <a16:creationId xmlns:a16="http://schemas.microsoft.com/office/drawing/2014/main" id="{E9D5792A-B0E6-4CB1-AFA4-0823AFAF4A30}"/>
              </a:ext>
            </a:extLst>
          </p:cNvPr>
          <p:cNvSpPr>
            <a:spLocks xmlns:a="http://schemas.openxmlformats.org/drawingml/2006/main" noGrp="1"/>
          </p:cNvSpPr>
          <p:nvPr/>
        </p:nvSpPr>
        <p:spPr>
          <a:xfrm xmlns:a="http://schemas.openxmlformats.org/drawingml/2006/main">
            <a:off x="7743825" y="2266950"/>
            <a:ext cx="76200" cy="76200"/>
          </a:xfrm>
          <a:prstGeom xmlns:a="http://schemas.openxmlformats.org/drawingml/2006/main" prst="ellipse">
            <a:avLst/>
          </a:prstGeom>
          <a:solidFill xmlns:a="http://schemas.openxmlformats.org/drawingml/2006/main">
            <a:srgbClr val="89A98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524FBD9D-9BDD-4D27-8BFB-03E66FFF90B4}"/>
              </a:ext>
            </a:extLst>
          </p:cNvPr>
          <p:cNvSpPr>
            <a:spLocks xmlns:a="http://schemas.openxmlformats.org/drawingml/2006/main" noGrp="1"/>
          </p:cNvSpPr>
          <p:nvPr/>
        </p:nvSpPr>
        <p:spPr>
          <a:xfrm xmlns:a="http://schemas.openxmlformats.org/drawingml/2006/main">
            <a:off x="7924800" y="219075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425" b="0" i="0">
                <a:solidFill>
                  <a:srgbClr val="F7F5F2"/>
                </a:solidFill>
                <a:latin typeface="Aptos"/>
                <a:ea typeface="Aptos"/>
                <a:cs typeface="Aptos"/>
              </a:defRPr>
            </a:pPr>
            <a:r>
              <a:rPr sz="1425" b="0" i="0">
                <a:solidFill>
                  <a:srgbClr val="F7F5F2"/>
                </a:solidFill>
                <a:latin typeface="Aptos"/>
                <a:ea typeface="Aptos"/>
                <a:cs typeface="Aptos"/>
              </a:rPr>
              <a:t>Structured user testing</a:t>
            </a:r>
          </a:p>
        </p:txBody>
      </p:sp>
      <p:sp>
        <p:nvSpPr>
          <p:cNvPr id="41" name="">
            <a:extLst xmlns:a="http://schemas.openxmlformats.org/drawingml/2006/main">
              <a:ext uri="{FF2B5EF4-FFF2-40B4-BE49-F238E27FC236}">
                <a16:creationId xmlns:a16="http://schemas.microsoft.com/office/drawing/2014/main" id="{0E5A95F9-F6C5-40C9-A67D-45F8AE6B7AD4}"/>
              </a:ext>
            </a:extLst>
          </p:cNvPr>
          <p:cNvSpPr>
            <a:spLocks xmlns:a="http://schemas.openxmlformats.org/drawingml/2006/main" noGrp="1"/>
          </p:cNvSpPr>
          <p:nvPr/>
        </p:nvSpPr>
        <p:spPr>
          <a:xfrm xmlns:a="http://schemas.openxmlformats.org/drawingml/2006/main">
            <a:off x="7743825" y="2905125"/>
            <a:ext cx="76200" cy="76200"/>
          </a:xfrm>
          <a:prstGeom xmlns:a="http://schemas.openxmlformats.org/drawingml/2006/main" prst="ellipse">
            <a:avLst/>
          </a:prstGeom>
          <a:solidFill xmlns:a="http://schemas.openxmlformats.org/drawingml/2006/main">
            <a:srgbClr val="89A98F"/>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7A5C6E3-3DC1-4A3E-9444-783E734B0B32}"/>
              </a:ext>
            </a:extLst>
          </p:cNvPr>
          <p:cNvSpPr>
            <a:spLocks xmlns:a="http://schemas.openxmlformats.org/drawingml/2006/main" noGrp="1"/>
          </p:cNvSpPr>
          <p:nvPr/>
        </p:nvSpPr>
        <p:spPr>
          <a:xfrm xmlns:a="http://schemas.openxmlformats.org/drawingml/2006/main">
            <a:off x="7924800" y="2828925"/>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425" b="0" i="0">
                <a:solidFill>
                  <a:srgbClr val="F7F5F2"/>
                </a:solidFill>
                <a:latin typeface="Aptos"/>
                <a:ea typeface="Aptos"/>
                <a:cs typeface="Aptos"/>
              </a:defRPr>
            </a:pPr>
            <a:r>
              <a:rPr sz="1425" b="0" i="0">
                <a:solidFill>
                  <a:srgbClr val="F7F5F2"/>
                </a:solidFill>
                <a:latin typeface="Aptos"/>
                <a:ea typeface="Aptos"/>
                <a:cs typeface="Aptos"/>
              </a:rPr>
              <a:t>Transparent moderation policy</a:t>
            </a:r>
          </a:p>
        </p:txBody>
      </p:sp>
      <p:sp>
        <p:nvSpPr>
          <p:cNvPr id="43" name="">
            <a:extLst xmlns:a="http://schemas.openxmlformats.org/drawingml/2006/main">
              <a:ext uri="{FF2B5EF4-FFF2-40B4-BE49-F238E27FC236}">
                <a16:creationId xmlns:a16="http://schemas.microsoft.com/office/drawing/2014/main" id="{04F6FB81-8C4C-4855-95E9-444BFC514A97}"/>
              </a:ext>
            </a:extLst>
          </p:cNvPr>
          <p:cNvSpPr>
            <a:spLocks xmlns:a="http://schemas.openxmlformats.org/drawingml/2006/main" noGrp="1"/>
          </p:cNvSpPr>
          <p:nvPr/>
        </p:nvSpPr>
        <p:spPr>
          <a:xfrm xmlns:a="http://schemas.openxmlformats.org/drawingml/2006/main">
            <a:off x="7743825" y="3543300"/>
            <a:ext cx="76200" cy="76200"/>
          </a:xfrm>
          <a:prstGeom xmlns:a="http://schemas.openxmlformats.org/drawingml/2006/main" prst="ellipse">
            <a:avLst/>
          </a:prstGeom>
          <a:solidFill xmlns:a="http://schemas.openxmlformats.org/drawingml/2006/main">
            <a:srgbClr val="89A98F"/>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B8392EB-7230-493C-BFF4-2C5C1C20394C}"/>
              </a:ext>
            </a:extLst>
          </p:cNvPr>
          <p:cNvSpPr>
            <a:spLocks xmlns:a="http://schemas.openxmlformats.org/drawingml/2006/main" noGrp="1"/>
          </p:cNvSpPr>
          <p:nvPr/>
        </p:nvSpPr>
        <p:spPr>
          <a:xfrm xmlns:a="http://schemas.openxmlformats.org/drawingml/2006/main">
            <a:off x="7924800" y="346710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425" b="0" i="0">
                <a:solidFill>
                  <a:srgbClr val="F7F5F2"/>
                </a:solidFill>
                <a:latin typeface="Aptos"/>
                <a:ea typeface="Aptos"/>
                <a:cs typeface="Aptos"/>
              </a:defRPr>
            </a:pPr>
            <a:r>
              <a:rPr sz="1425" b="0" i="0">
                <a:solidFill>
                  <a:srgbClr val="F7F5F2"/>
                </a:solidFill>
                <a:latin typeface="Aptos"/>
                <a:ea typeface="Aptos"/>
                <a:cs typeface="Aptos"/>
              </a:rPr>
              <a:t>Professional selfie-verification decision</a:t>
            </a:r>
          </a:p>
        </p:txBody>
      </p:sp>
      <p:sp>
        <p:nvSpPr>
          <p:cNvPr id="45" name="">
            <a:extLst xmlns:a="http://schemas.openxmlformats.org/drawingml/2006/main">
              <a:ext uri="{FF2B5EF4-FFF2-40B4-BE49-F238E27FC236}">
                <a16:creationId xmlns:a16="http://schemas.microsoft.com/office/drawing/2014/main" id="{BAE58609-6BDD-4E62-A90F-EDF0130386A5}"/>
              </a:ext>
            </a:extLst>
          </p:cNvPr>
          <p:cNvSpPr>
            <a:spLocks xmlns:a="http://schemas.openxmlformats.org/drawingml/2006/main" noGrp="1"/>
          </p:cNvSpPr>
          <p:nvPr/>
        </p:nvSpPr>
        <p:spPr>
          <a:xfrm xmlns:a="http://schemas.openxmlformats.org/drawingml/2006/main">
            <a:off x="7743825" y="4181475"/>
            <a:ext cx="76200" cy="76200"/>
          </a:xfrm>
          <a:prstGeom xmlns:a="http://schemas.openxmlformats.org/drawingml/2006/main" prst="ellipse">
            <a:avLst/>
          </a:prstGeom>
          <a:solidFill xmlns:a="http://schemas.openxmlformats.org/drawingml/2006/main">
            <a:srgbClr val="89A98F"/>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6298334A-B795-4813-A132-C85224BA3DE9}"/>
              </a:ext>
            </a:extLst>
          </p:cNvPr>
          <p:cNvSpPr>
            <a:spLocks xmlns:a="http://schemas.openxmlformats.org/drawingml/2006/main" noGrp="1"/>
          </p:cNvSpPr>
          <p:nvPr/>
        </p:nvSpPr>
        <p:spPr>
          <a:xfrm xmlns:a="http://schemas.openxmlformats.org/drawingml/2006/main">
            <a:off x="7924800" y="4105275"/>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425" b="0" i="0">
                <a:solidFill>
                  <a:srgbClr val="F7F5F2"/>
                </a:solidFill>
                <a:latin typeface="Aptos"/>
                <a:ea typeface="Aptos"/>
                <a:cs typeface="Aptos"/>
              </a:defRPr>
            </a:pPr>
            <a:r>
              <a:rPr sz="1425" b="0" i="0">
                <a:solidFill>
                  <a:srgbClr val="F7F5F2"/>
                </a:solidFill>
                <a:latin typeface="Aptos"/>
                <a:ea typeface="Aptos"/>
                <a:cs typeface="Aptos"/>
              </a:rPr>
              <a:t>Arabic and right-to-left design testing</a:t>
            </a:r>
          </a:p>
        </p:txBody>
      </p:sp>
      <p:sp>
        <p:nvSpPr>
          <p:cNvPr id="47" name="">
            <a:extLst xmlns:a="http://schemas.openxmlformats.org/drawingml/2006/main">
              <a:ext uri="{FF2B5EF4-FFF2-40B4-BE49-F238E27FC236}">
                <a16:creationId xmlns:a16="http://schemas.microsoft.com/office/drawing/2014/main" id="{D3F8C020-5979-4C5A-8F74-CF650ACB6624}"/>
              </a:ext>
            </a:extLst>
          </p:cNvPr>
          <p:cNvSpPr>
            <a:spLocks xmlns:a="http://schemas.openxmlformats.org/drawingml/2006/main" noGrp="1"/>
          </p:cNvSpPr>
          <p:nvPr/>
        </p:nvSpPr>
        <p:spPr>
          <a:xfrm xmlns:a="http://schemas.openxmlformats.org/drawingml/2006/main">
            <a:off x="7743825" y="4819650"/>
            <a:ext cx="76200" cy="76200"/>
          </a:xfrm>
          <a:prstGeom xmlns:a="http://schemas.openxmlformats.org/drawingml/2006/main" prst="ellipse">
            <a:avLst/>
          </a:prstGeom>
          <a:solidFill xmlns:a="http://schemas.openxmlformats.org/drawingml/2006/main">
            <a:srgbClr val="89A98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F9B10B2C-1EC0-489E-8FFB-B2AC133C7CBE}"/>
              </a:ext>
            </a:extLst>
          </p:cNvPr>
          <p:cNvSpPr>
            <a:spLocks xmlns:a="http://schemas.openxmlformats.org/drawingml/2006/main" noGrp="1"/>
          </p:cNvSpPr>
          <p:nvPr/>
        </p:nvSpPr>
        <p:spPr>
          <a:xfrm xmlns:a="http://schemas.openxmlformats.org/drawingml/2006/main">
            <a:off x="7924800" y="474345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425" b="0" i="0">
                <a:solidFill>
                  <a:srgbClr val="F7F5F2"/>
                </a:solidFill>
                <a:latin typeface="Aptos"/>
                <a:ea typeface="Aptos"/>
                <a:cs typeface="Aptos"/>
              </a:defRPr>
            </a:pPr>
            <a:r>
              <a:rPr sz="1425" b="0" i="0">
                <a:solidFill>
                  <a:srgbClr val="F7F5F2"/>
                </a:solidFill>
                <a:latin typeface="Aptos"/>
                <a:ea typeface="Aptos"/>
                <a:cs typeface="Aptos"/>
              </a:rPr>
              <a:t>Production monitoring and safeguarding</a:t>
            </a:r>
          </a:p>
        </p:txBody>
      </p:sp>
      <p:sp>
        <p:nvSpPr>
          <p:cNvPr id="49" name="">
            <a:extLst xmlns:a="http://schemas.openxmlformats.org/drawingml/2006/main">
              <a:ext uri="{FF2B5EF4-FFF2-40B4-BE49-F238E27FC236}">
                <a16:creationId xmlns:a16="http://schemas.microsoft.com/office/drawing/2014/main" id="{D8CA352E-40DD-4F65-9B11-9CE90926EC7B}"/>
              </a:ext>
            </a:extLst>
          </p:cNvPr>
          <p:cNvSpPr>
            <a:spLocks xmlns:a="http://schemas.openxmlformats.org/drawingml/2006/main" noGrp="1"/>
          </p:cNvSpPr>
          <p:nvPr/>
        </p:nvSpPr>
        <p:spPr>
          <a:xfrm xmlns:a="http://schemas.openxmlformats.org/drawingml/2006/main">
            <a:off x="4514850" y="58293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2000"/>
              </a:lnSpc>
              <a:buNone/>
              <a:defRPr sz="825" b="0" i="0">
                <a:solidFill>
                  <a:srgbClr val="AEB7B8"/>
                </a:solidFill>
                <a:latin typeface="Aptos"/>
                <a:ea typeface="Aptos"/>
                <a:cs typeface="Aptos"/>
              </a:defRPr>
            </a:pPr>
            <a:r>
              <a:rPr sz="825" b="0" i="0">
                <a:solidFill>
                  <a:srgbClr val="AEB7B8"/>
                </a:solidFill>
                <a:latin typeface="Aptos"/>
                <a:ea typeface="Aptos"/>
                <a:cs typeface="Aptos"/>
              </a:rPr>
              <a:t>Current prototype reconstruction</a:t>
            </a:r>
          </a:p>
        </p:txBody>
      </p:sp>
      <p:sp>
        <p:nvSpPr>
          <p:cNvPr id="50" name="">
            <a:extLst xmlns:a="http://schemas.openxmlformats.org/drawingml/2006/main">
              <a:ext uri="{FF2B5EF4-FFF2-40B4-BE49-F238E27FC236}">
                <a16:creationId xmlns:a16="http://schemas.microsoft.com/office/drawing/2014/main" id="{3ACEA912-8F03-44EE-8249-1C763D227AAE}"/>
              </a:ext>
            </a:extLst>
          </p:cNvPr>
          <p:cNvSpPr>
            <a:spLocks xmlns:a="http://schemas.openxmlformats.org/drawingml/2006/main" noGrp="1"/>
          </p:cNvSpPr>
          <p:nvPr/>
        </p:nvSpPr>
        <p:spPr>
          <a:xfrm xmlns:a="http://schemas.openxmlformats.org/drawingml/2006/main">
            <a:off x="552450" y="65341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825" b="1" i="0">
                <a:solidFill>
                  <a:srgbClr val="AEB7B8"/>
                </a:solidFill>
                <a:latin typeface="Aptos"/>
                <a:ea typeface="Aptos"/>
                <a:cs typeface="Aptos"/>
              </a:defRPr>
            </a:pPr>
            <a:r>
              <a:rPr sz="825" b="1" i="0">
                <a:solidFill>
                  <a:srgbClr val="AEB7B8"/>
                </a:solidFill>
                <a:latin typeface="Aptos"/>
                <a:ea typeface="Aptos"/>
                <a:cs typeface="Aptos"/>
              </a:rPr>
              <a:t>JAMAA NEXT DOOR</a:t>
            </a:r>
          </a:p>
        </p:txBody>
      </p:sp>
      <p:sp>
        <p:nvSpPr>
          <p:cNvPr id="51" name="">
            <a:extLst xmlns:a="http://schemas.openxmlformats.org/drawingml/2006/main">
              <a:ext uri="{FF2B5EF4-FFF2-40B4-BE49-F238E27FC236}">
                <a16:creationId xmlns:a16="http://schemas.microsoft.com/office/drawing/2014/main" id="{69BDD052-1E60-42C3-9E4E-582C253305D6}"/>
              </a:ext>
            </a:extLst>
          </p:cNvPr>
          <p:cNvSpPr>
            <a:spLocks xmlns:a="http://schemas.openxmlformats.org/drawingml/2006/main" noGrp="1"/>
          </p:cNvSpPr>
          <p:nvPr/>
        </p:nvSpPr>
        <p:spPr>
          <a:xfrm xmlns:a="http://schemas.openxmlformats.org/drawingml/2006/main">
            <a:off x="1125855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2000"/>
              </a:lnSpc>
              <a:buNone/>
              <a:defRPr sz="900" b="1" i="0">
                <a:solidFill>
                  <a:srgbClr val="E7C48D"/>
                </a:solidFill>
                <a:latin typeface="Aptos"/>
                <a:ea typeface="Aptos"/>
                <a:cs typeface="Aptos"/>
              </a:defRPr>
            </a:pPr>
            <a:r>
              <a:rPr sz="900" b="1" i="0">
                <a:solidFill>
                  <a:srgbClr val="E7C48D"/>
                </a:solidFill>
                <a:latin typeface="Aptos"/>
                <a:ea typeface="Aptos"/>
                <a:cs typeface="Aptos"/>
              </a:rPr>
              <a:t>13</a:t>
            </a:r>
          </a:p>
        </p:txBody>
      </p:sp>
    </p:spTree>
    <p:extLst>
      <p:ext uri="{BB962C8B-B14F-4D97-AF65-F5344CB8AC3E}">
        <p14:creationId xmlns:p14="http://schemas.microsoft.com/office/powerpoint/2010/main" val="200055610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d317d574594409c"/>
          <a:srcRect xmlns:a="http://schemas.openxmlformats.org/drawingml/2006/main" l="0" t="30117" r="0" b="3011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C8CA02D-AA49-4E3F-969F-901E891718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842847C-259F-4057-88C9-0E9AED30A392}"/>
              </a:ext>
            </a:extLst>
          </p:cNvPr>
          <p:cNvSpPr>
            <a:spLocks xmlns:a="http://schemas.openxmlformats.org/drawingml/2006/main" noGrp="1"/>
          </p:cNvSpPr>
          <p:nvPr/>
        </p:nvSpPr>
        <p:spPr>
          <a:xfrm xmlns:a="http://schemas.openxmlformats.org/drawingml/2006/main">
            <a:off x="6019800" y="1047750"/>
            <a:ext cx="5143500" cy="4095750"/>
          </a:xfrm>
          <a:prstGeom xmlns:a="http://schemas.openxmlformats.org/drawingml/2006/main" prst="roundRect">
            <a:avLst>
              <a:gd name="adj" fmla="val 48837"/>
            </a:avLst>
          </a:prstGeom>
          <a:noFill xmlns:a="http://schemas.openxmlformats.org/drawingml/2006/main"/>
          <a:ln xmlns:a="http://schemas.openxmlformats.org/drawingml/2006/main" w="19050">
            <a:solidFill>
              <a:srgbClr val="E7C48D"/>
            </a:solidFill>
            <a:prstDash val="solid"/>
          </a:ln>
        </p:spPr>
      </p:sp>
      <p:sp>
        <p:nvSpPr>
          <p:cNvPr id="4" name="">
            <a:extLst xmlns:a="http://schemas.openxmlformats.org/drawingml/2006/main">
              <a:ext uri="{FF2B5EF4-FFF2-40B4-BE49-F238E27FC236}">
                <a16:creationId xmlns:a16="http://schemas.microsoft.com/office/drawing/2014/main" id="{46AC750B-BFF9-4A59-8DED-17831D64E6DF}"/>
              </a:ext>
            </a:extLst>
          </p:cNvPr>
          <p:cNvSpPr>
            <a:spLocks xmlns:a="http://schemas.openxmlformats.org/drawingml/2006/main" noGrp="1"/>
          </p:cNvSpPr>
          <p:nvPr/>
        </p:nvSpPr>
        <p:spPr>
          <a:xfrm xmlns:a="http://schemas.openxmlformats.org/drawingml/2006/main">
            <a:off x="1104900" y="971550"/>
            <a:ext cx="86201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551"/>
          </a:bodyPr>
          <a:lstStyle xmlns:a="http://schemas.openxmlformats.org/drawingml/2006/main"/>
          <a:p xmlns:a="http://schemas.openxmlformats.org/drawingml/2006/main">
            <a:pPr algn="l">
              <a:lnSpc>
                <a:spcPct val="100000"/>
              </a:lnSpc>
              <a:buNone/>
              <a:defRPr sz="3900" b="1" i="0">
                <a:solidFill>
                  <a:srgbClr val="F7F5F2"/>
                </a:solidFill>
                <a:latin typeface="Georgia"/>
                <a:ea typeface="Georgia"/>
                <a:cs typeface="Georgia"/>
              </a:defRPr>
            </a:pPr>
            <a:r>
              <a:rPr sz="3900" b="1" i="0">
                <a:solidFill>
                  <a:srgbClr val="F7F5F2"/>
                </a:solidFill>
                <a:latin typeface="Georgia"/>
                <a:ea typeface="Georgia"/>
                <a:cs typeface="Georgia"/>
              </a:rPr>
              <a:t>Personal need became a responsible, verifiable product</a:t>
            </a:r>
          </a:p>
        </p:txBody>
      </p:sp>
      <p:sp>
        <p:nvSpPr>
          <p:cNvPr id="5" name="">
            <a:extLst xmlns:a="http://schemas.openxmlformats.org/drawingml/2006/main">
              <a:ext uri="{FF2B5EF4-FFF2-40B4-BE49-F238E27FC236}">
                <a16:creationId xmlns:a16="http://schemas.microsoft.com/office/drawing/2014/main" id="{6B4FFA2E-0B0D-4A63-A905-0A823D4811B1}"/>
              </a:ext>
            </a:extLst>
          </p:cNvPr>
          <p:cNvSpPr>
            <a:spLocks xmlns:a="http://schemas.openxmlformats.org/drawingml/2006/main" noGrp="1"/>
          </p:cNvSpPr>
          <p:nvPr/>
        </p:nvSpPr>
        <p:spPr>
          <a:xfrm xmlns:a="http://schemas.openxmlformats.org/drawingml/2006/main" flipH="0" flipV="0">
            <a:off x="1104900" y="2343150"/>
            <a:ext cx="1809750" cy="0"/>
          </a:xfrm>
          <a:prstGeom xmlns:a="http://schemas.openxmlformats.org/drawingml/2006/main" prst="line">
            <a:avLst/>
          </a:prstGeom>
          <a:noFill xmlns:a="http://schemas.openxmlformats.org/drawingml/2006/main"/>
          <a:ln xmlns:a="http://schemas.openxmlformats.org/drawingml/2006/main" w="28575">
            <a:solidFill>
              <a:srgbClr val="E7C48D"/>
            </a:solidFill>
            <a:prstDash val="solid"/>
          </a:ln>
        </p:spPr>
      </p:sp>
      <p:sp>
        <p:nvSpPr>
          <p:cNvPr id="6" name="">
            <a:extLst xmlns:a="http://schemas.openxmlformats.org/drawingml/2006/main">
              <a:ext uri="{FF2B5EF4-FFF2-40B4-BE49-F238E27FC236}">
                <a16:creationId xmlns:a16="http://schemas.microsoft.com/office/drawing/2014/main" id="{FE0DB3B1-3949-4BC5-834A-F7FAD5AA0AA1}"/>
              </a:ext>
            </a:extLst>
          </p:cNvPr>
          <p:cNvSpPr>
            <a:spLocks xmlns:a="http://schemas.openxmlformats.org/drawingml/2006/main" noGrp="1"/>
          </p:cNvSpPr>
          <p:nvPr/>
        </p:nvSpPr>
        <p:spPr>
          <a:xfrm xmlns:a="http://schemas.openxmlformats.org/drawingml/2006/main">
            <a:off x="1104900" y="2714625"/>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F7F5F2"/>
                </a:solidFill>
                <a:latin typeface="Aptos"/>
                <a:ea typeface="Aptos"/>
                <a:cs typeface="Aptos"/>
              </a:defRPr>
            </a:pPr>
            <a:r>
              <a:rPr sz="1725" b="1" i="0">
                <a:solidFill>
                  <a:srgbClr val="F7F5F2"/>
                </a:solidFill>
                <a:latin typeface="Aptos"/>
                <a:ea typeface="Aptos"/>
                <a:cs typeface="Aptos"/>
              </a:rPr>
              <a:t>Personal motivation</a:t>
            </a:r>
          </a:p>
        </p:txBody>
      </p:sp>
      <p:sp>
        <p:nvSpPr>
          <p:cNvPr id="7" name="">
            <a:extLst xmlns:a="http://schemas.openxmlformats.org/drawingml/2006/main">
              <a:ext uri="{FF2B5EF4-FFF2-40B4-BE49-F238E27FC236}">
                <a16:creationId xmlns:a16="http://schemas.microsoft.com/office/drawing/2014/main" id="{F2FA0FEE-B60F-4B81-9B75-E3D83BE52C2B}"/>
              </a:ext>
            </a:extLst>
          </p:cNvPr>
          <p:cNvSpPr>
            <a:spLocks xmlns:a="http://schemas.openxmlformats.org/drawingml/2006/main" noGrp="1"/>
          </p:cNvSpPr>
          <p:nvPr/>
        </p:nvSpPr>
        <p:spPr>
          <a:xfrm xmlns:a="http://schemas.openxmlformats.org/drawingml/2006/main">
            <a:off x="1104900" y="3209925"/>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F7F5F2"/>
                </a:solidFill>
                <a:latin typeface="Aptos"/>
                <a:ea typeface="Aptos"/>
                <a:cs typeface="Aptos"/>
              </a:defRPr>
            </a:pPr>
            <a:r>
              <a:rPr sz="1725" b="1" i="0">
                <a:solidFill>
                  <a:srgbClr val="F7F5F2"/>
                </a:solidFill>
                <a:latin typeface="Aptos"/>
                <a:ea typeface="Aptos"/>
                <a:cs typeface="Aptos"/>
              </a:rPr>
              <a:t>Trust-aware product design</a:t>
            </a:r>
          </a:p>
        </p:txBody>
      </p:sp>
      <p:sp>
        <p:nvSpPr>
          <p:cNvPr id="8" name="">
            <a:extLst xmlns:a="http://schemas.openxmlformats.org/drawingml/2006/main">
              <a:ext uri="{FF2B5EF4-FFF2-40B4-BE49-F238E27FC236}">
                <a16:creationId xmlns:a16="http://schemas.microsoft.com/office/drawing/2014/main" id="{15145A79-3DF5-41F6-A2C9-ABE96B0BB646}"/>
              </a:ext>
            </a:extLst>
          </p:cNvPr>
          <p:cNvSpPr>
            <a:spLocks xmlns:a="http://schemas.openxmlformats.org/drawingml/2006/main" noGrp="1"/>
          </p:cNvSpPr>
          <p:nvPr/>
        </p:nvSpPr>
        <p:spPr>
          <a:xfrm xmlns:a="http://schemas.openxmlformats.org/drawingml/2006/main">
            <a:off x="1104900" y="3705225"/>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F7F5F2"/>
                </a:solidFill>
                <a:latin typeface="Aptos"/>
                <a:ea typeface="Aptos"/>
                <a:cs typeface="Aptos"/>
              </a:defRPr>
            </a:pPr>
            <a:r>
              <a:rPr sz="1725" b="1" i="0">
                <a:solidFill>
                  <a:srgbClr val="F7F5F2"/>
                </a:solidFill>
                <a:latin typeface="Aptos"/>
                <a:ea typeface="Aptos"/>
                <a:cs typeface="Aptos"/>
              </a:rPr>
              <a:t>Working Android implementation</a:t>
            </a:r>
          </a:p>
        </p:txBody>
      </p:sp>
      <p:sp>
        <p:nvSpPr>
          <p:cNvPr id="9" name="">
            <a:extLst xmlns:a="http://schemas.openxmlformats.org/drawingml/2006/main">
              <a:ext uri="{FF2B5EF4-FFF2-40B4-BE49-F238E27FC236}">
                <a16:creationId xmlns:a16="http://schemas.microsoft.com/office/drawing/2014/main" id="{58CBBA41-E9A9-4A0F-942D-917DABC27FAE}"/>
              </a:ext>
            </a:extLst>
          </p:cNvPr>
          <p:cNvSpPr>
            <a:spLocks xmlns:a="http://schemas.openxmlformats.org/drawingml/2006/main" noGrp="1"/>
          </p:cNvSpPr>
          <p:nvPr/>
        </p:nvSpPr>
        <p:spPr>
          <a:xfrm xmlns:a="http://schemas.openxmlformats.org/drawingml/2006/main">
            <a:off x="1104900" y="4200525"/>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E7C48D"/>
                </a:solidFill>
                <a:latin typeface="Aptos"/>
                <a:ea typeface="Aptos"/>
                <a:cs typeface="Aptos"/>
              </a:defRPr>
            </a:pPr>
            <a:r>
              <a:rPr sz="1725" b="1" i="0">
                <a:solidFill>
                  <a:srgbClr val="E7C48D"/>
                </a:solidFill>
                <a:latin typeface="Aptos"/>
                <a:ea typeface="Aptos"/>
                <a:cs typeface="Aptos"/>
              </a:rPr>
              <a:t>AI-assisted, human-directed process</a:t>
            </a:r>
          </a:p>
        </p:txBody>
      </p:sp>
      <p:sp>
        <p:nvSpPr>
          <p:cNvPr id="10" name="">
            <a:extLst xmlns:a="http://schemas.openxmlformats.org/drawingml/2006/main">
              <a:ext uri="{FF2B5EF4-FFF2-40B4-BE49-F238E27FC236}">
                <a16:creationId xmlns:a16="http://schemas.microsoft.com/office/drawing/2014/main" id="{C7D462CA-CE05-4B66-8CA6-117B56CEDC2D}"/>
              </a:ext>
            </a:extLst>
          </p:cNvPr>
          <p:cNvSpPr>
            <a:spLocks xmlns:a="http://schemas.openxmlformats.org/drawingml/2006/main" noGrp="1"/>
          </p:cNvSpPr>
          <p:nvPr/>
        </p:nvSpPr>
        <p:spPr>
          <a:xfrm xmlns:a="http://schemas.openxmlformats.org/drawingml/2006/main">
            <a:off x="6400800" y="2724150"/>
            <a:ext cx="4381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175" b="0" i="0">
                <a:solidFill>
                  <a:srgbClr val="E7C48D"/>
                </a:solidFill>
                <a:latin typeface="Georgia"/>
                <a:ea typeface="Georgia"/>
                <a:cs typeface="Georgia"/>
              </a:defRPr>
            </a:pPr>
            <a:r>
              <a:rPr sz="2175" b="0" i="0">
                <a:solidFill>
                  <a:srgbClr val="E7C48D"/>
                </a:solidFill>
                <a:latin typeface="Georgia"/>
                <a:ea typeface="Georgia"/>
                <a:cs typeface="Georgia"/>
              </a:rPr>
              <a:t>Jamaa Next Door demonstrates that local coordination can reduce religious isolation when privacy, timing and trust are treated as part of the functionality.</a:t>
            </a:r>
          </a:p>
        </p:txBody>
      </p:sp>
      <p:sp>
        <p:nvSpPr>
          <p:cNvPr id="11" name="">
            <a:extLst xmlns:a="http://schemas.openxmlformats.org/drawingml/2006/main">
              <a:ext uri="{FF2B5EF4-FFF2-40B4-BE49-F238E27FC236}">
                <a16:creationId xmlns:a16="http://schemas.microsoft.com/office/drawing/2014/main" id="{AC881F0E-CB14-4750-AF1E-5043375AC579}"/>
              </a:ext>
            </a:extLst>
          </p:cNvPr>
          <p:cNvSpPr>
            <a:spLocks xmlns:a="http://schemas.openxmlformats.org/drawingml/2006/main" noGrp="1"/>
          </p:cNvSpPr>
          <p:nvPr/>
        </p:nvSpPr>
        <p:spPr>
          <a:xfrm xmlns:a="http://schemas.openxmlformats.org/drawingml/2006/main">
            <a:off x="1104900" y="598170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2000"/>
              </a:lnSpc>
              <a:buNone/>
              <a:defRPr sz="1800" b="1" i="0">
                <a:solidFill>
                  <a:srgbClr val="89A98F"/>
                </a:solidFill>
                <a:latin typeface="Aptos"/>
                <a:ea typeface="Aptos"/>
                <a:cs typeface="Aptos"/>
              </a:defRPr>
            </a:pPr>
            <a:r>
              <a:rPr sz="1800" b="1" i="0">
                <a:solidFill>
                  <a:srgbClr val="89A98F"/>
                </a:solidFill>
                <a:latin typeface="Aptos"/>
                <a:ea typeface="Aptos"/>
                <a:cs typeface="Aptos"/>
              </a:rPr>
              <a:t>Questions</a:t>
            </a:r>
          </a:p>
        </p:txBody>
      </p:sp>
    </p:spTree>
    <p:extLst>
      <p:ext uri="{BB962C8B-B14F-4D97-AF65-F5344CB8AC3E}">
        <p14:creationId xmlns:p14="http://schemas.microsoft.com/office/powerpoint/2010/main" val="1007352943"/>
      </p:ext>
    </p:extLst>
  </p:cSld>
</p:sld>
</file>

<file path=ppt/theme/theme1.xml><?xml version="1.0" encoding="utf-8"?>
<a:theme xmlns:a="http://schemas.openxmlformats.org/drawingml/2006/main" name="ChatGPT">
  <a:themeElements>
    <a:clrScheme name="Jamaa Next Door">
      <a:dk1>
        <a:srgbClr val="102F33"/>
      </a:dk1>
      <a:lt1>
        <a:srgbClr val="FFFFFF"/>
      </a:lt1>
      <a:dk2>
        <a:srgbClr val="063E4D"/>
      </a:dk2>
      <a:lt2>
        <a:srgbClr val="F7F5F2"/>
      </a:lt2>
      <a:accent1>
        <a:srgbClr val="063E4D"/>
      </a:accent1>
      <a:accent2>
        <a:srgbClr val="E7C48D"/>
      </a:accent2>
      <a:accent3>
        <a:srgbClr val="89A98F"/>
      </a:accent3>
      <a:accent4>
        <a:srgbClr val="0B4B58"/>
      </a:accent4>
      <a:accent5>
        <a:srgbClr val="C8766B"/>
      </a:accent5>
      <a:accent6>
        <a:srgbClr val="AEB7B8"/>
      </a:accent6>
      <a:hlink>
        <a:srgbClr val="E7C48D"/>
      </a:hlink>
      <a:folHlink>
        <a:srgbClr val="89A98F"/>
      </a:folHlink>
    </a:clrScheme>
    <a:fontScheme name="Office">
      <a:majorFont>
        <a:latin typeface="Calibri Light"/>
        <a:ea typeface="Calibri Light"/>
        <a:cs typeface="Calibri Light"/>
      </a:majorFont>
      <a:minorFont>
        <a:latin typeface="Calibri"/>
        <a:ea typeface="Calibri"/>
        <a:cs typeface="Calibri"/>
      </a:minorFont>
    </a:fontScheme>
    <a:fmtScheme name="Jamaa Next Doo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2026-08-02T00:25:21.5210000Z</dcterms:created>
  <dcterms:modified xsi:type="dcterms:W3CDTF">2026-08-02T00:25:21.5210000Z</dcterms:modified>
</coreProperties>
</file>